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冒頭宣言:「宿題への回答＋そこから導かれる方向転換の提案までがセット」。結論3行を先に示す。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検証過程でデータ不具合2件（連系線の符号反転・2026年の列構成変更）を発見し修正 — 品質管理の証として一言。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後で見る「床の減少」の犯人は太陽光の失速ではない、と先に潰す。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ここでフックを掛ける。「太陽光は増え続けているのに床は減っている。おかしくないですか？」→ P7-9で回収すると予告。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逆転は「価格形状が太陽光（残余需要）で予測できる構造になった」ことの運用成績による証明 — 金融工学の聴衆に一番刺さる1枚。スポット単独で未達は Butters (2025, Econometrica) と整合。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「価値は価格水準に引っ張られているだけでは」への先回り。MCモデルが年度間変動を過小評価する検証結果 → HAR型長期記憶が本番課題、と伏線。時間超過時はこの1枚をAppendixへ。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「ダックカーブの形は深いまま（平均）だが典型日の底は上がった（中央値）」— 平均と分布の区別。物理（制御）と市場（床）の連動低下は観察として提起（断定しない）。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「平均でなく条件付きで見る」と役割が判明 — 揚水は典型日の底上げと床すれすれの救出の主役だが、深い余剰日の床は消せない。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整理 —「構造＝需要増と揚水の面的拡大が底を支える／一時＝原発定検と太陽光の年次条件が床コマ数を振らす」。昼だけ効く吸収だけが蓄電池価値を侵食する。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「この3つを最も鋭い形で問える市場はどこか？」→ 後半へ。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「前半はこの左列の追試＋日本版としては成立するが、修論の新規性の核にはならない。右列の空白＝風力主導×連系線制約へ向かう」。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「最近まで風力は少なかった、が正しい。だからこそ今」— 価格影響がこれから顕在化する初期段階であり、事後検証でなく事前の均衡推定に最も価値があるタイミング。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欧米ではエネルギーシェア5〜10%で効果検出。北海道は到達しつつあり、しかも Sakaguchi &amp; Fujii は設備が今の半分以下の時期に検出済み。想定反論への回答Ⅰ。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「単一サイトの波形は時間レベルでギザギザ（実務感覚は正しい）。しかし市場が見るのは集約出力で、そこでは数日帯域が支配的」。揚水カウンター論から duration 内生化へ。想定反論への回答Ⅱ。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締め:「前半の分析装置（パイプライン・指標・帯域分解・バックテスト）はエリア名を変えるだけで移植できる。手戻りはない」。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修士論文 中間報告｜ゼミ発表　　2026年◯月◯日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713232"/>
            <a:ext cx="11183112" cy="566928"/>
          </a:xfrm>
          <a:prstGeom prst="roundRect">
            <a:avLst>
              <a:gd name="adj" fmla="val 11290"/>
            </a:avLst>
          </a:prstGeom>
          <a:solidFill>
            <a:srgbClr val="1E447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前回のNext Action：</a:t>
            </a:r>
            <a:pPr indent="0" marL="0"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九州を題材に、太陽光普及と市場価格構造の変化（過去実績ベース）／蓄電池のオプション価格算定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太陽光は増え続けているのに、蓄電池の裁定価値は減り始めた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2157984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— 九州10年半の実証と、北海道×風力への展開 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3602736" cy="2606040"/>
          </a:xfrm>
          <a:prstGeom prst="roundRect">
            <a:avLst>
              <a:gd name="adj" fmla="val 2456"/>
            </a:avLst>
          </a:prstGeom>
          <a:solidFill>
            <a:srgbClr val="1E4478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327355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90" dirty="0"/>
          </a:p>
        </p:txBody>
      </p:sp>
      <p:sp>
        <p:nvSpPr>
          <p:cNvPr id="10" name="Text 8"/>
          <p:cNvSpPr/>
          <p:nvPr/>
        </p:nvSpPr>
        <p:spPr>
          <a:xfrm>
            <a:off x="1307592" y="3218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床と裁定価値は反転減少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太陽光は右肩上がり（発電量2.1倍・シェア17%）だが、床（0.01円）と裁定価値はピーク年FY2023比で減少（単調な下降トレンドではない）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3108" y="3017520"/>
            <a:ext cx="3602736" cy="2606040"/>
          </a:xfrm>
          <a:prstGeom prst="roundRect">
            <a:avLst>
              <a:gd name="adj" fmla="val 2456"/>
            </a:avLst>
          </a:prstGeom>
          <a:solidFill>
            <a:srgbClr val="1E447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49140" y="327355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49140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90" dirty="0"/>
          </a:p>
        </p:txBody>
      </p:sp>
      <p:sp>
        <p:nvSpPr>
          <p:cNvPr id="15" name="Text 13"/>
          <p:cNvSpPr/>
          <p:nvPr/>
        </p:nvSpPr>
        <p:spPr>
          <a:xfrm>
            <a:off x="5097780" y="3218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スポット単独では投資不成立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49140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蓄電池のスポット裁定価値は約1万円/kW-年。単独では資本費（約2万円/kW-年）に届かない — Butters (2025, Econometrica) のCAISOと整合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3017520"/>
            <a:ext cx="3602736" cy="2606040"/>
          </a:xfrm>
          <a:prstGeom prst="roundRect">
            <a:avLst>
              <a:gd name="adj" fmla="val 2456"/>
            </a:avLst>
          </a:prstGeom>
          <a:solidFill>
            <a:srgbClr val="1E4478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9328" y="3273552"/>
            <a:ext cx="420624" cy="420624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90" dirty="0"/>
          </a:p>
        </p:txBody>
      </p:sp>
      <p:sp>
        <p:nvSpPr>
          <p:cNvPr id="20" name="Text 18"/>
          <p:cNvSpPr/>
          <p:nvPr/>
        </p:nvSpPr>
        <p:spPr>
          <a:xfrm>
            <a:off x="8887968" y="3218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減少の内訳が転換の根拠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39319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構造要因（需要増・揚水の面的拡大）＋一時要因（原発定検・天候）。この分解が北海道×風力への転換の根拠になる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0807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宿題への回答と、そこから導かれる方向転換の提案までをセットでお話しします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前半：九州×太陽光｜データと分析基盤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10年半×2系統の公開データ — 全図表がコード一発で再現可能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18.1万コマ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JEPXスポット30分値（FY2016〜26・欠損ゼロを確認）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61ファイル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九州エリア需給実績（60分／30分粒度の混在を統一）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3520440"/>
            <a:ext cx="3931920" cy="2377440"/>
          </a:xfrm>
          <a:prstGeom prst="roundRect">
            <a:avLst>
              <a:gd name="adj" fmla="val 2692"/>
            </a:avLst>
          </a:prstGeom>
          <a:solidFill>
            <a:srgbClr val="EEF4F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検証で発見・修正したデータ不具合 2件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連系線潮流の符号反転（新旧形式で定義が逆）</a:t>
            </a:r>
            <a:endParaRPr lang="en-US" sz="10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2026年4〜5月の列構成変更（22列化）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ヘッダー名ベースの読込に変更して解消。FY2016〜25の結果への影響なし（詳細: data/README.md）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3310128" cy="777240"/>
          </a:xfrm>
          <a:prstGeom prst="roundRect">
            <a:avLst>
              <a:gd name="adj" fmla="val 8235"/>
            </a:avLst>
          </a:prstGeom>
          <a:solidFill>
            <a:srgbClr val="EEF4FB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JEPXスポット約定価格（30分値）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FY2016〜2026｜約18.1万コマ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48472" y="1600200"/>
            <a:ext cx="3310128" cy="777240"/>
          </a:xfrm>
          <a:prstGeom prst="roundRect">
            <a:avLst>
              <a:gd name="adj" fmla="val 8235"/>
            </a:avLst>
          </a:prstGeom>
          <a:solidFill>
            <a:srgbClr val="EEF4FB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16002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九州電力 エリア需給実績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60分→30分粒度｜61ファイル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450592"/>
            <a:ext cx="256032" cy="219456"/>
          </a:xfrm>
          <a:prstGeom prst="downArrow">
            <a:avLst/>
          </a:prstGeom>
          <a:solidFill>
            <a:srgbClr val="2A7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0600" y="2724912"/>
            <a:ext cx="6858000" cy="713232"/>
          </a:xfrm>
          <a:prstGeom prst="roundRect">
            <a:avLst>
              <a:gd name="adj" fmla="val 8974"/>
            </a:avLst>
          </a:prstGeom>
          <a:solidFill>
            <a:srgbClr val="EEF4FB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72491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01_build_panel.py — 検証・統合パネル　</a:t>
            </a:r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符号・単位・粒度の統一／整合チェック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3511296"/>
            <a:ext cx="256032" cy="219456"/>
          </a:xfrm>
          <a:prstGeom prst="downArrow">
            <a:avLst/>
          </a:prstGeom>
          <a:solidFill>
            <a:srgbClr val="2A7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3785616"/>
            <a:ext cx="6858000" cy="713232"/>
          </a:xfrm>
          <a:prstGeom prst="roundRect">
            <a:avLst>
              <a:gd name="adj" fmla="val 8974"/>
            </a:avLst>
          </a:prstGeom>
          <a:solidFill>
            <a:srgbClr val="EEF4FB"/>
          </a:solidFill>
          <a:ln w="9525">
            <a:solidFill>
              <a:srgbClr val="D5E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785616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分析スクリプト 02〜08　</a:t>
            </a:r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記述統計・バックテスト・モンテカルロ・要因分解・反実仮想・帯域分解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01584" y="4572000"/>
            <a:ext cx="256032" cy="219456"/>
          </a:xfrm>
          <a:prstGeom prst="downArrow">
            <a:avLst/>
          </a:prstGeom>
          <a:solidFill>
            <a:srgbClr val="2A7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4846320"/>
            <a:ext cx="6858000" cy="640080"/>
          </a:xfrm>
          <a:prstGeom prst="roundRect">
            <a:avLst>
              <a:gd name="adj" fmla="val 10000"/>
            </a:avLst>
          </a:prstGeom>
          <a:solidFill>
            <a:srgbClr val="184F9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48463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図表 f1〜f15 ＋ 数表（本日の全スライドの裏付け）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長期比較は60分粒度に統一。FY2026は部分年度（4〜7月）。全手法の定義・限界の一覧は kyushu-methods-data.md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前半：九州×太陽光｜事実①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太陽光は失速していない — 発電量2.1倍・シェア17%へ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15.0 TWh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FY2025の太陽光発電量（過去最高）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2.1倍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090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FY2016比（7.1 → 15.0 TWh）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8.2 → 17.3%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3959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発電量シェア（対エリア需要）。FY2023のみ小幅減、趨勢として増加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4526280"/>
            <a:ext cx="3840480" cy="1051560"/>
          </a:xfrm>
          <a:prstGeom prst="roundRect">
            <a:avLst>
              <a:gd name="adj" fmla="val 6087"/>
            </a:avLst>
          </a:prstGeom>
          <a:solidFill>
            <a:srgbClr val="EEF4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262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出力制御：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FY2018に開始。制御実施日は年間約4割、制御率のピークはFY2023の8.7%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後で見る「床の減少」の犯人は、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太陽光の失速ではない</a:t>
            </a:r>
            <a:endParaRPr lang="en-US" sz="1200" dirty="0"/>
          </a:p>
        </p:txBody>
      </p:sp>
      <p:pic>
        <p:nvPicPr>
          <p:cNvPr id="13" name="Image 0" descr="/home/user/work/thesis/figures/kyushu/f4-solar-vs-flo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72768"/>
            <a:ext cx="7086600" cy="448519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前半：九州×太陽光｜事実②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価格構造は激変した — ダックカーブの深化と「床」の出現→反転</a:t>
            </a:r>
            <a:endParaRPr lang="en-US" sz="2000" dirty="0"/>
          </a:p>
        </p:txBody>
      </p:sp>
      <p:pic>
        <p:nvPicPr>
          <p:cNvPr id="4" name="Image 0" descr="/home/user/work/thesis/figures/kyushu/f1-duck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5440680" cy="3277518"/>
          </a:xfrm>
          <a:prstGeom prst="rect">
            <a:avLst/>
          </a:prstGeom>
        </p:spPr>
      </p:pic>
      <p:pic>
        <p:nvPicPr>
          <p:cNvPr id="5" name="Image 1" descr="/home/user/work/thesis/figures/kyushu/f2-floor-ko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72768"/>
            <a:ext cx="5440680" cy="33174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920" y="5029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夕方ランプ（昼の谷→夕ピーク）：</a:t>
            </a:r>
            <a:pPr algn="ctr"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約3円 → 約10円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17920" y="5029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床（0.01円）コマ数：</a:t>
            </a:r>
            <a:pPr algn="ctr" indent="0" marL="0"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→ 2,178（FY2023）→ 983（FY2025）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" y="5532120"/>
            <a:ext cx="11155680" cy="731520"/>
          </a:xfrm>
          <a:prstGeom prst="roundRect">
            <a:avLst>
              <a:gd name="adj" fmla="val 8750"/>
            </a:avLst>
          </a:prstGeom>
          <a:solidFill>
            <a:srgbClr val="FDEDE4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55321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太陽光は増え続けているのに、床は減っている — おかしくないですか？　→ P7〜P9で回収します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前半：九州×太陽光｜蓄電池価値①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スポット裁定は約1万円/kW-年 — 単独では投資が成立しない</a:t>
            </a:r>
            <a:endParaRPr lang="en-US" sz="2000" dirty="0"/>
          </a:p>
        </p:txBody>
      </p:sp>
      <p:pic>
        <p:nvPicPr>
          <p:cNvPr id="4" name="Image 0" descr="/home/user/work/thesis/figures/kyushu/f7-backtest-ann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629400" cy="40671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727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1.0〜1.25万円/kW-年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06640" y="19568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完全予見の年間裁定粗利（FY2023〜25）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406640" y="23042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0.8〜1.05万円/kW-年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406640" y="26883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実行可能戦略（捕捉率 約8割）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406640" y="3063240"/>
            <a:ext cx="4297680" cy="868680"/>
          </a:xfrm>
          <a:prstGeom prst="roundRect">
            <a:avLst>
              <a:gd name="adj" fmla="val 7368"/>
            </a:avLst>
          </a:prstGeom>
          <a:solidFill>
            <a:srgbClr val="EEF4FB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30632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年換算資本費 約2万円/kW-年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に対しスポット単独では損益分岐に届かない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4069080"/>
            <a:ext cx="4297680" cy="1828800"/>
          </a:xfrm>
          <a:prstGeom prst="roundRect">
            <a:avLst>
              <a:gd name="adj" fmla="val 3500"/>
            </a:avLst>
          </a:prstGeom>
          <a:solidFill>
            <a:srgbClr val="FDEDE4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4206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戦略b（残余需要予測）の逆転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526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捕捉率 約4割（FY2016〜17）→ 80〜84%（FY2021以降）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で前日価格ナイーブを一貫して逆転 ＝ 価格形状が太陽光（残余需要）で予測できる構造になった証拠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仕様: 1MW/4MWh・往復効率85%・1日1サイクル・劣化無視（考慮で▲27%規模; Butters 2025）。需給調整・容量市場収益を含まない下限推定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前半：九州×太陽光｜蓄電池価値②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価値拡大は価格水準のせいだけではない — 規格化しても約2倍、直近の縮小はより鮮明</a:t>
            </a:r>
            <a:endParaRPr lang="en-US" sz="2000" dirty="0"/>
          </a:p>
        </p:txBody>
      </p:sp>
      <p:pic>
        <p:nvPicPr>
          <p:cNvPr id="4" name="Image 0" descr="/home/user/work/thesis/figures/kyushu/f9-relative-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126480" cy="36906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5727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FY2022の突出は水準効果が大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絶対スプレッド3.6倍 → 規格化後は2.5倍に縮小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58000" y="223113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FY2023は形状（太陽光）由来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平均価格9.1円/kWhと安い年なのに相対スプレッド1.27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288950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直近の縮小は相対でより鮮明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FY2023→25: 絶対−16%に対し相対は 1.27→0.86（−32%）</a:t>
            </a:r>
            <a:endParaRPr lang="en-US" sz="1100" dirty="0"/>
          </a:p>
        </p:txBody>
      </p:sp>
      <p:pic>
        <p:nvPicPr>
          <p:cNvPr id="8" name="Image 1" descr="/home/user/work/thesis/figures/kyushu/f8-montecar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657600"/>
            <a:ext cx="4160520" cy="25524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規格化ベースの代替（システムプライス・燃料指数）は感応度候補。モンテカルロ（右下）は年度間の構造ドリフトを過小評価 — HAR型長期記憶の導入が本番課題（第2報§2.3）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前半：九州×太陽光｜パズル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出力制御は続いているのに、床とスプレッドが縮む — 縮小は「底上げ型」</a:t>
            </a:r>
            <a:endParaRPr lang="en-US" sz="2000" dirty="0"/>
          </a:p>
        </p:txBody>
      </p:sp>
      <p:pic>
        <p:nvPicPr>
          <p:cNvPr id="4" name="Image 0" descr="/home/user/work/thesis/figures/kyushu/f12-top-bott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126480" cy="3625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572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Top4h（最高4時間）中央値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903720" y="1828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14.2 → 14.0円　</a:t>
            </a:r>
            <a:pPr indent="0" marL="0">
              <a:buNone/>
            </a:pPr>
            <a:r>
              <a:rPr lang="en-US" sz="11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ほぼ不変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3720" y="2286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Bottom4h（最安4時間）中央値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903720" y="25420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3.2 → 6.9円　</a:t>
            </a:r>
            <a:pPr indent="0" marL="0"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+3.7円の底上げ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0372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制御時間中の床約定率（物理と市場の連動）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3456432"/>
          <a:ext cx="914400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950976"/>
                <a:gridCol w="950976"/>
                <a:gridCol w="950976"/>
                <a:gridCol w="950976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FY2019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FY2022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FY2024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FY2025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74%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903720" y="4343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制御は続くのに床では約定しなくなった — 物理（制御）と市場（床）の連動低下という観察。制御の内訳・入札行動変化など複数仮説があり、内訳確認は今後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平均のダックカーブは深いまま、「典型日の底」が上がった — 平均と分布の区別が鍵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前半：九州×太陽光｜要因分解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誰が底を持ち上げたのか — 需要と揚水、ただし場面で役割が違う</a:t>
            </a:r>
            <a:endParaRPr lang="en-US" sz="2000" dirty="0"/>
          </a:p>
        </p:txBody>
      </p:sp>
      <p:pic>
        <p:nvPicPr>
          <p:cNvPr id="4" name="Image 0" descr="/home/user/work/thesis/figures/kyushu/f11-absor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6192"/>
            <a:ext cx="7818120" cy="33127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49640" y="1536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昼間10〜14時の変化（FY2023→25、MW平均）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49640" y="1965960"/>
          <a:ext cx="9144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太陽光（制御前）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+466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需要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+243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うちフラット新規負荷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+141〜196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揚水＋蓄電池充電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+306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うち蓄電池単独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±10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原子力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−338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火力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−356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域外送電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−351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5029200"/>
            <a:ext cx="3602736" cy="1188720"/>
          </a:xfrm>
          <a:prstGeom prst="roundRect">
            <a:avLst>
              <a:gd name="adj" fmla="val 5385"/>
            </a:avLst>
          </a:prstGeom>
          <a:solidFill>
            <a:srgbClr val="EEF4FB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5138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典型日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85800" y="543153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揚水充電が +306MW の底上げ — 「運転の面」の拡大が主役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93108" y="5029200"/>
            <a:ext cx="3602736" cy="1188720"/>
          </a:xfrm>
          <a:prstGeom prst="roundRect">
            <a:avLst>
              <a:gd name="adj" fmla="val 5385"/>
            </a:avLst>
          </a:prstGeom>
          <a:solidFill>
            <a:srgbClr val="EEF4FB"/>
          </a:solidFill>
          <a:ln/>
        </p:spPr>
      </p:sp>
      <p:sp>
        <p:nvSpPr>
          <p:cNvPr id="11" name="Text 7"/>
          <p:cNvSpPr/>
          <p:nvPr/>
        </p:nvSpPr>
        <p:spPr>
          <a:xfrm>
            <a:off x="4475988" y="5138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限界帯（0.01〜3円）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475988" y="543153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+553MW — 床すれすれのコマを救出し 0.01円を回避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083296" y="5029200"/>
            <a:ext cx="3602736" cy="1188720"/>
          </a:xfrm>
          <a:prstGeom prst="roundRect">
            <a:avLst>
              <a:gd name="adj" fmla="val 5385"/>
            </a:avLst>
          </a:prstGeom>
          <a:solidFill>
            <a:srgbClr val="FDEDE4"/>
          </a:solidFill>
          <a:ln/>
        </p:spPr>
      </p:sp>
      <p:sp>
        <p:nvSpPr>
          <p:cNvPr id="14" name="Text 10"/>
          <p:cNvSpPr/>
          <p:nvPr/>
        </p:nvSpPr>
        <p:spPr>
          <a:xfrm>
            <a:off x="8266176" y="5138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深い余剰日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266176" y="5431536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+86MWどまり（p90 約2.0GWで実効上限）→ 床は消せない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会計的分解であり因果ではない（火力・域外送電は価格への内生反応を含む）。条件付き分解の詳細は第3報追補§6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前半：九州×太陽光｜構造と一時の切り分け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原発復帰で床は反転増加 — 「構造」と「一時」を分けて主張する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整合的観察：原発4機フル復帰のFY2026（4〜7月・同期間比）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 +33%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918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制御量 +62%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原子力（定検サイクル）＝一時要因と整合。単年・4ヶ月の観察につき年度末に通年で再検証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36192"/>
            <a:ext cx="5440680" cy="1783080"/>
          </a:xfrm>
          <a:prstGeom prst="roundRect">
            <a:avLst>
              <a:gd name="adj" fmla="val 3590"/>
            </a:avLst>
          </a:prstGeom>
          <a:solidFill>
            <a:srgbClr val="EE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反実仮想：需要増なし・原子力FY2023水準なら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床コマは +20〜33% 頻発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一方、裁定価値への影響は小さい（−1.5%、モデル再現誤差の範囲内の示唆）— フラット負荷は山と底を同時に動かすため</a:t>
            </a:r>
            <a:endParaRPr lang="en-US" sz="1050" dirty="0"/>
          </a:p>
        </p:txBody>
      </p:sp>
      <p:pic>
        <p:nvPicPr>
          <p:cNvPr id="14" name="Image 0" descr="/home/user/work/thesis/figures/kyushu/f14-counterf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93008"/>
            <a:ext cx="6537960" cy="278211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315200" y="3493008"/>
            <a:ext cx="4343400" cy="2743200"/>
          </a:xfrm>
          <a:prstGeom prst="roundRect">
            <a:avLst>
              <a:gd name="adj" fmla="val 2333"/>
            </a:avLst>
          </a:prstGeom>
          <a:solidFill>
            <a:srgbClr val="184F95"/>
          </a:solidFill>
          <a:ln/>
        </p:spPr>
      </p:sp>
      <p:sp>
        <p:nvSpPr>
          <p:cNvPr id="16" name="Text 13"/>
          <p:cNvSpPr/>
          <p:nvPr/>
        </p:nvSpPr>
        <p:spPr>
          <a:xfrm>
            <a:off x="7543800" y="363931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43800" y="397764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構造：</a:t>
            </a:r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需要増と揚水の面的拡大が底を支える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一時：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原発定検と太陽光の年次条件が床コマ数を振らす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7C4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昼だけ効く吸収（揚水、そして将来の蓄電池）だけが蓄電池価値を侵食する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反実仮想は部分均衡（吸収側固定）につき床頻度は上限方向の評価。モデル内比較（再現 vs 反実仮想）で変化分のみ解釈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前半：九州×太陽光｜まとめ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九州が教えてくれた3つのこと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02736" cy="2697480"/>
          </a:xfrm>
          <a:prstGeom prst="roundRect">
            <a:avLst>
              <a:gd name="adj" fmla="val 2373"/>
            </a:avLst>
          </a:prstGeom>
          <a:solidFill>
            <a:srgbClr val="EEF4FB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039112"/>
            <a:ext cx="457200" cy="457200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28" dirty="0"/>
          </a:p>
        </p:txBody>
      </p:sp>
      <p:sp>
        <p:nvSpPr>
          <p:cNvPr id="7" name="Text 5"/>
          <p:cNvSpPr/>
          <p:nvPr/>
        </p:nvSpPr>
        <p:spPr>
          <a:xfrm>
            <a:off x="758952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「昼だけ効く吸収」が価値を侵食する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32461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揚水の運用拡大は蓄電池カニバリゼーションの予行演習。蓄電池本体はまだ±10MWで、いま侵食の主役は揚水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3108" y="1783080"/>
            <a:ext cx="3602736" cy="2697480"/>
          </a:xfrm>
          <a:prstGeom prst="roundRect">
            <a:avLst>
              <a:gd name="adj" fmla="val 2373"/>
            </a:avLst>
          </a:prstGeom>
          <a:solidFill>
            <a:srgbClr val="EE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49140" y="2039112"/>
            <a:ext cx="457200" cy="457200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1" name="Text 9"/>
          <p:cNvSpPr/>
          <p:nvPr/>
        </p:nvSpPr>
        <p:spPr>
          <a:xfrm>
            <a:off x="45491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28" dirty="0"/>
          </a:p>
        </p:txBody>
      </p:sp>
      <p:sp>
        <p:nvSpPr>
          <p:cNvPr id="12" name="Text 10"/>
          <p:cNvSpPr/>
          <p:nvPr/>
        </p:nvSpPr>
        <p:spPr>
          <a:xfrm>
            <a:off x="454914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床・スプレッドは「底側」で決まる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9140" y="32461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低価格帯の買い側（揚水・蓄電池充電・産業需要）のモデリングが価値評価の一級論点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602736" cy="2697480"/>
          </a:xfrm>
          <a:prstGeom prst="roundRect">
            <a:avLst>
              <a:gd name="adj" fmla="val 2373"/>
            </a:avLst>
          </a:prstGeom>
          <a:solidFill>
            <a:srgbClr val="EE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2039112"/>
            <a:ext cx="457200" cy="457200"/>
          </a:xfrm>
          <a:prstGeom prst="ellipse">
            <a:avLst/>
          </a:prstGeom>
          <a:solidFill>
            <a:srgbClr val="EC83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28" dirty="0"/>
          </a:p>
        </p:txBody>
      </p:sp>
      <p:sp>
        <p:nvSpPr>
          <p:cNvPr id="17" name="Text 15"/>
          <p:cNvSpPr/>
          <p:nvPr/>
        </p:nvSpPr>
        <p:spPr>
          <a:xfrm>
            <a:off x="8339328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会計的分解では因果が閉じない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39328" y="32461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外生ドライバーの識別には構造（均衡）モデルが必要 → 修論本体の仕事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983480"/>
            <a:ext cx="11155680" cy="914400"/>
          </a:xfrm>
          <a:prstGeom prst="roundRect">
            <a:avLst>
              <a:gd name="adj" fmla="val 7000"/>
            </a:avLst>
          </a:prstGeom>
          <a:solidFill>
            <a:srgbClr val="184F9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83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この3つを最も鋭い形で問える市場はどこか？　→　後半：北海道×風力×蓄電池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後半：北海道×風力への転換｜なぜ九州で書かないか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九州×太陽光では修論を書かない — 先行研究は厚く、JEPX×風力は空白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太陽光×蓄電池 — 先行研究が厚い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Butters, Dorsey &amp; Gowrisankaran (2025, Econometrica) — CAISO蓄電池の参入均衡モデル（再現パッケージ公開）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Lamp &amp; Samano (2022) — 蓄電池普及によるスプレッドの自己侵食（カニバリゼーション）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Fuke &amp; Ohashi (2025) — 九州の太陽光と市場価格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前半はこの系譜の追試＋日本版としては成立するが、修論の新規性の核にはならない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627632"/>
            <a:ext cx="5440680" cy="3017520"/>
          </a:xfrm>
          <a:prstGeom prst="roundRect">
            <a:avLst>
              <a:gd name="adj" fmla="val 2121"/>
            </a:avLst>
          </a:prstGeom>
          <a:solidFill>
            <a:srgbClr val="FDEDE4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風力×市場価格（JEPX）— ほぼ空白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Sakaguchi &amp; Fujii (2021) — FY2016〜19・北海道で高分位の風力メリットオーダー効果を検出</a:t>
            </a:r>
            <a:endParaRPr lang="en-US" sz="10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越境効果研究（Applied Economics 2023） — エリア間の風力越境影響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風力が倍増した2023年以降のデータでの分析は、学術・業界レポートとも見当たらない（notes/12で棚卸し済み）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5074920"/>
            <a:ext cx="11155680" cy="731520"/>
          </a:xfrm>
          <a:prstGeom prst="roundRect">
            <a:avLst>
              <a:gd name="adj" fmla="val 8750"/>
            </a:avLst>
          </a:prstGeom>
          <a:solidFill>
            <a:srgbClr val="184F9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右列の空白 ＝ 「風力主導 × 連系線制約」 → 北海道へ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後半：北海道×風力への転換｜なぜ北海道か①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「風力大×融通小」は全国で北海道だけ — しかも倍増は直近2年</a:t>
            </a:r>
            <a:endParaRPr lang="en-US" sz="2000" dirty="0"/>
          </a:p>
        </p:txBody>
      </p:sp>
      <p:pic>
        <p:nvPicPr>
          <p:cNvPr id="4" name="Image 0" descr="/home/user/work/thesis/figures/fig1-wind-vs-interconn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5029200" cy="36181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49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「最近まで風力は少なかった」が正しい — だからこそ今。影響がこれから顕在化する初期段階で、事前の均衡推定の価値が最大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157276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風力設備の推移（導入量・JWPA）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2160" y="1901952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EF4FB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9019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36万kW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2010年代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589520" y="2176272"/>
            <a:ext cx="228600" cy="219456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0" y="1901952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EEF4FB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19019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83万kW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2023年末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0" y="2176272"/>
            <a:ext cx="228600" cy="219456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3" name="Shape 10"/>
          <p:cNvSpPr/>
          <p:nvPr/>
        </p:nvSpPr>
        <p:spPr>
          <a:xfrm>
            <a:off x="9875520" y="1901952"/>
            <a:ext cx="1691640" cy="777240"/>
          </a:xfrm>
          <a:prstGeom prst="roundRect">
            <a:avLst>
              <a:gd name="adj" fmla="val 8235"/>
            </a:avLst>
          </a:prstGeom>
          <a:solidFill>
            <a:srgbClr val="FDEDE4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0" y="19019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128万kW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2024年末・全国1位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52160" y="274320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単年 +45.5万kW ＝ 全国増の約7割（石狩湾新港洋上112MWを含む）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52160" y="3154680"/>
            <a:ext cx="2834640" cy="896112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/>
        </p:spPr>
      </p:sp>
      <p:sp>
        <p:nvSpPr>
          <p:cNvPr id="17" name="Text 14"/>
          <p:cNvSpPr/>
          <p:nvPr/>
        </p:nvSpPr>
        <p:spPr>
          <a:xfrm>
            <a:off x="6016752" y="315468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風力/需要比 32%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次点の東北は19%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23960" y="3154680"/>
            <a:ext cx="2834640" cy="896112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/>
        </p:spPr>
      </p:sp>
      <p:sp>
        <p:nvSpPr>
          <p:cNvPr id="19" name="Text 16"/>
          <p:cNvSpPr/>
          <p:nvPr/>
        </p:nvSpPr>
        <p:spPr>
          <a:xfrm>
            <a:off x="8988552" y="315468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連系線容量の1.5倍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風力接続量が上回るのは全国唯一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52160" y="4160520"/>
            <a:ext cx="2834640" cy="896112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/>
        </p:spPr>
      </p:sp>
      <p:sp>
        <p:nvSpPr>
          <p:cNvPr id="21" name="Text 18"/>
          <p:cNvSpPr/>
          <p:nvPr/>
        </p:nvSpPr>
        <p:spPr>
          <a:xfrm>
            <a:off x="6016752" y="416052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洋上5海域 最大+380万kW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実現なら風力/需要比 約90%へ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823960" y="4160520"/>
            <a:ext cx="2834640" cy="896112"/>
          </a:xfrm>
          <a:prstGeom prst="roundRect">
            <a:avLst>
              <a:gd name="adj" fmla="val 7143"/>
            </a:avLst>
          </a:prstGeom>
          <a:solidFill>
            <a:srgbClr val="EEF4FB"/>
          </a:solidFill>
          <a:ln/>
        </p:spPr>
      </p:sp>
      <p:sp>
        <p:nvSpPr>
          <p:cNvPr id="23" name="Text 20"/>
          <p:cNvSpPr/>
          <p:nvPr/>
        </p:nvSpPr>
        <p:spPr>
          <a:xfrm>
            <a:off x="8988552" y="416052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蓄電池の接続申込 1.6GW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平均需要の約5割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52160" y="525780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北海道→東北の間接送電権が2026年度に商品化 ＝ 余剰閉じ込め型の市場分断の制度的認定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導入量（JWPA: 2024年末128万kW）と接続量（系統WG資料: 136万kW）は定義・時点の異なる統計（使い分けは notes/11 §1.2）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後半：北海道×風力への転換｜なぜ北海道か②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風力はスポット価格に効くのか — 浸透率は「検出水準」に到達しつつある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9144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65760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市場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風力シェア（エネルギーベース）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検出された効果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出典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ERCOT（米テキサス）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5〜8%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価格水準・ボラティリティへの効果を検出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Woo et al. (2011)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ドイツ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6〜8%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日前価格のボラティリティ増を検出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Ketterer (2014)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北海道（FY2016〜19）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現在の半分以下の設備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高分位（価格上位帯）で風力の価格押下げを検出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Sakaguchi &amp; Fujii (2021)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北海道（現在）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実績 約5〜7%／現行設備の年換算 8〜10%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検出水準に到達しつつある段階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本分析（notes/11）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デンマーク／南豪州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54%／（負値価格が四半期の46%）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洋上導入後の北海道（45〜50%）の参照領域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OWID・AEMO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9496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EEF4F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「効くかどうか」はもう論点ではない — 「どれだけ・どの時間構造で効くか」が問い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出典の詳細と数値の由来は notes/11 §1（OWID・AEMO・各論文）。北海道のシェアは発電実績ベースの概算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後半：北海道×風力への転換｜なぜ北海道か③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打ち消し合いでボラは消えない — 変動の主戦場は「数日帯域」</a:t>
            </a:r>
            <a:endParaRPr lang="en-US" sz="2000" dirty="0"/>
          </a:p>
        </p:txBody>
      </p:sp>
      <p:pic>
        <p:nvPicPr>
          <p:cNvPr id="4" name="Image 0" descr="/home/user/work/thesis/figures/kyushu/f15-wind-tim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6192"/>
            <a:ext cx="7955280" cy="3182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1080" y="15361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風力分散のシェア（フリート集約後・九州実測）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6410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&lt;6時間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12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1.9%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41080" y="24871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6〜24時間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1268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8.7%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41080" y="29626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1〜7日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12680" y="296265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43.7%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4108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太陽光は6〜24時間帯が66%と対照的。低出力イベントは最長158時間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48463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EEF4FB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空間平滑化が消すのは高周波だけ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0" y="524865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総観規模（数百km）の変動は相関が残る（St. Martin 2015。デンマーク〜ドイツ間でも0.65: Malvaldi 2017）。北海道の風力は日本海側の約300km帯に集中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48463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DEDE4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E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揚水カウンター論 → 研究の問いへ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46520" y="5248656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九州＝太陽光（日内周期）×揚水230万kW（日次サイクル）の好相性ペア。北海道は京極40万kW（約1/6）で、数日帯域に日次サイクル貯蔵は原理的にミスマッチ → 空隙を蓄電池が埋め得るか・均衡でいくら入るか。4h電池も同じミスマッチ＝duration内生化が研究対象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「数日周期」ではなく「変動エネルギーの中心が数日帯域にある確率的変動」。帯域分解は移動平均カスケードによる非直交分解（交差項約2割、シェア合計≠100%）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後半：北海道×風力への転換｜研究計画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研究の3段構成とNext Action — 分析装置はエリア名を変えるだけで移植できる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EEF4F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実証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ボラティリティ生成関数（HAR-CV-JV-X）— 風力・太陽光の寄与を分離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04488" y="2286000"/>
            <a:ext cx="320040" cy="256032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8" name="Shape 6"/>
          <p:cNvSpPr/>
          <p:nvPr/>
        </p:nvSpPr>
        <p:spPr>
          <a:xfrm>
            <a:off x="4251960" y="1627632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EEF4FB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構造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残余需要×経験的供給曲線＋蓄電池の動的計画 — 底側（買い吸収）のモデリングを重視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53528" y="2286000"/>
            <a:ext cx="320040" cy="256032"/>
          </a:xfrm>
          <a:prstGeom prst="rightArrow">
            <a:avLst/>
          </a:prstGeom>
          <a:solidFill>
            <a:srgbClr val="2A7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8001000" y="1627632"/>
            <a:ext cx="3383280" cy="1554480"/>
          </a:xfrm>
          <a:prstGeom prst="roundRect">
            <a:avLst>
              <a:gd name="adj" fmla="val 4118"/>
            </a:avLst>
          </a:prstGeom>
          <a:solidFill>
            <a:srgbClr val="EE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均衡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自由参入のゼロ利潤均衡 K*(R) — duration選択の内生化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11155680" cy="822960"/>
          </a:xfrm>
          <a:prstGeom prst="roundRect">
            <a:avLst>
              <a:gd name="adj" fmla="val 7778"/>
            </a:avLst>
          </a:prstGeom>
          <a:solidFill>
            <a:srgbClr val="184F9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29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最終的な主張の形：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「市場構造から、北海道では蓄電池 K* GW/GWh までの増加が経済合理的」</a:t>
            </a:r>
            <a:pPr algn="ctr" indent="0" marL="0">
              <a:buNone/>
            </a:pPr>
            <a:r>
              <a:rPr lang="en-US" sz="135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（シナリオ束での下限主張）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 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329184" cy="32918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4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44" dirty="0"/>
          </a:p>
        </p:txBody>
      </p:sp>
      <p:sp>
        <p:nvSpPr>
          <p:cNvPr id="20" name="Text 18"/>
          <p:cNvSpPr/>
          <p:nvPr/>
        </p:nvSpPr>
        <p:spPr>
          <a:xfrm>
            <a:off x="1005840" y="48646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北海道・東北の需給実績CSVの取得（掲載ローリング対策で至急｜担当：本人）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329184" cy="32918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367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4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44" dirty="0"/>
          </a:p>
        </p:txBody>
      </p:sp>
      <p:sp>
        <p:nvSpPr>
          <p:cNvPr id="23" name="Text 21"/>
          <p:cNvSpPr/>
          <p:nvPr/>
        </p:nvSpPr>
        <p:spPr>
          <a:xfrm>
            <a:off x="1005840" y="53400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風力×エリアプライスの分位点回帰＋帯域分解の北海道版（データ到着後すぐ｜第一弾実証）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843016"/>
            <a:ext cx="329184" cy="32918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43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4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44" dirty="0"/>
          </a:p>
        </p:txBody>
      </p:sp>
      <p:sp>
        <p:nvSpPr>
          <p:cNvPr id="26" name="Text 24"/>
          <p:cNvSpPr/>
          <p:nvPr/>
        </p:nvSpPr>
        <p:spPr>
          <a:xfrm>
            <a:off x="1005840" y="5815584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出力制御の内訳・需要帰属の一次資料確認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手法は九州パイプライン＋Butters (2025) 枠組み（再現パッケージ公開済み）を北海道仕様（市場分断・下限価格・数日帯域・泊/ラピダスのシナリオ行列）へ拡張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310896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質疑対応資料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97680" y="39319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  キーナンバー総括表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A2  スプレッド分布・制御日比較（f3・f5）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A3  価格分位点・価格帯構成（f6・f13）</a:t>
            </a:r>
            <a:endParaRPr lang="en-US" sz="1200" dirty="0"/>
          </a:p>
          <a:p>
            <a:pPr indent="0" marL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  等価時間・昼間需給の分解（f10）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DE2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A5  想定問答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キーナンバー総括表（この1枚で質疑に耐える）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9144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34440"/>
                <a:gridCol w="1280160"/>
                <a:gridCol w="1371600"/>
                <a:gridCol w="137160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FY2016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FY2019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FY2022※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FY2025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F9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太陽光発電量 (GWh)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7,086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10,438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13,737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13,455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14,221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15,014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太陽光シェア（対エリア需要）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8.2%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12.4%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16.3%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15.9%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16.2%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17.3%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出力制御量 (GWh)／制御率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459／4.2%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449／3.2%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1,290／8.7%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751／5.0%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979／6.1%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0.01円コマ数（30分）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1,909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2,178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1,167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983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制御時間中の床約定率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33%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51%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TB4hスプレッド中央値 (円/kWh)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19.8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相対スプレッド（÷当日平均価格）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0.64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1.27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0.86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蓄電池PF裁定価値 (円/kW-年)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5,823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5,945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24,367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12,521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12,402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10,366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同・実行可能戦略b (円/kW-年)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2,400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4,295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19,394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10,405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10,199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8,712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4360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※FY2022は燃料危機（価格水準効果が大）。年度＝4月〜翌3月。PF＝完全予見。定義・出典は kyushu-methods-data.md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TB4hスプレッドの分布と、制御日 vs 非制御日</a:t>
            </a:r>
            <a:endParaRPr lang="en-US" sz="2000" dirty="0"/>
          </a:p>
        </p:txBody>
      </p:sp>
      <p:pic>
        <p:nvPicPr>
          <p:cNvPr id="4" name="Image 0" descr="/home/user/work/thesis/figures/kyushu/f3-tb4h-sp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5440680" cy="3277518"/>
          </a:xfrm>
          <a:prstGeom prst="rect">
            <a:avLst/>
          </a:prstGeom>
        </p:spPr>
      </p:pic>
      <p:pic>
        <p:nvPicPr>
          <p:cNvPr id="5" name="Image 1" descr="/home/user/work/thesis/figures/kyushu/f5-curtail-day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48840"/>
            <a:ext cx="5440680" cy="3277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価格分位点の推移と、価格帯構成の変化</a:t>
            </a:r>
            <a:endParaRPr lang="en-US" sz="2000" dirty="0"/>
          </a:p>
        </p:txBody>
      </p:sp>
      <p:pic>
        <p:nvPicPr>
          <p:cNvPr id="4" name="Image 0" descr="/home/user/work/thesis/figures/kyushu/f6-quant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48840"/>
            <a:ext cx="5440680" cy="3277518"/>
          </a:xfrm>
          <a:prstGeom prst="rect">
            <a:avLst/>
          </a:prstGeom>
        </p:spPr>
      </p:pic>
      <p:pic>
        <p:nvPicPr>
          <p:cNvPr id="5" name="Image 1" descr="/home/user/work/thesis/figures/kyushu/f13-price-ba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48840"/>
            <a:ext cx="544068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等価時間（価格水準で規格化した価値）と、昼間需給の変化</a:t>
            </a:r>
            <a:endParaRPr lang="en-US" sz="2000" dirty="0"/>
          </a:p>
        </p:txBody>
      </p:sp>
      <p:pic>
        <p:nvPicPr>
          <p:cNvPr id="4" name="Image 0" descr="/home/user/work/thesis/figures/kyushu/f10-normalized-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7360"/>
            <a:ext cx="5989320" cy="3608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FY2023→25の変化（昼間10〜14時、MW平均）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103120"/>
          <a:ext cx="91440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太陽光（制御前）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+466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需要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+243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うちフラット新規負荷（夜間帯で識別）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+141〜196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揚水＋蓄電池充電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B44E24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+306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　うち蓄電池単独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±10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原子力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−338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火力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−356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B3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域外送電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84F9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−351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190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会計的分解であり因果ではない。夜間帯識別・条件付き分解の詳細は第3報（kyushu-factor-decomposition.md）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A78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 A5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201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想定問答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床コマ減は太陽光の失速では？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発電量はFY2025も過去最高（15.0TWh）。要因は吸収側（需要・揚水）＋一時要因（P8〜9）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2807208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原発が要因なら一時的では？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そのとおり。FY2026の4機復帰で床+33%と巻き戻り済み（P9）。構造要因とは区別して主張している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4014216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揚水+300MWは太陽光5GW級に対して小さすぎないか？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床の成否は限界的余剰（制御量1.3〜1.6GW）で決まる。限界帯（0.01〜3円）では+553MW。ただし深い余剰日は上限張り付きで、床変動の第一要因は原子力×天候（P8〜9）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5221224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風力は打ち消し合ってボラが出ないのでは？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消えるのは高周波のみ。フリートでは&lt;6h成分は分散の2%、数日帯域44%が支配的（P14・f15）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1600200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北海道にそんなに風力があったか？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2010年代36万kW→2024年末128万kW・全国1位。倍増は直近2年（P12）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2807208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なぜ蓄電池が吸収の主役になるのか？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揚水は量1/6×日次サイクルで数日帯域とミスマッチ。ただし4h電池も同じ課題 → duration内生化が研究の問い（P14）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4014216"/>
            <a:ext cx="54406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84F9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反実仮想・モデルの信頼性は？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2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部分均衡・モデル内比較のみ解釈。吸収側の内生化こそ本番の構造モデル（P9）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92840" y="6528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5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2026-07-26T22:53:17Z</dcterms:created>
  <dcterms:modified xsi:type="dcterms:W3CDTF">2026-07-26T22:53:17Z</dcterms:modified>
</cp:coreProperties>
</file>