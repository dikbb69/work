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FY2016-19</c:v>
                </c:pt>
              </c:strCache>
            </c:strRef>
          </c:tx>
          <c:spPr>
            <a:solidFill>
              <a:srgbClr val="CDE2FB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84F95"/>
                    </a:solidFill>
                    <a:latin typeface="Yu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高値分断</c:v>
                  </c:pt>
                  <c:pt idx="1">
                    <c:v>連系</c:v>
                  </c:pt>
                  <c:pt idx="2">
                    <c:v>安値分断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89.5</c:v>
                </c:pt>
                <c:pt idx="1">
                  <c:v>7.5</c:v>
                </c:pt>
                <c:pt idx="2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FY2023-25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84F95"/>
                    </a:solidFill>
                    <a:latin typeface="Yu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高値分断</c:v>
                  </c:pt>
                  <c:pt idx="1">
                    <c:v>連系</c:v>
                  </c:pt>
                  <c:pt idx="2">
                    <c:v>安値分断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60</c:v>
                </c:pt>
                <c:pt idx="1">
                  <c:v>11</c:v>
                </c:pt>
                <c:pt idx="2">
                  <c:v>29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84F95"/>
                  </a:solidFill>
                  <a:latin typeface="Yu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5E2F2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875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D5E2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5E2F2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875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8758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capture</c:v>
                </c:pt>
              </c:strCache>
            </c:strRef>
          </c:tx>
          <c:spPr>
            <a:solidFill>
              <a:srgbClr val="184F95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84F95"/>
                    </a:solidFill>
                    <a:latin typeface="Yu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84F9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DE2F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C835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完全予見PF</c:v>
                  </c:pt>
                  <c:pt idx="1">
                    <c:v>九州 戦略a</c:v>
                  </c:pt>
                  <c:pt idx="2">
                    <c:v>北海道 戦略a</c:v>
                  </c:pt>
                  <c:pt idx="3">
                    <c:v>北海道 戦略b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78.5</c:v>
                </c:pt>
                <c:pt idx="2">
                  <c:v>67.5</c:v>
                </c:pt>
                <c:pt idx="3">
                  <c:v>79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84F95"/>
                  </a:solidFill>
                  <a:latin typeface="Yu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5E2F2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875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5E2F2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875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分散シェア</c:v>
                </c:pt>
              </c:strCache>
            </c:strRef>
          </c:tx>
          <c:spPr>
            <a:solidFill>
              <a:srgbClr val="CDE2F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84F95"/>
                    </a:solidFill>
                    <a:latin typeface="Yu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DE2F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84F95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日内（&lt;24h）</c:v>
                  </c:pt>
                  <c:pt idx="1">
                    <c:v>1〜7日</c:v>
                  </c:pt>
                  <c:pt idx="2">
                    <c:v>7日超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25.7</c:v>
                </c:pt>
                <c:pt idx="1">
                  <c:v>35.7</c:v>
                </c:pt>
                <c:pt idx="2">
                  <c:v>38.6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84F95"/>
                  </a:solidFill>
                  <a:latin typeface="Yu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5E2F2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875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6350" cap="flat">
              <a:solidFill>
                <a:srgbClr val="D5E2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5E2F2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875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DE2F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修士論文 進捗報告｜ゼミ発表　　2026年8月17日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02920" y="749808"/>
            <a:ext cx="11183112" cy="566928"/>
          </a:xfrm>
          <a:prstGeom prst="roundRect">
            <a:avLst>
              <a:gd name="adj" fmla="val 11290"/>
            </a:avLst>
          </a:prstGeom>
          <a:solidFill>
            <a:srgbClr val="1E447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4980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DE2F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前回：</a:t>
            </a:r>
            <a:pPr indent="0" marL="0">
              <a:buNone/>
            </a:pPr>
            <a:r>
              <a:rPr lang="en-US" sz="1050" dirty="0">
                <a:solidFill>
                  <a:srgbClr val="CDE2F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九州実データによる簡易（完全情報）オプション価値算定 → 対象を北海道へ展開する方針を宣言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64592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北海道の初期実証と、先行研究の中の空白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2231136"/>
            <a:ext cx="11183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DE2F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— 実証・文献レビューの報告と、均衡容量K*へ向けた今後の方針 —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3063240"/>
            <a:ext cx="3602736" cy="2743200"/>
          </a:xfrm>
          <a:prstGeom prst="roundRect">
            <a:avLst>
              <a:gd name="adj" fmla="val 2333"/>
            </a:avLst>
          </a:prstGeom>
          <a:solidFill>
            <a:srgbClr val="1E4478"/>
          </a:solidFill>
          <a:ln/>
        </p:spPr>
      </p:sp>
      <p:sp>
        <p:nvSpPr>
          <p:cNvPr id="8" name="Shape 6"/>
          <p:cNvSpPr/>
          <p:nvPr/>
        </p:nvSpPr>
        <p:spPr>
          <a:xfrm>
            <a:off x="758952" y="3319272"/>
            <a:ext cx="420624" cy="420624"/>
          </a:xfrm>
          <a:prstGeom prst="ellipse">
            <a:avLst/>
          </a:prstGeom>
          <a:solidFill>
            <a:srgbClr val="EC835A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3319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9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90" dirty="0"/>
          </a:p>
        </p:txBody>
      </p:sp>
      <p:sp>
        <p:nvSpPr>
          <p:cNvPr id="10" name="Text 8"/>
          <p:cNvSpPr/>
          <p:nvPr/>
        </p:nvSpPr>
        <p:spPr>
          <a:xfrm>
            <a:off x="1307592" y="326440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北海道の初期実証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58952" y="3977640"/>
            <a:ext cx="3108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DE2F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床コマは九州の約半分なのに、裁定価値（PF）は九州並み。価値の源泉が「昼の床」から「夕方スパイク」へ交代。風力変動は3/4が1日超の長周期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93108" y="3063240"/>
            <a:ext cx="3602736" cy="2743200"/>
          </a:xfrm>
          <a:prstGeom prst="roundRect">
            <a:avLst>
              <a:gd name="adj" fmla="val 2333"/>
            </a:avLst>
          </a:prstGeom>
          <a:solidFill>
            <a:srgbClr val="1E4478"/>
          </a:solidFill>
          <a:ln/>
        </p:spPr>
      </p:sp>
      <p:sp>
        <p:nvSpPr>
          <p:cNvPr id="13" name="Shape 11"/>
          <p:cNvSpPr/>
          <p:nvPr/>
        </p:nvSpPr>
        <p:spPr>
          <a:xfrm>
            <a:off x="4549140" y="3319272"/>
            <a:ext cx="420624" cy="420624"/>
          </a:xfrm>
          <a:prstGeom prst="ellipse">
            <a:avLst/>
          </a:prstGeom>
          <a:solidFill>
            <a:srgbClr val="EC835A"/>
          </a:solidFill>
          <a:ln/>
        </p:spPr>
      </p:sp>
      <p:sp>
        <p:nvSpPr>
          <p:cNvPr id="14" name="Text 12"/>
          <p:cNvSpPr/>
          <p:nvPr/>
        </p:nvSpPr>
        <p:spPr>
          <a:xfrm>
            <a:off x="4549140" y="3319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9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90" dirty="0"/>
          </a:p>
        </p:txBody>
      </p:sp>
      <p:sp>
        <p:nvSpPr>
          <p:cNvPr id="15" name="Text 13"/>
          <p:cNvSpPr/>
          <p:nvPr/>
        </p:nvSpPr>
        <p:spPr>
          <a:xfrm>
            <a:off x="5097780" y="326440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先行研究の調査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49140" y="3977640"/>
            <a:ext cx="3108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DE2F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コア41本をDOI検証・抽出表まで整備。均衡分析はすべて太陽光・海外市場。「北海道×風力×蓄電池の均衡容量」が空白と確認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83296" y="3063240"/>
            <a:ext cx="3602736" cy="2743200"/>
          </a:xfrm>
          <a:prstGeom prst="roundRect">
            <a:avLst>
              <a:gd name="adj" fmla="val 2333"/>
            </a:avLst>
          </a:prstGeom>
          <a:solidFill>
            <a:srgbClr val="1E4478"/>
          </a:solidFill>
          <a:ln/>
        </p:spPr>
      </p:sp>
      <p:sp>
        <p:nvSpPr>
          <p:cNvPr id="18" name="Shape 16"/>
          <p:cNvSpPr/>
          <p:nvPr/>
        </p:nvSpPr>
        <p:spPr>
          <a:xfrm>
            <a:off x="8339328" y="3319272"/>
            <a:ext cx="420624" cy="420624"/>
          </a:xfrm>
          <a:prstGeom prst="ellipse">
            <a:avLst/>
          </a:prstGeom>
          <a:solidFill>
            <a:srgbClr val="EC835A"/>
          </a:solidFill>
          <a:ln/>
        </p:spPr>
      </p:sp>
      <p:sp>
        <p:nvSpPr>
          <p:cNvPr id="19" name="Text 17"/>
          <p:cNvSpPr/>
          <p:nvPr/>
        </p:nvSpPr>
        <p:spPr>
          <a:xfrm>
            <a:off x="8339328" y="3319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9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90" dirty="0"/>
          </a:p>
        </p:txBody>
      </p:sp>
      <p:sp>
        <p:nvSpPr>
          <p:cNvPr id="20" name="Text 18"/>
          <p:cNvSpPr/>
          <p:nvPr/>
        </p:nvSpPr>
        <p:spPr>
          <a:xfrm>
            <a:off x="8887968" y="326440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今後の方針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339328" y="3977640"/>
            <a:ext cx="3108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DE2F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無裁定・均衡整合性命題（頑健下限コリドー）で均衡容量K*を推計。部品（AFC・容量市場・LTDA）は実測済み、予備試算も手応え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614476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DE2F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データ: 北海道・東北の需給実績＋JEPX 2016/4〜2026/6（自前構築パネル）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A78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北海道の初期実証（1/4）｜データ基盤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201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需給実績×価格の10年パネルを自前構築 — 検証アンカーで品質を確認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195560" y="256032"/>
            <a:ext cx="1481328" cy="310896"/>
          </a:xfrm>
          <a:prstGeom prst="roundRect">
            <a:avLst>
              <a:gd name="adj" fmla="val 20588"/>
            </a:avLst>
          </a:prstGeom>
          <a:solidFill>
            <a:srgbClr val="2A78D6"/>
          </a:solidFill>
          <a:ln/>
        </p:spPr>
      </p:sp>
      <p:sp>
        <p:nvSpPr>
          <p:cNvPr id="5" name="Text 3"/>
          <p:cNvSpPr/>
          <p:nvPr/>
        </p:nvSpPr>
        <p:spPr>
          <a:xfrm>
            <a:off x="10195560" y="256032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実証 1/4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66751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■"/>
            </a:pPr>
            <a:r>
              <a:rPr lang="en-US" sz="1200" b="1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北海道・東北の需給実績（TSO公表・新旧様式を統合）＋JEPXエリアプライスの時間パネル: 2016/4〜2026/6</a:t>
            </a:r>
            <a:endParaRPr lang="en-US" sz="1200" dirty="0"/>
          </a:p>
          <a:p>
            <a:pPr marL="177800" indent="-177800">
              <a:lnSpc>
                <a:spcPct val="122000"/>
              </a:lnSpc>
              <a:spcAft>
                <a:spcPts val="1400"/>
              </a:spcAft>
              <a:buSzPct val="100000"/>
              <a:buChar char="■"/>
            </a:pPr>
            <a:r>
              <a:rPr lang="en-US" sz="120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FIT/FIP認定量（B表45四半期分）から太陽光・風力の導入量系列を構築 → 設備利用率（cf）過程を抽出</a:t>
            </a:r>
            <a:endParaRPr lang="en-US" sz="12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■"/>
            </a:pPr>
            <a:r>
              <a:rPr lang="en-US" sz="1200" b="1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検証アンカー（外部情報との突合）</a:t>
            </a:r>
            <a:endParaRPr lang="en-US" sz="1200" dirty="0"/>
          </a:p>
          <a:p>
            <a:pPr lvl="1" marL="304800" indent="-152400">
              <a:lnSpc>
                <a:spcPct val="122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出力制御の初発生日が公表と一致（北海道 2022/5/8・東北 2022/4/10）</a:t>
            </a:r>
            <a:endParaRPr lang="en-US" sz="1200" dirty="0"/>
          </a:p>
          <a:p>
            <a:pPr lvl="1" marL="304800" indent="-152400">
              <a:lnSpc>
                <a:spcPct val="122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2018/9の価格欠測480時間 ＝ 胆振東部地震ブラックアウト（データ欠陥ではなく史実）</a:t>
            </a:r>
            <a:endParaRPr lang="en-US" sz="1200" dirty="0"/>
          </a:p>
          <a:p>
            <a:pPr lvl="1" marL="304800" indent="-152400">
              <a:lnSpc>
                <a:spcPct val="122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風力導入量がJWPA年末値と整合（32/86/130万kW）・太陽光が系統WG接続量と整合（234万kW）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52360" y="1481328"/>
            <a:ext cx="4206240" cy="987552"/>
          </a:xfrm>
          <a:prstGeom prst="roundRect">
            <a:avLst>
              <a:gd name="adj" fmla="val 6481"/>
            </a:avLst>
          </a:prstGeom>
          <a:solidFill>
            <a:srgbClr val="EEF4FB"/>
          </a:solidFill>
          <a:ln/>
        </p:spPr>
      </p:sp>
      <p:sp>
        <p:nvSpPr>
          <p:cNvPr id="8" name="Text 6"/>
          <p:cNvSpPr/>
          <p:nvPr/>
        </p:nvSpPr>
        <p:spPr>
          <a:xfrm>
            <a:off x="7699248" y="159105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約9万時間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99248" y="197510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パネルの規模（2エリア×10年半）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452360" y="2596896"/>
            <a:ext cx="4206240" cy="987552"/>
          </a:xfrm>
          <a:prstGeom prst="roundRect">
            <a:avLst>
              <a:gd name="adj" fmla="val 6481"/>
            </a:avLst>
          </a:prstGeom>
          <a:solidFill>
            <a:srgbClr val="EEF4FB"/>
          </a:solidFill>
          <a:ln/>
        </p:spPr>
      </p:sp>
      <p:sp>
        <p:nvSpPr>
          <p:cNvPr id="11" name="Text 9"/>
          <p:cNvSpPr/>
          <p:nvPr/>
        </p:nvSpPr>
        <p:spPr>
          <a:xfrm>
            <a:off x="7699248" y="270662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太陽光 234万kW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99248" y="309067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北海道の導入量（2025/3末）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452360" y="3712464"/>
            <a:ext cx="4206240" cy="987552"/>
          </a:xfrm>
          <a:prstGeom prst="roundRect">
            <a:avLst>
              <a:gd name="adj" fmla="val 6481"/>
            </a:avLst>
          </a:prstGeom>
          <a:solidFill>
            <a:srgbClr val="EEF4FB"/>
          </a:solidFill>
          <a:ln/>
        </p:spPr>
      </p:sp>
      <p:sp>
        <p:nvSpPr>
          <p:cNvPr id="14" name="Text 12"/>
          <p:cNvSpPr/>
          <p:nvPr/>
        </p:nvSpPr>
        <p:spPr>
          <a:xfrm>
            <a:off x="7699248" y="38221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風力 130万kW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99248" y="42062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同（2024年末）— 直近2年で倍増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452360" y="4828032"/>
            <a:ext cx="4206240" cy="987552"/>
          </a:xfrm>
          <a:prstGeom prst="roundRect">
            <a:avLst>
              <a:gd name="adj" fmla="val 6481"/>
            </a:avLst>
          </a:prstGeom>
          <a:solidFill>
            <a:srgbClr val="FDEDE4"/>
          </a:solidFill>
          <a:ln/>
        </p:spPr>
      </p:sp>
      <p:sp>
        <p:nvSpPr>
          <p:cNvPr id="17" name="Text 15"/>
          <p:cNvSpPr/>
          <p:nvPr/>
        </p:nvSpPr>
        <p:spPr>
          <a:xfrm>
            <a:off x="7699248" y="49377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4E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風力/需要比 全国最大級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99248" y="53218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洋上5海域が控える「風力の実験場」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641908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北海道電力NW・東北電力NW 需給実績、JEPXスポット、FIT/FIP情報公表用ウェブサイト、JWPA、系統WG資料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292840" y="652881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A78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北海道の初期実証（2/4）｜価格構造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201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床コマは九州の約半分、しかし裁定価値は九州並み — 価値の源泉が違う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195560" y="256032"/>
            <a:ext cx="1481328" cy="310896"/>
          </a:xfrm>
          <a:prstGeom prst="roundRect">
            <a:avLst>
              <a:gd name="adj" fmla="val 20588"/>
            </a:avLst>
          </a:prstGeom>
          <a:solidFill>
            <a:srgbClr val="2A78D6"/>
          </a:solidFill>
          <a:ln/>
        </p:spPr>
      </p:sp>
      <p:sp>
        <p:nvSpPr>
          <p:cNvPr id="5" name="Text 3"/>
          <p:cNvSpPr/>
          <p:nvPr/>
        </p:nvSpPr>
        <p:spPr>
          <a:xfrm>
            <a:off x="10195560" y="256032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実証 2/4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943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900"/>
              </a:spcAft>
              <a:buSzPct val="100000"/>
              <a:buChar char="■"/>
            </a:pPr>
            <a:r>
              <a:rPr lang="en-US" sz="1200" b="1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床コマ（0.01円/kWh）は年473コマ ＝ 九州の約半分。ダックカーブも形成途上（昼の窪みが浅い）</a:t>
            </a:r>
            <a:endParaRPr lang="en-US" sz="1200" dirty="0"/>
          </a:p>
          <a:p>
            <a:pPr marL="177800" indent="-177800">
              <a:lnSpc>
                <a:spcPct val="122000"/>
              </a:lnSpc>
              <a:spcAft>
                <a:spcPts val="900"/>
              </a:spcAft>
              <a:buSzPct val="100000"/>
              <a:buChar char="■"/>
            </a:pPr>
            <a:r>
              <a:rPr lang="en-US" sz="1200" b="1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それでも完全予見4h裁定価値（PF）は0.96〜1.15万円/kW-年で九州と同水準</a:t>
            </a:r>
            <a:endParaRPr lang="en-US" sz="1200" dirty="0"/>
          </a:p>
          <a:p>
            <a:pPr lvl="1" marL="304800" indent="-152400">
              <a:lnSpc>
                <a:spcPct val="122000"/>
              </a:lnSpc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九州: 昼の床（安値側）が価値の源泉 ／ 北海道: 夕方スパイク（高値側）が源泉</a:t>
            </a:r>
            <a:endParaRPr lang="en-US" sz="1200" dirty="0"/>
          </a:p>
          <a:p>
            <a:pPr marL="177800" indent="-177800">
              <a:lnSpc>
                <a:spcPct val="122000"/>
              </a:lnSpc>
              <a:spcAft>
                <a:spcPts val="400"/>
              </a:spcAft>
              <a:buSzPct val="100000"/>
              <a:buChar char="■"/>
            </a:pPr>
            <a:r>
              <a:rPr lang="en-US" sz="1200" b="1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市場分断の方向が逆転しつつある</a:t>
            </a:r>
            <a:endParaRPr lang="en-US" sz="1200" dirty="0"/>
          </a:p>
          <a:p>
            <a:pPr lvl="1" marL="304800" indent="-152400">
              <a:lnSpc>
                <a:spcPct val="122000"/>
              </a:lnSpc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高値分断（道内＞本州）87〜92% → 約60%へ。安値分断が1〜5% → 約30%に拡大</a:t>
            </a:r>
            <a:endParaRPr lang="en-US" sz="1200" dirty="0"/>
          </a:p>
          <a:p>
            <a:pPr lvl="1" marL="304800" indent="-152400">
              <a:lnSpc>
                <a:spcPct val="122000"/>
              </a:lnSpc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＝ 余剰の輸出制約（北本連系線）が顕在化し始めた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5138928"/>
            <a:ext cx="5943600" cy="1051560"/>
          </a:xfrm>
          <a:prstGeom prst="roundRect">
            <a:avLst>
              <a:gd name="adj" fmla="val 6087"/>
            </a:avLst>
          </a:prstGeom>
          <a:solidFill>
            <a:srgbClr val="FDEDE4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5138928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B44E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含意：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北海道は「九州の後追い」ではない。風力・スパイク・分断という別の構造 — 九州の枠組みをそのまま当てはめられない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720840" y="1481328"/>
            <a:ext cx="4937760" cy="4709160"/>
          </a:xfrm>
          <a:prstGeom prst="roundRect">
            <a:avLst>
              <a:gd name="adj" fmla="val 1359"/>
            </a:avLst>
          </a:prstGeom>
          <a:solidFill>
            <a:srgbClr val="FFFFFF"/>
          </a:solidFill>
          <a:ln w="9525">
            <a:solidFill>
              <a:srgbClr val="D5E2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67728" y="162763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市場分断の方向転換（コマ構成比）</a:t>
            </a:r>
            <a:endParaRPr lang="en-US" sz="11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6903720" y="2011680"/>
          <a:ext cx="45720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/>
          <p:nvPr/>
        </p:nvSpPr>
        <p:spPr>
          <a:xfrm>
            <a:off x="6967728" y="57790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薄い＝FY2016-19 / 濃い＝FY2023-25（システムプライス±0.01円で判定）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02920" y="641908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床コマ・分断はエリアプライス30分値から集計。PF価値＝完全予見・4時間・往復効率0.85。九州比較は前回発表の同一手法による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1292840" y="652881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A78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北海道の初期実証（3/4）｜予見可能性と運用戦略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201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北海道の裁定価値は「取りにくい」— 予測技術の価値が九州より大きい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195560" y="256032"/>
            <a:ext cx="1481328" cy="310896"/>
          </a:xfrm>
          <a:prstGeom prst="roundRect">
            <a:avLst>
              <a:gd name="adj" fmla="val 20588"/>
            </a:avLst>
          </a:prstGeom>
          <a:solidFill>
            <a:srgbClr val="2A78D6"/>
          </a:solidFill>
          <a:ln/>
        </p:spPr>
      </p:sp>
      <p:sp>
        <p:nvSpPr>
          <p:cNvPr id="5" name="Text 3"/>
          <p:cNvSpPr/>
          <p:nvPr/>
        </p:nvSpPr>
        <p:spPr>
          <a:xfrm>
            <a:off x="10195560" y="256032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実証 3/4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9436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900"/>
              </a:spcAft>
              <a:buSzPct val="100000"/>
              <a:buChar char="■"/>
            </a:pPr>
            <a:r>
              <a:rPr lang="en-US" sz="1200" b="1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実行可能戦略のcapture率（完全予見比・60分粒度）</a:t>
            </a:r>
            <a:endParaRPr lang="en-US" sz="1200" dirty="0"/>
          </a:p>
          <a:p>
            <a:pPr lvl="1" marL="304800" indent="-152400">
              <a:lnSpc>
                <a:spcPct val="122000"/>
              </a:lnSpc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戦略a（過去N日の価格ランクで充放電枠を固定）: 66〜69% — 九州の同戦略は77〜80%</a:t>
            </a:r>
            <a:endParaRPr lang="en-US" sz="1200" dirty="0"/>
          </a:p>
          <a:p>
            <a:pPr lvl="1" marL="304800" indent="-152400">
              <a:lnSpc>
                <a:spcPct val="122000"/>
              </a:lnSpc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戦略b（前日の残余需要予測で並べ替え）: 77〜81%まで回復</a:t>
            </a:r>
            <a:endParaRPr lang="en-US" sz="1200" dirty="0"/>
          </a:p>
          <a:p>
            <a:pPr lvl="1" marL="304800" indent="-152400">
              <a:lnSpc>
                <a:spcPct val="122000"/>
              </a:lnSpc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戦略b′（風力の持続性シグナルを追加）: 改善なし — 日次配置では風力予報の付加価値が出ない</a:t>
            </a:r>
            <a:endParaRPr lang="en-US" sz="1200" dirty="0"/>
          </a:p>
          <a:p>
            <a:pPr marL="177800" indent="-177800">
              <a:lnSpc>
                <a:spcPct val="122000"/>
              </a:lnSpc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厳密DP解との比較: 空SoC起点で順序実行不能の日が約25%あるが、年間価値の差は−0.3〜−1.7%（ランク法は頑健）</a:t>
            </a:r>
            <a:endParaRPr lang="en-US" sz="1200" dirty="0"/>
          </a:p>
          <a:p>
            <a:pPr marL="177800" indent="-177800">
              <a:lnSpc>
                <a:spcPct val="122000"/>
              </a:lnSpc>
              <a:spcAft>
                <a:spcPts val="900"/>
              </a:spcAft>
              <a:buSzPct val="100000"/>
              <a:buChar char="■"/>
            </a:pPr>
            <a:r>
              <a:rPr lang="en-US" sz="1200" b="1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太陽光主導（形が毎日似る）の九州と違い、風力主導の価格形状は日次の再現性が低い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720840" y="1481328"/>
            <a:ext cx="4937760" cy="4709160"/>
          </a:xfrm>
          <a:prstGeom prst="roundRect">
            <a:avLst>
              <a:gd name="adj" fmla="val 1359"/>
            </a:avLst>
          </a:prstGeom>
          <a:solidFill>
            <a:srgbClr val="FFFFFF"/>
          </a:solidFill>
          <a:ln w="9525">
            <a:solidFill>
              <a:srgbClr val="D5E2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67728" y="162763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capture率（PF＝100%）</a:t>
            </a:r>
            <a:endParaRPr lang="en-US" sz="11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903720" y="2011680"/>
          <a:ext cx="45720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6967728" y="57790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棒は各年度レンジの中央値（a: 66-69% / b: 77-81% / 九州a: 77-80%）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02920" y="641908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capture率＝実行可能戦略の粗利 ÷ 完全予見の粗利（年度別）。DP＝SoC制約下の厳密最適（充放電順序を保証）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1292840" y="652881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A78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北海道の初期実証（4/4）｜風力の構造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201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風力変動の3/4は「数日〜週」の長周期 — 4h蓄電池の日次シフトでは吸収できない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195560" y="256032"/>
            <a:ext cx="1481328" cy="310896"/>
          </a:xfrm>
          <a:prstGeom prst="roundRect">
            <a:avLst>
              <a:gd name="adj" fmla="val 20588"/>
            </a:avLst>
          </a:prstGeom>
          <a:solidFill>
            <a:srgbClr val="2A78D6"/>
          </a:solidFill>
          <a:ln/>
        </p:spPr>
      </p:sp>
      <p:sp>
        <p:nvSpPr>
          <p:cNvPr id="5" name="Text 3"/>
          <p:cNvSpPr/>
          <p:nvPr/>
        </p:nvSpPr>
        <p:spPr>
          <a:xfrm>
            <a:off x="10195560" y="256032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実証 4/4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94360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800"/>
              </a:spcAft>
              <a:buSzPct val="100000"/>
              <a:buChar char="■"/>
            </a:pPr>
            <a:r>
              <a:rPr lang="en-US" sz="1150" b="1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風力（フリート集約出力）の分散の帯域分解</a:t>
            </a:r>
            <a:endParaRPr lang="en-US" sz="1150" dirty="0"/>
          </a:p>
          <a:p>
            <a:pPr lvl="1" marL="304800" indent="-152400">
              <a:lnSpc>
                <a:spcPct val="122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日内（24h未満）は約25% ／ 1〜7日帯 35.7% ＋ 7日超帯 38.6% ＝ 分散の約3/4が長周期</a:t>
            </a:r>
            <a:endParaRPr lang="en-US" sz="1150" dirty="0"/>
          </a:p>
          <a:p>
            <a:pPr lvl="1" marL="304800" indent="-152400">
              <a:lnSpc>
                <a:spcPct val="122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太陽光（6-24h帯中心）と対照的 → 蓄電池のduration価値・貯蔵技術選択に直結する基礎事実</a:t>
            </a:r>
            <a:endParaRPr lang="en-US" sz="1150" dirty="0"/>
          </a:p>
          <a:p>
            <a:pPr marL="177800" indent="-177800">
              <a:lnSpc>
                <a:spcPct val="122000"/>
              </a:lnSpc>
              <a:spcAft>
                <a:spcPts val="400"/>
              </a:spcAft>
              <a:buSzPct val="100000"/>
              <a:buChar char="■"/>
            </a:pPr>
            <a:r>
              <a:rPr lang="en-US" sz="1150" b="1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風力の電力量シェアは実測10.2〜10.3%（FY2024-25）</a:t>
            </a:r>
            <a:endParaRPr lang="en-US" sz="1150" dirty="0"/>
          </a:p>
          <a:p>
            <a:pPr lvl="1" marL="304800" indent="-152400">
              <a:lnSpc>
                <a:spcPct val="122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先行研究がMOEを検出した水準（Woo 5-8%・Ketterer 6-8%）を既に超過</a:t>
            </a:r>
            <a:endParaRPr lang="en-US" sz="1150" dirty="0"/>
          </a:p>
          <a:p>
            <a:pPr marL="177800" indent="-177800">
              <a:lnSpc>
                <a:spcPct val="122000"/>
              </a:lnSpc>
              <a:spcAft>
                <a:spcPts val="400"/>
              </a:spcAft>
              <a:buSzPct val="100000"/>
              <a:buChar char="■"/>
            </a:pPr>
            <a:r>
              <a:rPr lang="en-US" sz="1150" b="1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分位点回帰（Sakaguchi &amp; Fujii 2021 の再現・延長）</a:t>
            </a:r>
            <a:endParaRPr lang="en-US" sz="1150" dirty="0"/>
          </a:p>
          <a:p>
            <a:pPr lvl="1" marL="304800" indent="-152400">
              <a:lnSpc>
                <a:spcPct val="122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高分位ほど強い風力MOE: τ0.9で−11.2円/kWh/GW（FY2016-19）→ FY2023-25は−4〜−7円に減衰</a:t>
            </a:r>
            <a:endParaRPr lang="en-US" sz="1150" dirty="0"/>
          </a:p>
          <a:p>
            <a:pPr lvl="1" marL="304800" indent="-152400">
              <a:lnSpc>
                <a:spcPct val="122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減衰は連系線増強・市場統合の効果と整合 ＝ 分断逆転（実証2）と表裏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720840" y="1481328"/>
            <a:ext cx="4937760" cy="4709160"/>
          </a:xfrm>
          <a:prstGeom prst="roundRect">
            <a:avLst>
              <a:gd name="adj" fmla="val 1359"/>
            </a:avLst>
          </a:prstGeom>
          <a:solidFill>
            <a:srgbClr val="FFFFFF"/>
          </a:solidFill>
          <a:ln w="9525">
            <a:solidFill>
              <a:srgbClr val="D5E2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67728" y="162763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風力変動の帯域分解（分散シェア）</a:t>
            </a:r>
            <a:endParaRPr lang="en-US" sz="11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903720" y="2011680"/>
          <a:ext cx="45720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6903720" y="5486400"/>
            <a:ext cx="4572000" cy="566928"/>
          </a:xfrm>
          <a:prstGeom prst="roundRect">
            <a:avLst>
              <a:gd name="adj" fmla="val 11290"/>
            </a:avLst>
          </a:prstGeom>
          <a:solidFill>
            <a:srgbClr val="FDEDE4"/>
          </a:solidFill>
          <a:ln/>
        </p:spPr>
      </p:sp>
      <p:sp>
        <p:nvSpPr>
          <p:cNvPr id="11" name="Text 8"/>
          <p:cNvSpPr/>
          <p:nvPr/>
        </p:nvSpPr>
        <p:spPr>
          <a:xfrm>
            <a:off x="7059168" y="548640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4E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4h蓄電池が主に食えるのは左端の帯だけ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02920" y="641908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帯域分解＝制御前出力のバンドパス分散分解（FY2024-25）。分位点回帰＝価格を被説明変数、風力・太陽光出力等を説明変数とする時間別推定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292840" y="652881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A78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先行研究の調査（1/3）｜全体地図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201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コア41本を6つの系譜で整理 — DOI検証・抽出表・数値チェックまで完了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195560" y="256032"/>
            <a:ext cx="1481328" cy="310896"/>
          </a:xfrm>
          <a:prstGeom prst="roundRect">
            <a:avLst>
              <a:gd name="adj" fmla="val 20588"/>
            </a:avLst>
          </a:prstGeom>
          <a:solidFill>
            <a:srgbClr val="184F95"/>
          </a:solidFill>
          <a:ln/>
        </p:spPr>
      </p:sp>
      <p:sp>
        <p:nvSpPr>
          <p:cNvPr id="5" name="Text 3"/>
          <p:cNvSpPr/>
          <p:nvPr/>
        </p:nvSpPr>
        <p:spPr>
          <a:xfrm>
            <a:off x="10195560" y="256032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文献 1/3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426464"/>
            <a:ext cx="11183112" cy="603504"/>
          </a:xfrm>
          <a:prstGeom prst="roundRect">
            <a:avLst>
              <a:gd name="adj" fmla="val 10606"/>
            </a:avLst>
          </a:prstGeom>
          <a:solidFill>
            <a:srgbClr val="EEF4FB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426464"/>
            <a:ext cx="10698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41本 </a:t>
            </a:r>
            <a:pPr indent="0" marL="0">
              <a:buNone/>
            </a:pPr>
            <a:r>
              <a:rPr lang="en-US" sz="105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（A: 再エネ→ボラ実証 11 ／ B: 蓄電池の価値・均衡 13 ／ C: 日本・JEPX 9 ／ D: 手法 8）　DOI照合・13列統一スキーマの抽出表・引用数値の幻覚チェック済み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286000"/>
            <a:ext cx="3602736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9525">
            <a:solidFill>
              <a:srgbClr val="D5E2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4088" y="2468880"/>
            <a:ext cx="365760" cy="36576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82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</a:t>
            </a:r>
            <a:endParaRPr lang="en-US" sz="1382" dirty="0"/>
          </a:p>
        </p:txBody>
      </p:sp>
      <p:sp>
        <p:nvSpPr>
          <p:cNvPr id="11" name="Text 9"/>
          <p:cNvSpPr/>
          <p:nvPr/>
        </p:nvSpPr>
        <p:spPr>
          <a:xfrm>
            <a:off x="1179576" y="2432304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メリットオーダー効果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22376" y="2980944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再エネは価格水準を下げる。Woo (2011)・Ketterer (2014): 風力+1pp→価格−1.46%。検出水準5〜8%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93108" y="2286000"/>
            <a:ext cx="3602736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9525">
            <a:solidFill>
              <a:srgbClr val="D5E2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94276" y="2468880"/>
            <a:ext cx="365760" cy="36576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5" name="Text 13"/>
          <p:cNvSpPr/>
          <p:nvPr/>
        </p:nvSpPr>
        <p:spPr>
          <a:xfrm>
            <a:off x="4494276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82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</a:t>
            </a:r>
            <a:endParaRPr lang="en-US" sz="1382" dirty="0"/>
          </a:p>
        </p:txBody>
      </p:sp>
      <p:sp>
        <p:nvSpPr>
          <p:cNvPr id="16" name="Text 14"/>
          <p:cNvSpPr/>
          <p:nvPr/>
        </p:nvSpPr>
        <p:spPr>
          <a:xfrm>
            <a:off x="4969764" y="2432304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ボラティリティの非対称性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12564" y="2980944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電源種で符号が異なる。Rintamäki (2017)・Wozabal (2016): PVの分散影響は風力の約12倍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083296" y="2286000"/>
            <a:ext cx="3602736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9525">
            <a:solidFill>
              <a:srgbClr val="D5E2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84464" y="2468880"/>
            <a:ext cx="365760" cy="36576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20" name="Text 18"/>
          <p:cNvSpPr/>
          <p:nvPr/>
        </p:nvSpPr>
        <p:spPr>
          <a:xfrm>
            <a:off x="8284464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82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</a:t>
            </a:r>
            <a:endParaRPr lang="en-US" sz="1382" dirty="0"/>
          </a:p>
        </p:txBody>
      </p:sp>
      <p:sp>
        <p:nvSpPr>
          <p:cNvPr id="21" name="Text 19"/>
          <p:cNvSpPr/>
          <p:nvPr/>
        </p:nvSpPr>
        <p:spPr>
          <a:xfrm>
            <a:off x="8759952" y="2432304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日本・JEPXの実証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02752" y="2980944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Maekawa (2018)・Sakaguchi &amp; Fujii (2021, 北海道風力)・Fuke &amp; Ohashi (2025, 九州の季節性)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" y="4224528"/>
            <a:ext cx="3602736" cy="1783080"/>
          </a:xfrm>
          <a:prstGeom prst="roundRect">
            <a:avLst>
              <a:gd name="adj" fmla="val 3590"/>
            </a:avLst>
          </a:prstGeom>
          <a:solidFill>
            <a:srgbClr val="FDEDE4"/>
          </a:solidFill>
          <a:ln w="9525">
            <a:solidFill>
              <a:srgbClr val="EC835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4088" y="4407408"/>
            <a:ext cx="365760" cy="365760"/>
          </a:xfrm>
          <a:prstGeom prst="ellipse">
            <a:avLst/>
          </a:prstGeom>
          <a:solidFill>
            <a:srgbClr val="EC835A"/>
          </a:solidFill>
          <a:ln/>
        </p:spPr>
      </p:sp>
      <p:sp>
        <p:nvSpPr>
          <p:cNvPr id="25" name="Text 23"/>
          <p:cNvSpPr/>
          <p:nvPr/>
        </p:nvSpPr>
        <p:spPr>
          <a:xfrm>
            <a:off x="704088" y="4407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82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</a:t>
            </a:r>
            <a:endParaRPr lang="en-US" sz="1382" dirty="0"/>
          </a:p>
        </p:txBody>
      </p:sp>
      <p:sp>
        <p:nvSpPr>
          <p:cNvPr id="26" name="Text 24"/>
          <p:cNvSpPr/>
          <p:nvPr/>
        </p:nvSpPr>
        <p:spPr>
          <a:xfrm>
            <a:off x="1179576" y="4370832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蓄電池の価値・カニバリ・均衡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22376" y="4919472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Sioshansi (2009)・Lamp &amp; Samano (2022)・Karaduman (2023)・Butters et al. (2025, Econometrica)・Schmalensee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293108" y="4224528"/>
            <a:ext cx="3602736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9525">
            <a:solidFill>
              <a:srgbClr val="D5E2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94276" y="4407408"/>
            <a:ext cx="365760" cy="36576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30" name="Text 28"/>
          <p:cNvSpPr/>
          <p:nvPr/>
        </p:nvSpPr>
        <p:spPr>
          <a:xfrm>
            <a:off x="4494276" y="4407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82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</a:t>
            </a:r>
            <a:endParaRPr lang="en-US" sz="1382" dirty="0"/>
          </a:p>
        </p:txBody>
      </p:sp>
      <p:sp>
        <p:nvSpPr>
          <p:cNvPr id="31" name="Text 29"/>
          <p:cNvSpPr/>
          <p:nvPr/>
        </p:nvSpPr>
        <p:spPr>
          <a:xfrm>
            <a:off x="4969764" y="4370832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風力の空間平滑化・時間構造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12564" y="4919472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St. Martin (2015)・Malvaldi (2017): 集約で消えるのは高周波のみ。Ohlendorf &amp; Schill (2020): 数日規模の低風力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083296" y="4224528"/>
            <a:ext cx="3602736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9525">
            <a:solidFill>
              <a:srgbClr val="D5E2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84464" y="4407408"/>
            <a:ext cx="365760" cy="36576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35" name="Text 33"/>
          <p:cNvSpPr/>
          <p:nvPr/>
        </p:nvSpPr>
        <p:spPr>
          <a:xfrm>
            <a:off x="8284464" y="4407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82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</a:t>
            </a:r>
            <a:endParaRPr lang="en-US" sz="1382" dirty="0"/>
          </a:p>
        </p:txBody>
      </p:sp>
      <p:sp>
        <p:nvSpPr>
          <p:cNvPr id="36" name="Text 34"/>
          <p:cNvSpPr/>
          <p:nvPr/>
        </p:nvSpPr>
        <p:spPr>
          <a:xfrm>
            <a:off x="8759952" y="4370832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計量手法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302752" y="4919472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HAR系（Corsi 2009・Ciarreta 2017）・打ち切り分位点回帰（0.01円床の処理）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02920" y="641908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系譜D（オレンジ）が本研究の背骨。抽出表の数値はWozabal・Karaduman等を原文突合で確認済み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1292840" y="652881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A78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先行研究の調査（2/3）｜北海道の結果はどう位置づくか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201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追試で接続し（審査上安全）、拡張・新規で差別化する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195560" y="256032"/>
            <a:ext cx="1481328" cy="310896"/>
          </a:xfrm>
          <a:prstGeom prst="roundRect">
            <a:avLst>
              <a:gd name="adj" fmla="val 20588"/>
            </a:avLst>
          </a:prstGeom>
          <a:solidFill>
            <a:srgbClr val="184F95"/>
          </a:solidFill>
          <a:ln/>
        </p:spPr>
      </p:sp>
      <p:sp>
        <p:nvSpPr>
          <p:cNvPr id="5" name="Text 3"/>
          <p:cNvSpPr/>
          <p:nvPr/>
        </p:nvSpPr>
        <p:spPr>
          <a:xfrm>
            <a:off x="10195560" y="256032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文献 2/3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17904"/>
          <a:ext cx="11183112" cy="914400"/>
        </p:xfrm>
        <a:graphic>
          <a:graphicData uri="http://schemas.openxmlformats.org/drawingml/2006/table">
            <a:tbl>
              <a:tblPr/>
              <a:tblGrid>
                <a:gridCol w="4160520"/>
                <a:gridCol w="1143000"/>
                <a:gridCol w="5879592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北海道の観察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F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型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F9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対応する先行研究と位置づけ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F9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床は九州の半分・PF価値は同等（価値源泉が床→スパイクへ）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新規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8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床由来／スパイク由来の価値構成の対照は文献に見当たらない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capture 66-69% → 残余需要予測で77-81%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整合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Butters (2025)「不確実性下は完全予見の約7割」の日本版確認。風力地域は下限側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風力分散の約3/4が1日超の長周期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追試・拡張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F9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St. Martin・Malvaldi「集約で消えるのは高周波のみ」— duration価値の理論上限という読み替えが本研究の視点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風力シェア実測10%超え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拡張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F9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Woo・Ketterer の検出水準に到達。洋上風力後はデンマーク（54%）水準への入口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高分位MOEの再現と減衰（−11.2 → −4〜−7円/kWh/GW）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追試・更新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唯一の直接先行 Sakaguchi &amp; Fujii（FY2016-19・設備半分）を倍増後まで延長。Fuke &amp; Ohashi の高分位効果と同型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市場分断の方向逆転（高値87-92% → 60%）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新規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8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越境効果研究（Applied Economics 2023）が参照点。北本増強・本州側変化の複合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41908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「新規」は現時点の棚卸しに基づく分類 — 投稿前に後方引用の系統的検索で再確認する（レビュー文書に明記）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292840" y="652881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A78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先行研究の調査（3/3）｜ギャップと本研究の位置づけ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201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空白 ＝「北海道 × 風力 × 蓄電池の均衡容量」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195560" y="256032"/>
            <a:ext cx="1481328" cy="310896"/>
          </a:xfrm>
          <a:prstGeom prst="roundRect">
            <a:avLst>
              <a:gd name="adj" fmla="val 20588"/>
            </a:avLst>
          </a:prstGeom>
          <a:solidFill>
            <a:srgbClr val="184F95"/>
          </a:solidFill>
          <a:ln/>
        </p:spPr>
      </p:sp>
      <p:sp>
        <p:nvSpPr>
          <p:cNvPr id="5" name="Text 3"/>
          <p:cNvSpPr/>
          <p:nvPr/>
        </p:nvSpPr>
        <p:spPr>
          <a:xfrm>
            <a:off x="10195560" y="256032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文献 3/3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6035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900"/>
              </a:spcAft>
              <a:buSzPct val="100000"/>
              <a:buChar char="■"/>
            </a:pPr>
            <a:r>
              <a:rPr lang="en-US" sz="1150" b="1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均衡分析（系譜D）はすべて太陽光・海外市場</a:t>
            </a:r>
            <a:endParaRPr lang="en-US" sz="1150" dirty="0"/>
          </a:p>
          <a:p>
            <a:pPr lvl="1" marL="304800" indent="-152400">
              <a:lnSpc>
                <a:spcPct val="122000"/>
              </a:lnSpc>
              <a:spcAft>
                <a:spcPts val="900"/>
              </a:spcAft>
              <a:buSzPct val="100000"/>
              <a:buChar char="–"/>
            </a:pPr>
            <a:r>
              <a:rPr lang="en-US" sz="115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Butters et al. (2025) は CAISO・太陽光。curtailment・duration選択・連系線分断・マルチマーケット収益を「限界」と自ら明記</a:t>
            </a:r>
            <a:endParaRPr lang="en-US" sz="1150" dirty="0"/>
          </a:p>
          <a:p>
            <a:pPr lvl="1" marL="304800" indent="-152400">
              <a:lnSpc>
                <a:spcPct val="122000"/>
              </a:lnSpc>
              <a:spcAft>
                <a:spcPts val="900"/>
              </a:spcAft>
              <a:buSzPct val="100000"/>
              <a:buChar char="–"/>
            </a:pPr>
            <a:r>
              <a:rPr lang="en-US" sz="115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その限界がまさに北海道では一次的に重要（床・帯域分解・北本・容量市場）＝ 本研究の拡張ポイント</a:t>
            </a:r>
            <a:endParaRPr lang="en-US" sz="1150" dirty="0"/>
          </a:p>
          <a:p>
            <a:pPr marL="177800" indent="-177800">
              <a:lnSpc>
                <a:spcPct val="122000"/>
              </a:lnSpc>
              <a:spcAft>
                <a:spcPts val="400"/>
              </a:spcAft>
              <a:buSzPct val="100000"/>
              <a:buChar char="■"/>
            </a:pPr>
            <a:r>
              <a:rPr lang="en-US" sz="1150" b="1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日本の実証（系譜C）は誘導形のみ — 蓄電池を内生化した均衡分析は見当たらない</a:t>
            </a:r>
            <a:endParaRPr lang="en-US" sz="1150" dirty="0"/>
          </a:p>
          <a:p>
            <a:pPr lvl="1" marL="304800" indent="-152400">
              <a:lnSpc>
                <a:spcPct val="122000"/>
              </a:lnSpc>
              <a:spcAft>
                <a:spcPts val="900"/>
              </a:spcAft>
              <a:buSzPct val="100000"/>
              <a:buChar char="–"/>
            </a:pPr>
            <a:r>
              <a:rPr lang="en-US" sz="115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METIの2030年見通し（14.1〜23.8GWh）も接続申込の実現率外挿であり、均衡概念ではない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812280" y="1481328"/>
            <a:ext cx="4873752" cy="4160520"/>
          </a:xfrm>
          <a:prstGeom prst="roundRect">
            <a:avLst>
              <a:gd name="adj" fmla="val 1538"/>
            </a:avLst>
          </a:prstGeom>
          <a:solidFill>
            <a:srgbClr val="EEF4FB"/>
          </a:solidFill>
          <a:ln/>
        </p:spPr>
      </p:sp>
      <p:sp>
        <p:nvSpPr>
          <p:cNvPr id="8" name="Text 6"/>
          <p:cNvSpPr/>
          <p:nvPr/>
        </p:nvSpPr>
        <p:spPr>
          <a:xfrm>
            <a:off x="7059168" y="164592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最類似研究 Fuke &amp; Ohashi (2025) との差別化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59168" y="2103120"/>
            <a:ext cx="443484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5E2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2376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4E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46720" y="2176272"/>
            <a:ext cx="3337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九州・太陽光・季節性
</a:t>
            </a:r>
            <a:pPr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北海道・風力（高分位MOEの追試で接続済み）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059168" y="3273552"/>
            <a:ext cx="443484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5E2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0" y="33649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4E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手法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3346704"/>
            <a:ext cx="3337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誘導形の変動性記述
</a:t>
            </a:r>
            <a:pPr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構造モデル＋自由参入均衡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059168" y="4443984"/>
            <a:ext cx="443484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5E2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0" y="453542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4E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問い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0" y="4517136"/>
            <a:ext cx="3337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変動性はどう変わったか
</a:t>
            </a:r>
            <a:pPr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蓄電池は何GWまでが均衡整合的か（K*）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5669280"/>
            <a:ext cx="11183112" cy="658368"/>
          </a:xfrm>
          <a:prstGeom prst="roundRect">
            <a:avLst>
              <a:gd name="adj" fmla="val 9722"/>
            </a:avLst>
          </a:prstGeom>
          <a:solidFill>
            <a:srgbClr val="FDEDE4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5669280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4E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本研究の空白ポジション：</a:t>
            </a:r>
            <a:pPr indent="0" marL="0">
              <a:buNone/>
            </a:pPr>
            <a:r>
              <a:rPr lang="en-US" sz="120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風力主導エリアの卸市場で、蓄電池の均衡容量を制度（容量市場・LTDA）込みで定量する研究は国内外に見当たらない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292840" y="652881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A78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今後の方針｜実証と文献の帰結として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201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「均衡容量K*」へ — 主張の型を確定し、部品は実測済み、予備試算にも手応え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195560" y="256032"/>
            <a:ext cx="1481328" cy="310896"/>
          </a:xfrm>
          <a:prstGeom prst="roundRect">
            <a:avLst>
              <a:gd name="adj" fmla="val 20588"/>
            </a:avLst>
          </a:prstGeom>
          <a:solidFill>
            <a:srgbClr val="EC835A"/>
          </a:solidFill>
          <a:ln/>
        </p:spPr>
      </p:sp>
      <p:sp>
        <p:nvSpPr>
          <p:cNvPr id="5" name="Text 3"/>
          <p:cNvSpPr/>
          <p:nvPr/>
        </p:nvSpPr>
        <p:spPr>
          <a:xfrm>
            <a:off x="10195560" y="256032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方針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5806440" cy="2377440"/>
          </a:xfrm>
          <a:prstGeom prst="roundRect">
            <a:avLst>
              <a:gd name="adj" fmla="val 2692"/>
            </a:avLst>
          </a:prstGeom>
          <a:solidFill>
            <a:srgbClr val="EEF4FB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59105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主張の型（研究計画v2で確定）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" y="1938528"/>
            <a:ext cx="5349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「必然」は使わない。無裁定・均衡整合性命題2つ:</a:t>
            </a:r>
            <a:endParaRPr lang="en-US" sz="1050" dirty="0"/>
          </a:p>
          <a:p>
            <a:pPr lvl="1" marL="304800" indent="-1524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05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命題1: 現状容量K₀で限界参入者の利潤が非ゼロ → K₀は自由参入均衡でない</a:t>
            </a:r>
            <a:endParaRPr lang="en-US" sz="1050" dirty="0"/>
          </a:p>
          <a:p>
            <a:pPr lvl="1" marL="304800" indent="-152400">
              <a:lnSpc>
                <a:spcPct val="118000"/>
              </a:lnSpc>
              <a:spcAft>
                <a:spcPts val="600"/>
              </a:spcAft>
              <a:buSzPct val="100000"/>
              <a:buChar char="–"/>
            </a:pPr>
            <a:r>
              <a:rPr lang="en-US" sz="105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命題2: 全シナリオで K* ≥ K_min（確率なしの頑健下限コリドー）</a:t>
            </a:r>
            <a:endParaRPr lang="en-US" sz="1050" dirty="0"/>
          </a:p>
          <a:p>
            <a:pPr lvl="1" marL="304800" indent="-152400">
              <a:lnSpc>
                <a:spcPct val="118000"/>
              </a:lnSpc>
              <a:buSzPct val="100000"/>
              <a:buChar char="–"/>
            </a:pPr>
            <a:r>
              <a:rPr lang="en-US" sz="105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二層参入: LTDA・補助＝政策層（外生）／マーチャント層のみゼロ利潤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3977640"/>
            <a:ext cx="5806440" cy="566928"/>
          </a:xfrm>
          <a:prstGeom prst="roundRect">
            <a:avLst>
              <a:gd name="adj" fmla="val 11290"/>
            </a:avLst>
          </a:prstGeom>
          <a:solidFill>
            <a:srgbClr val="184F95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3977640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π_spot(K) ＋ κ(h)·P_cap(K) − c_req ＝ 0　を解いて K*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4681728"/>
            <a:ext cx="5806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部品は実測済み: κ(4h)=73→84%・P_cap=公表需要曲線の閉形式・LTDA道内43.7万kW〜（政策層）</a:t>
            </a:r>
            <a:endParaRPr lang="en-US" sz="10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AFC(4h)=2.5〜3.0万円/kW-年（METI実勢6.8万円/kWh）＋託送等0.69万 → c_req ≈ 3.2〜3.7万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37960" y="1463040"/>
            <a:ext cx="5148072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9525">
            <a:solidFill>
              <a:srgbClr val="D5E2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84848" y="159105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予備試算① 現状の純市場マージンは負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84848" y="1920240"/>
            <a:ext cx="4663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収入 約2.25万（スポット1.0＋容量1.25） ＜ c_req 3.2〜3.7万円/kW-年
</a:t>
            </a:r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B44E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足元の参入ラッシュは政策層駆動の可能性。「頑健下限」でも「政策による過剰参入」でも論文が立つ2枝設計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537960" y="3611880"/>
            <a:ext cx="5148072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D5E2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84848" y="3739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予備試算② 泊3号×DC需要は「ほぼ完全相殺」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84848" y="4114800"/>
          <a:ext cx="46634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9202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84F9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シナリオ（FY2023-25パス）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84F9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PF価値の変化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泊3号再稼働のみ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84F9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＋1,184円/kW-年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DC需要+80万kWのみ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44E2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−797円/kW-年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両方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C83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−11円 ≈ ±0（相殺）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6784848" y="561441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相殺のネットの構造定量化が中心貢献になり得る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02920" y="5989320"/>
            <a:ext cx="11183112" cy="548640"/>
          </a:xfrm>
          <a:prstGeom prst="roundRect">
            <a:avLst>
              <a:gd name="adj" fmla="val 11667"/>
            </a:avLst>
          </a:prstGeom>
          <a:solidFill>
            <a:srgbClr val="0F2D5C"/>
          </a:solidFill>
          <a:ln/>
        </p:spPr>
      </p:sp>
      <p:sp>
        <p:nvSpPr>
          <p:cNvPr id="20" name="Text 17"/>
          <p:cNvSpPr/>
          <p:nvPr/>
        </p:nvSpPr>
        <p:spPr>
          <a:xfrm>
            <a:off x="749808" y="59893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工程：フェーズC（蓄電池フリートを価格過程に内生化 → π(K)曲線 → K*初回推計）→ HVDCワーストセルで主張のgo/no-go → 前提フリーズ（2027/3末）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1292840" y="652881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討議いただきたい点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11183112" cy="1298448"/>
          </a:xfrm>
          <a:prstGeom prst="roundRect">
            <a:avLst>
              <a:gd name="adj" fmla="val 4930"/>
            </a:avLst>
          </a:prstGeom>
          <a:solidFill>
            <a:srgbClr val="1E4478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773936"/>
            <a:ext cx="475488" cy="475488"/>
          </a:xfrm>
          <a:prstGeom prst="ellipse">
            <a:avLst/>
          </a:prstGeom>
          <a:solidFill>
            <a:srgbClr val="EC835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739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97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797" dirty="0"/>
          </a:p>
        </p:txBody>
      </p:sp>
      <p:sp>
        <p:nvSpPr>
          <p:cNvPr id="6" name="Text 4"/>
          <p:cNvSpPr/>
          <p:nvPr/>
        </p:nvSpPr>
        <p:spPr>
          <a:xfrm>
            <a:off x="1463040" y="149961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実証第一弾の切り出し方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463040" y="192024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DE2F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分位点回帰の更新と風力帯域分解を、独立の実証貢献としてどこまで厚く書くか。あるいは構造モデルへの入力推定（マークアップ・打ち切り挙動・capture率）に徹するか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852928"/>
            <a:ext cx="11183112" cy="1298448"/>
          </a:xfrm>
          <a:prstGeom prst="roundRect">
            <a:avLst>
              <a:gd name="adj" fmla="val 4930"/>
            </a:avLst>
          </a:prstGeom>
          <a:solidFill>
            <a:srgbClr val="1E4478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3255264"/>
            <a:ext cx="475488" cy="475488"/>
          </a:xfrm>
          <a:prstGeom prst="ellipse">
            <a:avLst/>
          </a:prstGeom>
          <a:solidFill>
            <a:srgbClr val="EC835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255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97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797" dirty="0"/>
          </a:p>
        </p:txBody>
      </p:sp>
      <p:sp>
        <p:nvSpPr>
          <p:cNvPr id="11" name="Text 9"/>
          <p:cNvSpPr/>
          <p:nvPr/>
        </p:nvSpPr>
        <p:spPr>
          <a:xfrm>
            <a:off x="1463040" y="2980944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主張の2枝の構成方針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463040" y="3401568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DE2F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「頑健下限（K*&gt;K₀）」と「政策による過剰参入（純市場K*&lt;パイプライン）」— go/no-go判定前の現段階で、どちらを軸に論文構成を進めるべきか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4334256"/>
            <a:ext cx="11183112" cy="1298448"/>
          </a:xfrm>
          <a:prstGeom prst="roundRect">
            <a:avLst>
              <a:gd name="adj" fmla="val 4930"/>
            </a:avLst>
          </a:prstGeom>
          <a:solidFill>
            <a:srgbClr val="1E4478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4736592"/>
            <a:ext cx="475488" cy="475488"/>
          </a:xfrm>
          <a:prstGeom prst="ellipse">
            <a:avLst/>
          </a:prstGeom>
          <a:solidFill>
            <a:srgbClr val="EC835A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736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97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797" dirty="0"/>
          </a:p>
        </p:txBody>
      </p:sp>
      <p:sp>
        <p:nvSpPr>
          <p:cNvPr id="16" name="Text 14"/>
          <p:cNvSpPr/>
          <p:nvPr/>
        </p:nvSpPr>
        <p:spPr>
          <a:xfrm>
            <a:off x="1463040" y="446227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最類似研究との差別化書面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463040" y="4882896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DE2F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対象（九州太陽光→北海道風力）・手法（誘導形→構造＋均衡）・問い（変動性→均衡容量K*）の3点整理で、指導体制との擦り合わせに進んでよいか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5943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DE2F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（時間があれば）容量市場の参加区分想定（安定電源1.25万 vs 発動指令0.83万円/kW-年）・WACCの設定方針（PF実務条件ベース）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292840" y="652881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DE2F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2026-08-17T03:04:44Z</dcterms:created>
  <dcterms:modified xsi:type="dcterms:W3CDTF">2026-08-17T03:04:44Z</dcterms:modified>
</cp:coreProperties>
</file>