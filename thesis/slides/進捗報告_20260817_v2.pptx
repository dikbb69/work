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FY2016-19</c:v>
                </c:pt>
              </c:strCache>
            </c:strRef>
          </c:tx>
          <c:spPr>
            <a:solidFill>
              <a:srgbClr val="5DB6E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6871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高値分断</c:v>
                  </c:pt>
                  <c:pt idx="1">
                    <c:v>連系</c:v>
                  </c:pt>
                  <c:pt idx="2">
                    <c:v>安値分断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89.5</c:v>
                </c:pt>
                <c:pt idx="1">
                  <c:v>7.5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FY2023-25</c:v>
                </c:pt>
              </c:strCache>
            </c:strRef>
          </c:tx>
          <c:spPr>
            <a:solidFill>
              <a:srgbClr val="17687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6871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高値分断</c:v>
                  </c:pt>
                  <c:pt idx="1">
                    <c:v>連系</c:v>
                  </c:pt>
                  <c:pt idx="2">
                    <c:v>安値分断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11</c:v>
                </c:pt>
                <c:pt idx="2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76871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capture</c:v>
                </c:pt>
              </c:strCache>
            </c:strRef>
          </c:tx>
          <c:spPr>
            <a:solidFill>
              <a:srgbClr val="17687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6871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68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DB6E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77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9C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完全予見PF</c:v>
                  </c:pt>
                  <c:pt idx="1">
                    <c:v>九州 戦略a</c:v>
                  </c:pt>
                  <c:pt idx="2">
                    <c:v>北海道 戦略a</c:v>
                  </c:pt>
                  <c:pt idx="3">
                    <c:v>北海道 戦略b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78.5</c:v>
                </c:pt>
                <c:pt idx="2">
                  <c:v>67.5</c:v>
                </c:pt>
                <c:pt idx="3">
                  <c:v>79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76871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分散シェア</c:v>
                </c:pt>
              </c:strCache>
            </c:strRef>
          </c:tx>
          <c:spPr>
            <a:solidFill>
              <a:srgbClr val="C3D60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6871"/>
                    </a:solidFill>
                    <a:latin typeface="Noto Sans JP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3D6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0B4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7687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日内（&lt;24h）</c:v>
                  </c:pt>
                  <c:pt idx="1">
                    <c:v>1〜7日</c:v>
                  </c:pt>
                  <c:pt idx="2">
                    <c:v>7日超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25.7</c:v>
                </c:pt>
                <c:pt idx="1">
                  <c:v>35.7</c:v>
                </c:pt>
                <c:pt idx="2">
                  <c:v>38.6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76871"/>
                  </a:solidFill>
                  <a:latin typeface="Noto Sans JP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修士論文　進捗報告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3310128"/>
            <a:ext cx="1737360" cy="54864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松葉 大希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2026.08.17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北海道の初期実証と先行研究の整理 — 均衡容量K*へ向けた今後の方針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現在の課題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7840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前回までの発表内容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テーマ: JEPXスポット市場における蓄電池のオプション価値算定。前日10時の一括約定（48コマ同時決定）という情報構造をどう扱うかが論点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九州10年半（FY2016〜26）の実績で、完全予見ベースの価値算定＋価値減少の要因分解を実施。対象を北海道×風力へ転換する方針を宣言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5146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前回からの進捗（本日の報告範囲）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10881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北海道の初期実証: 需給実績×価格の10年パネルを構築し、九州の分析一式を移植＋風力向けに拡張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先行研究の体系的整理: コア41本（DOI検証・PDF収集・抽出表・数値チェック済み）を6系譜で整理し、本結果と対応づけ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均衡推定の部品の実測: 容量市場（調整係数・需要曲線）・LTDA約定・蓄電池資本費（METI実勢価格）を一次資料で確定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5312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44348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本日の発表の位置づけ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8006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実証と文献の両面から「北海道×風力×蓄電池の均衡容量」という空白を確認し、主張の型（無裁定・均衡整合性命題）と今後の工程について討議いただく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今後: 蓄電池フリートを価格過程に内生化 → π(K)曲線 → 均衡容量K*の初回推計へ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北海道の初期実証（1/4）データ基盤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需給実績×価格の10年パネルを自前構築し、外部情報との突合（検証アンカー）で品質を確認した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2801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構築したデータ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北海道・東北の需給実績（TSO公表・新旧様式を統合）＋JEPXエリアプライス: 2016/4〜2026/6・約9万時間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FIT/FIP認定量（B表45四半期分）から太陽光・風力の導入量系列を構築 → 設備利用率（cf）過程を抽出</a:t>
            </a:r>
            <a:endParaRPr lang="en-US" sz="125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5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北海道の現在地: 太陽光234万kW（2025/3末）・風力130万kW（2024年末、直近2年で倍増）・風力/需要比は全国最大級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246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検証アンカー（外部情報との突合）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108960"/>
                <a:gridCol w="3749040"/>
                <a:gridCol w="1399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検証項目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パネル側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外部情報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判定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出力制御の初発生日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北海道 2022/5/8・東北 2022/4/10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各TSO公表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一致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2018/9 価格欠測480時間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9/6〜9/26に欠測集中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胆振東部地震ブラックアウト（史実）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整合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風力導入量（2016/23/24年末）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32.0 / 86.4 / 130.0万kW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JWPA: 36 / 83 / 128万kW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整合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太陽光導入量（2025/3末）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234.3万kW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系統WG 接続量 236万kW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整合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北海道電力NW・東北電力NW 需給実績、JEPX、FIT/FIP情報公表用ウェブサイト、JWPA、次世代電力系統WG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北海道の初期実証（2/4）価格構造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床コマは九州の約半分だが、裁定価値は九州並み — 価値の源泉が「昼の床」から「夕方スパイク」に交代している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床コマ（0.01円/kWh）は年473コマ ＝ 九州の約半分。ダックカーブは形成途上（昼の窪みが浅い）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完全予見4h裁定価値（PF）は0.96〜1.15万円/kW-年で九州と同水準</a:t>
            </a:r>
            <a:endParaRPr lang="en-US" sz="1200" dirty="0"/>
          </a:p>
          <a:p>
            <a:pPr lvl="1" marL="254000" indent="-1270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九州: 昼の床（安値側）が源泉 ／ 北海道: 夕方スパイク（高値側）が源泉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市場分断の方向が逆転しつつある（右図）</a:t>
            </a:r>
            <a:endParaRPr lang="en-US" sz="1200" dirty="0"/>
          </a:p>
          <a:p>
            <a:pPr lvl="1" marL="254000" indent="-1270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高値分断（道内＞本州）87〜92% → 約60%。安値分断が1〜5% → 約30%に拡大</a:t>
            </a:r>
            <a:endParaRPr lang="en-US" sz="1200" dirty="0"/>
          </a:p>
          <a:p>
            <a:pPr lvl="1" marL="254000" indent="-1270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余剰の輸出制約（北本連系線）の顕在化。連系線と蓄電池は同じスプレッドを食い合う競合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6035040" cy="1005840"/>
          </a:xfrm>
          <a:prstGeom prst="rect">
            <a:avLst/>
          </a:prstGeom>
          <a:solidFill>
            <a:srgbClr val="F0F6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02920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768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含意: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北海道は「九州の後追い」ではない。風力・スパイク・分断という別の構造 — 九州の枠組みをそのまま当てはめられない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49440" y="134416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10" name="Text 8"/>
          <p:cNvSpPr/>
          <p:nvPr/>
        </p:nvSpPr>
        <p:spPr>
          <a:xfrm>
            <a:off x="7077456" y="1325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市場分断の方向転換（コマ構成比・%）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949440" y="178308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949440" y="5806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システムプライス±0.01円で判定。グラフデータは別添Excel「分断方向転換」シートで編集可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床コマ・分断はエリアプライス30分値から集計。PF価値＝完全予見・4時間・往復効率0.85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北海道の初期実証（3/4）予見可能性と運用戦略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北海道の裁定価値は「取りにくい」— 実行可能戦略の捕捉率は九州より約10pt低く、予測技術の価値が大きい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126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実行可能戦略のcapture率（完全予見比・60分粒度）</a:t>
            </a:r>
            <a:endParaRPr lang="en-US" sz="1200" dirty="0"/>
          </a:p>
          <a:p>
            <a:pPr lvl="1" marL="254000" indent="-1270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戦略a（過去N日の価格ランクで充放電枠を固定）: 66〜69% — 九州の同戦略は77〜80%</a:t>
            </a:r>
            <a:endParaRPr lang="en-US" sz="1200" dirty="0"/>
          </a:p>
          <a:p>
            <a:pPr lvl="1" marL="254000" indent="-1270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戦略b（前日の残余需要予測で並べ替え）: 77〜81%まで回復</a:t>
            </a:r>
            <a:endParaRPr lang="en-US" sz="1200" dirty="0"/>
          </a:p>
          <a:p>
            <a:pPr lvl="1" marL="254000" indent="-1270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戦略b′（風力の持続性シグナルを追加）: 改善なし — 日次配置では風力予報の付加価値が出ない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厳密DP解との比較: 空SoC起点で順序実行不能の日が約25%あるが、年間価値の差は−0.3〜−1.7%（ランク法は頑健）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太陽光主導（形が毎日似る）の九州と違い、風力主導の価格形状は日次の再現性が低い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0" y="134416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8" name="Text 6"/>
          <p:cNvSpPr/>
          <p:nvPr/>
        </p:nvSpPr>
        <p:spPr>
          <a:xfrm>
            <a:off x="7077456" y="1325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capture率（完全予見PF＝100%）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949440" y="178308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949440" y="5806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棒は各年度レンジの中央値（a: 66-69% / b: 77-81% / 九州a: 77-80%）。別添Excel「capture率」シートで編集可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capture率＝実行可能戦略の粗利÷完全予見の粗利（年度別）。DP＝SoC制約下の厳密最適（充放電順序を保証）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北海道の初期実証（4/4）風力の構造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風力変動の約3/4は「数日〜週」の長周期 — 4h蓄電池の日次シフトでは吸収できない帯域に分散が集中する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126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700"/>
              </a:spcAft>
              <a:buSzPct val="100000"/>
              <a:buChar char="■"/>
            </a:pPr>
            <a:r>
              <a:rPr lang="en-US" sz="115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風力（フリート集約出力）の分散の帯域分解</a:t>
            </a:r>
            <a:endParaRPr lang="en-US" sz="1150" dirty="0"/>
          </a:p>
          <a:p>
            <a:pPr lvl="1" marL="254000" indent="-127000">
              <a:lnSpc>
                <a:spcPct val="1200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日内（24h未満）約25% ／ 1〜7日帯 35.7% ＋ 7日超帯 38.6% ＝ 約3/4が長周期</a:t>
            </a:r>
            <a:endParaRPr lang="en-US" sz="1150" dirty="0"/>
          </a:p>
          <a:p>
            <a:pPr lvl="1" marL="254000" indent="-127000">
              <a:lnSpc>
                <a:spcPct val="1200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太陽光（6-24h帯中心）と対照的 → 蓄電池のduration価値・貯蔵技術選択に直結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風力の電力量シェアは実測10.2〜10.3%（FY2024-25）</a:t>
            </a:r>
            <a:endParaRPr lang="en-US" sz="1150" dirty="0"/>
          </a:p>
          <a:p>
            <a:pPr lvl="1" marL="254000" indent="-127000">
              <a:lnSpc>
                <a:spcPct val="1200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先行研究がMOEを検出した水準（Woo 5-8%・Ketterer 6-8%）を既に超過</a:t>
            </a:r>
            <a:endParaRPr lang="en-US" sz="115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15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分位点回帰（Sakaguchi &amp; Fujii 2021の再現・延長）</a:t>
            </a:r>
            <a:endParaRPr lang="en-US" sz="1150" dirty="0"/>
          </a:p>
          <a:p>
            <a:pPr lvl="1" marL="254000" indent="-127000">
              <a:lnSpc>
                <a:spcPct val="1200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高分位ほど強い風力MOE: τ0.9で−11.2円/kWh/GW（FY2016-19）→ FY2023-25は−4〜−7円に減衰</a:t>
            </a:r>
            <a:endParaRPr lang="en-US" sz="1150" dirty="0"/>
          </a:p>
          <a:p>
            <a:pPr lvl="1" marL="254000" indent="-127000">
              <a:lnSpc>
                <a:spcPct val="1200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減衰は連系線増強・市場統合と整合 ＝ 分断逆転（実証2）と表裏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49440" y="134416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8" name="Text 6"/>
          <p:cNvSpPr/>
          <p:nvPr/>
        </p:nvSpPr>
        <p:spPr>
          <a:xfrm>
            <a:off x="7077456" y="1325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風力変動の帯域分解（分散シェア・%）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949440" y="1783080"/>
          <a:ext cx="4663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949440" y="5486400"/>
            <a:ext cx="4663440" cy="457200"/>
          </a:xfrm>
          <a:prstGeom prst="rect">
            <a:avLst/>
          </a:prstGeom>
          <a:solidFill>
            <a:srgbClr val="F0F6FB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5486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6871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4h蓄電池が主に食えるのは左端の帯だけ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帯域分解＝制御前出力のバンドパス分散分解（FY2024-25）。別添Excel「帯域分解」シートで編集可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先行研究の調査（1/8）設計と全体地図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コア41本を4セット・6系譜で体系化 — DOI検証からPDF収集・統一スキーマ抽出・数値チェックまで完了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4416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3258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調査プロセス（完了済み）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選定 → Crossref照合でDOI41本を検証 → PDF収集（41/41）→ 13列統一スキーマの抽出表 → 引用数値の幻覚チェック（Wozabal・Karaduman等は原文突合で完全一致を確認）</a:t>
            </a:r>
            <a:endParaRPr lang="en-US" sz="1200" dirty="0"/>
          </a:p>
          <a:p>
            <a:pPr lvl="1" marL="254000" indent="-1270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残タスク: コア5本の個別精読（BDG均衡条件の式・Fuke &amp; Ohashi差別化7問 等）・系統的ギャップ検索・BibTeX化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9260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6つの系譜（→ 各論は次頁以降）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80360"/>
                <a:gridCol w="3291840"/>
                <a:gridCol w="25420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系譜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内容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代表論文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本研究での役割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 再エネ→価格・ボラ実証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MOE・分散への影響（11本）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Woo 2011・Ketterer 2014・Wozabal 2016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検出水準・非対称性のアンカー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 蓄電池の経済学・均衡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裁定価値・カニバリ・均衡（13本）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Butters 2025・Karaduman・Schmalensee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均衡枠組みの背骨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 日本・JEPX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国内実証（9本）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Fuke &amp; Ohashi 2025・Sakaguchi &amp; Fujii 2021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接続先・差別化の基準点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 手法・投資評価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HAR・予測・censoring・実物オプション（8本）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Corsi 2009・Fanone 2013・Leahy/Grenadier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計量・評価の道具箱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E 風力の時間構造（追加候補）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空間平滑化・帯域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St. Martin 2015・Ohlendorf &amp; Schill 2020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帯域分解の解釈（41本外・整理中）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セット構成: A11＋B13＋C9＋D8＝41本。系譜EはB表・帯域分解の作業に伴い related-work-review で別途整理中（コア集合への追加候補）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先行研究の調査（2/8）系譜A: 再エネは価格に何をするか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水準は下げ（MOE）、分散への効果は電源種・市場で符号が異なる — 「風力と太陽光は別物」が実証の相場観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91640"/>
                <a:gridCol w="4206240"/>
                <a:gridCol w="254203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論文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市場・手法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主要な結果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北海道への含意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Woo et al. (2011) Energy Policy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ERCOT・回帰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風力は価格水準を下げ、分散を高める（シェア5-8%で検出）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検出水準の目安①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Ketterer (2014) Energy Econ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ドイツ・GARCH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風力シェア+1pp → 価格−1.46%。ボラティリティは増加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検出水準の目安②・GARCH系の代表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Rintamäki et al. (2017) Energy Econ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デンマーク/ドイツ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同じ風力でも市場で符号が逆（デンマーク日次ボラ減・ドイツ日中ボラ増）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「市場構造依存」の根拠 → 構造モデルの動機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Wozabal et al. (2016) OR Spectrum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ドイツ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同一導入量あたりの分散影響はPVが風力の約12倍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電源種の非対称性（原文突合済み）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Schöniger &amp; Morawetz (2022) Energy Econ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欧州複数国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変動再エネが必ずしも分散を増やさない（What comes down must go up）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「風力増＝ボラ増」と単純化しない根拠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Maciejowska (2020) Energy Econ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ドイツ・分位点回帰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水準・変動性への影響を分位別に分解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h7分位点回帰の手法アンカー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ほか: Kyritsis 2017（ドイツ・太陽光vs風力）・Paraschiv 2014（EEX時間別）・Hagfors 2016（極値価格）・Mwampashi 2021（豪州風力）・Navia Simon &amp; Diaz Anadon 2025（Nature Energy・再エネの保険価値）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先行研究の調査（3/8）系譜C: 日本・JEPXの実証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国内は誘導形の価格実証が蓄積 — 蓄電池を内生化した均衡分析は見当たらない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600200"/>
                <a:gridCol w="3977640"/>
                <a:gridCol w="272491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論文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対象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主要な結果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本研究との関係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Fuke &amp; Ohashi (2025) J. Commodity Markets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九州・太陽光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太陽光の価格水準・変動性への影響に季節性（春夏は変動性低下・秋冬は低下せず）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7687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最類似・最重要。高分位効果を北海道×風力で追試済み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Sakaguchi &amp; Fujii (2021) Front. Sustain.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北海道・東北 FY2016-19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風力MOEを北海道で検出（当時の設備は現在の半分）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唯一の直接先行 → 倍増後のFY2023-25まで延長・更新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Maekawa et al. (2018) Energies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JEPX全体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再エネMOEの国内最初期の実証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出発点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Kanamura &amp; Bunn (2022) Energy Econ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JEPX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マーケットメイキングと価格形成（流動性の構造）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床・分断の市場微細構造の参照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Rassi &amp; Kanamura (2023) Energy Policy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JEPX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スパイク形成とLNG価格・グロスビディング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供給曲線上側の非定常性（燃料連動）の参照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Ma et al. (2023) Applied Economics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日本・エリア間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再エネの越境効果（エリア間の価格波及）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北本分断・2ノード設計の参照点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Li et al. (2024) Energy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日本・PV浸透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長時間貯蔵（LDES）の価値をシステムモデルで評価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duration論点の国内参照</a:t>
                      </a:r>
                      <a:endParaRPr lang="en-US" sz="92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ほか: Ikeda (2019・JEPX流動性)・Li et al. (2025・2021年1月スパイク事件の再検証)。METIの2030年見通し（14.1〜23.8GWh）は接続申込の実現率外挿であり均衡概念ではない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先行研究の調査（4/8）系譜B前半: 蓄電池の価値とカニバリゼーション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「参入が価値を食う」は世界共通の実証 — ただし対象はすべて太陽光系市場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371600"/>
                <a:gridCol w="4206240"/>
                <a:gridCol w="2633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論文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市場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主要な結果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本研究との関係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Sioshansi et al. (2009) Energy Econ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PJM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裁定価値評価の古典。貯蔵の増加は自らの裁定原資を侵食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カニバリゼーションの原点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Sioshansi (2010) Energy Journal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理論/PJM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厚生効果は所有構造に依存（発電事業者保有は歪み得る）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厚生分析を主張から切り離す根拠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Lamont (2013) IEEE Trans. Power Syst.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理論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大規模貯蔵の限界価値と最適構成の解析枠組み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π(K)逓減の理論形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Lamp &amp; Samano (2022) Energy Econ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CAISO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蓄電池導入がスプレッドを実測で縮小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九州の揚水先行圧縮（#6）と同型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Zhao et al. (2022) Applied Energy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CAISO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戦略的な蓄電池投資のシミュレーション評価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参入シミュレーションの参照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Mercier et al. (2023) Energy Econ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欧州横断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DA市場の裁定価値を国際比較（市場設計で大差）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エリア別価値比較の参照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補助線: Hirth (2013)・Brown &amp; Reichenberg (2021)＝再エネ自身の市場価値低下（カニバリの再エネ側）／López Prol &amp; Schill (2021)＝変動再エネ×貯蔵経済学のレビュー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先行研究の調査（5/8）系譜B後半: 均衡分析のコア4本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均衡枠組みは輸入可能 — ただし全て太陽光・海外市場で、北海道で一次的な論点が「限界」として残されている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325880"/>
                <a:gridCol w="3977640"/>
                <a:gridCol w="3090672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論文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市場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枠組みと主要な結果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本研究が引き継ぐ点／拡張する点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Butters, Dorsey &amp; Gowrisankaran (2025) Econometrica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CAISO・太陽光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自由参入均衡で蓄電池投資を内生化。再エネ50%下で2024年に無補助損益分岐。不確実性下の価値は完全予見の約7割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687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枠組みの本体。curtailment・duration選択・連系線・マルチマーケットを「限界」と自ら明記 → 北海道で全て一次的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Karaduman (WP, MIT/Stanford)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豪州NEM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価格インパクトを無視すると蓄電池収益を約2倍過大評価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π(K)内生化（fleet feedback）の必然性の根拠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Schmalensee (2022) Energy Journal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理論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競争的貯蔵とダックカーブ。価格上限なしなら競争均衡＝システム費用最小化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PyPSA型クロスチェックの均衡解釈を与える命題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Andrés-Cerezo &amp; Fabra (2023) RAND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スペイン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貯蔵の価値・厚生は市場構造（支配力）に依存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競争的参入の仮定の限界を明示する参照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566928"/>
          </a:xfrm>
          <a:prstGeom prst="rect">
            <a:avLst/>
          </a:prstGeom>
          <a:solidFill>
            <a:srgbClr val="F0F6F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8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読み方: 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BDGの「限界5点」（curtailment／duration固定／連系線・分断／0.01円床／マルチマーケット収益）は、北海道ではどれも一次的に重要 — ここが拡張の主戦場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先行研究の調査（6/8）系譜D: 手法・投資評価の道具箱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計量・評価の部品はすべて棚にある — Leahy/Grenadierが「均衡×リアルオプション」の橋になる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325880"/>
                <a:gridCol w="3703320"/>
                <a:gridCol w="318211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論文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道具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内容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論文のどこで使うか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Corsi (2009) J. Fin. Econometrics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HAR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実現ボラティリティの長期記憶近似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第1部: 価格・ボラの計量（HAR-CV-JV-Xに拡張）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Weron (2014)・Lago et al. (2021)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価格予測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電力価格予測のSOTAレビュー・ベンチマーク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capture率の予測則設計・上界とのギャップ評価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Fanone et al. (2013) Energy Econ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負値価格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負のDA価格の日次モデル化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JEPXは0.01円床 → 打ち切り（Tobit・打ち切り分位点）への翻訳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Jiang &amp; Powell (2015) INFORMS JoC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ADP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蓄電池の時間先行入札の近似動的計画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運用の上界・実装の参照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Shin &amp; Lee (2024) Energies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LSMC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最小二乗モンテカルロで蓄電池投資評価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前回までのオプション価値算定の系譜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Leahy (1993) QJE・Grenadier (2002) RFS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実物オプション均衡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競争均衡下では近視眼的（ゼロNPV）参入が最適／競争が待機オプション価値を侵食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687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「ゼロ利潤K*」とリアルオプションの理論接続 — 審査対策の要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使い分け: 第1部（実証）＝A系の手法＋D系の計量／第2部（均衡）＝B系の枠組み＋D系の投資評価。全部品が既存文献でカバーされ、新規性は「組み合わせる対象」（北海道×風力×制度）に集中する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先行研究の調査（7/8）北海道の結果はどう位置づくか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追試で接続し（審査上安全）、拡張・新規で差別化する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143000"/>
                <a:gridCol w="583387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北海道の観察（本日の実証1〜4）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型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対応する先行研究と位置づけ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床は九州の半分・PF価値は同等（価値源泉が床→スパイクへ）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新規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7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床由来／スパイク由来の価値構成の対照は文献に見当たらない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capture 66-69% → 残余需要予測で77-81%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整合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Butters (2025)「不確実性下は完全予見の約7割」の日本版確認。風力地域は下限側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風力分散の約3/4が1日超の長周期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追試・拡張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8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St. Martin・Malvaldi「集約で消えるのは高周波のみ」→ duration価値の理論上限という読み替えが本研究の視点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風力シェア実測10%超え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拡張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8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Woo・Kettererの検出水準に到達。洋上風力後はデンマーク（54%）水準への入口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高分位MOEの再現と減衰（−11.2 → −4〜−7円/kWh/GW）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追試・更新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Sakaguchi &amp; Fujii（FY2016-19・設備半分）を倍増後まで延長。Fuke &amp; Ohashiの高分位効果と同型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市場分断の方向逆転（高値87-92% → 60%）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新規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77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越境効果研究（Ma et al. 2023）が参照点。北本増強・本州側変化の複合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「新規」は現時点の棚卸しに基づく分類 — 投稿前に後方引用の系統的検索で再確認する（レビュー文書に明記）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先行研究の調査（8/8）ギャップと本研究の位置づけ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空白 ＝「北海道 × 風力 × 蓄電池の均衡容量」— 制度（容量市場・LTDA）込みの定量研究は国内外に見当たらない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035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均衡分析（系譜B）はすべて太陽光・海外市場</a:t>
            </a:r>
            <a:endParaRPr lang="en-US" sz="1200" dirty="0"/>
          </a:p>
          <a:p>
            <a:pPr lvl="1" marL="254000" indent="-1270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BDGの限界5点（curtailment・duration・連系線・床・マルチマーケット）が北海道では一次的 ＝ 拡張の主戦場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日本の実証（系譜C）は誘導形のみ — 蓄電池を内生化した均衡分析はない</a:t>
            </a:r>
            <a:endParaRPr lang="en-US" sz="1200" dirty="0"/>
          </a:p>
          <a:p>
            <a:pPr marL="152400" indent="-152400">
              <a:lnSpc>
                <a:spcPct val="120000"/>
              </a:lnSpc>
              <a:spcAft>
                <a:spcPts val="400"/>
              </a:spcAft>
              <a:buSzPct val="100000"/>
              <a:buChar char="■"/>
            </a:pPr>
            <a:r>
              <a:rPr lang="en-US" sz="1200" b="1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実証面の空白: 風力「主導」市場の価格構造・貯蔵価値の実証も手薄（欧州は連系が強く、豪州は太陽光と混合）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34416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8" name="Text 6"/>
          <p:cNvSpPr/>
          <p:nvPr/>
        </p:nvSpPr>
        <p:spPr>
          <a:xfrm>
            <a:off x="7031736" y="1325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最類似 Fuke &amp; Ohashi (2025) との差別化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737360"/>
          <a:ext cx="47365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22677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軸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Fuke &amp; Ohashi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本研究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対象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九州・太陽光・季節性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北海道・風力（高分位MOEの追試で接続済み）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手法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誘導形の変動性記述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構造モデル＋自由参入均衡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問い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変動性はどう変わったか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蓄電池は何GWまでが均衡整合的か（K*）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709160"/>
            <a:ext cx="11091672" cy="1234440"/>
          </a:xfrm>
          <a:prstGeom prst="rect">
            <a:avLst/>
          </a:prstGeom>
          <a:solidFill>
            <a:srgbClr val="F0F6F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70916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768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接続と差別化の作法: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①追試（S&amp;Fの分位点回帰・Buttersのcapture水準）で信頼を作る → ②Butters限界5点＋風力の長周期という「対象の性質」で新規性を主張 → ③均衡容量K*という「問い」で決定的に分ける。差別化3点の書面化 → 指導体制との擦り合わせが次の対人アクション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今後の方針 — 均衡容量K*へ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38328" y="62179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主張の型（無裁定・均衡整合性命題）を確定し、均衡条件の部品は実測済み。予備試算も方針を支持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2801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主張の型（研究計画v2）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「必然」は使わない。命題1: 現状容量K₀で限界参入者の利潤が非ゼロ → K₀は自由参入均衡でない ／ 命題2: 全シナリオで K* ≥ K_min（確率なしの頑健下限コリドー）</a:t>
            </a:r>
            <a:endParaRPr lang="en-US" sz="1150" dirty="0"/>
          </a:p>
          <a:p>
            <a:pPr lvl="1" marL="254000" indent="-127000">
              <a:lnSpc>
                <a:spcPct val="120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二層参入: LTDA・補助＝政策層（外生）／マーチャント層のみゼロ利潤。主結果は純市場ケース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989320" cy="5029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43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π_spot(K) ＋ κ(h)·P_cap(K) − c_req ＝ 0　→ K*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5989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κ(4h)＝73→84%（公表調整係数）・P_cap＝公表需要曲線の閉形式・LTDA道内43.7万kW〜（政策層）</a:t>
            </a:r>
            <a:endParaRPr lang="en-US" sz="1100" dirty="0"/>
          </a:p>
          <a:p>
            <a:pPr marL="152400" indent="-152400">
              <a:lnSpc>
                <a:spcPct val="120000"/>
              </a:lnSpc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AFC(4h)＝2.5〜3.0万円/kW-年（METI実勢6.8万円/kWh）＋託送等0.69万 → c_req≈3.2〜3.7万円/kW-年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276148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13" name="Text 11"/>
          <p:cNvSpPr/>
          <p:nvPr/>
        </p:nvSpPr>
        <p:spPr>
          <a:xfrm>
            <a:off x="6894576" y="2743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予備試算（価格過程モデルv1）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3154680"/>
          <a:ext cx="487375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18211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試算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結果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C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① 現状の純市場マージン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収入約2.25万 ＜ c_req 3.2〜3.7万円/kW-年 → 足元の参入は政策層駆動の可能性（2枝設計で対応）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② 泊3号のみ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PF価値 ＋1,184円/kW-年（床6倍・充電コスト≈0）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③ DC需要+80万kWのみ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−797円/kW-年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④ 泊＋DC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687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−11円 ≈ ±0 — ほぼ完全相殺。相殺ネットの定量化が中心貢献候補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806440"/>
            <a:ext cx="11091672" cy="566928"/>
          </a:xfrm>
          <a:prstGeom prst="rect">
            <a:avLst/>
          </a:prstGeom>
          <a:solidFill>
            <a:srgbClr val="F0F6FB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871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工程: フェーズC（蓄電池フリートを価格過程に内生化 → π(K)曲線 → K*初回推計）→ HVDCワーストセルで主張のgo/no-go → 前提フリーズ（2027/3末）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67160" y="635508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38328" y="219456"/>
            <a:ext cx="1152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討議いただきたい点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38328" y="603504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8988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3716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① 実証第一弾の切り出し方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2376" y="17373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分位点回帰の更新と風力帯域分解を、独立の実証貢献としてどこまで厚く書くか。あるいは構造モデルへの入力推定（マークアップ・打ち切り挙動・capture率）に徹するか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743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② 主張の2枝の構成方針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" y="31089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「頑健下限（K*&gt;K₀）」と「政策による過剰参入（純市場K*&lt;パイプライン）」— go/no-go判定前の現段階で、どちらを軸に論文構成を進めるべきか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33088"/>
            <a:ext cx="45720" cy="274320"/>
          </a:xfrm>
          <a:prstGeom prst="rect">
            <a:avLst/>
          </a:prstGeom>
          <a:solidFill>
            <a:srgbClr val="0079C2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41148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JP SemiBold" pitchFamily="34" charset="0"/>
                <a:ea typeface="Noto Sans JP SemiBold" pitchFamily="34" charset="-122"/>
                <a:cs typeface="Noto Sans JP SemiBold" pitchFamily="34" charset="-120"/>
              </a:rPr>
              <a:t>③ 最類似研究との差別化書面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" y="44805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対象（九州太陽光→北海道風力）・手法（誘導形→構造＋均衡）・問い（変動性→均衡容量K*）の3点整理で、指導体制との擦り合わせに進んでよいか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11091672" cy="658368"/>
          </a:xfrm>
          <a:prstGeom prst="rect">
            <a:avLst/>
          </a:prstGeom>
          <a:solidFill>
            <a:srgbClr val="F0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（時間があれば）容量市場の参加区分想定（安定電源1.25万 vs 発動指令0.83万円/kW-年）・WACCの設定方針（プロジェクトファイナンス実務条件ベース）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2026-08-17T03:14:46Z</dcterms:created>
  <dcterms:modified xsi:type="dcterms:W3CDTF">2026-08-17T03:14:46Z</dcterms:modified>
</cp:coreProperties>
</file>