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風力大の日</c:v>
                </c:pt>
              </c:strCache>
            </c:strRef>
          </c:tx>
          <c:spPr>
            <a:solidFill>
              <a:srgbClr val="D95B20"/>
            </a:solidFill>
            <a:ln w="28575" cap="flat">
              <a:solidFill>
                <a:srgbClr val="D95B20"/>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D95B20"/>
              </a:solidFill>
              <a:ln w="9525" cap="flat">
                <a:solidFill>
                  <a:srgbClr val="D95B20"/>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11.31</c:v>
                </c:pt>
                <c:pt idx="1">
                  <c:v>10.5</c:v>
                </c:pt>
                <c:pt idx="2">
                  <c:v>10.68</c:v>
                </c:pt>
                <c:pt idx="3">
                  <c:v>11.04</c:v>
                </c:pt>
                <c:pt idx="4">
                  <c:v>11.05</c:v>
                </c:pt>
                <c:pt idx="5">
                  <c:v>10.31</c:v>
                </c:pt>
                <c:pt idx="6">
                  <c:v>9.62</c:v>
                </c:pt>
                <c:pt idx="7">
                  <c:v>8.98</c:v>
                </c:pt>
                <c:pt idx="8">
                  <c:v>9.7</c:v>
                </c:pt>
                <c:pt idx="9">
                  <c:v>9.71</c:v>
                </c:pt>
                <c:pt idx="10">
                  <c:v>8.6</c:v>
                </c:pt>
                <c:pt idx="11">
                  <c:v>8.63</c:v>
                </c:pt>
                <c:pt idx="12">
                  <c:v>8.1</c:v>
                </c:pt>
                <c:pt idx="13">
                  <c:v>10.37</c:v>
                </c:pt>
                <c:pt idx="14">
                  <c:v>12.05</c:v>
                </c:pt>
                <c:pt idx="15">
                  <c:v>13.6</c:v>
                </c:pt>
                <c:pt idx="16">
                  <c:v>16.32</c:v>
                </c:pt>
                <c:pt idx="17">
                  <c:v>17.38</c:v>
                </c:pt>
                <c:pt idx="18">
                  <c:v>18.49</c:v>
                </c:pt>
                <c:pt idx="19">
                  <c:v>18.03</c:v>
                </c:pt>
                <c:pt idx="20">
                  <c:v>16.63</c:v>
                </c:pt>
                <c:pt idx="21">
                  <c:v>14.4</c:v>
                </c:pt>
                <c:pt idx="22">
                  <c:v>12.88</c:v>
                </c:pt>
                <c:pt idx="23">
                  <c:v>11.85</c:v>
                </c:pt>
              </c:numCache>
            </c:numRef>
          </c:val>
          <c:smooth val="0"/>
        </c:ser>
        <c:ser>
          <c:idx val="1"/>
          <c:order val="1"/>
          <c:tx>
            <c:strRef>
              <c:f>Sheet1!$C$1</c:f>
              <c:strCache>
                <c:ptCount val="1"/>
                <c:pt idx="0">
                  <c:v>風力小の日</c:v>
                </c:pt>
              </c:strCache>
            </c:strRef>
          </c:tx>
          <c:spPr>
            <a:solidFill>
              <a:srgbClr val="0079C2"/>
            </a:solidFill>
            <a:ln w="28575" cap="flat">
              <a:solidFill>
                <a:srgbClr val="0079C2"/>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0079C2"/>
              </a:solidFill>
              <a:ln w="9525" cap="flat">
                <a:solidFill>
                  <a:srgbClr val="0079C2"/>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12.33</c:v>
                </c:pt>
                <c:pt idx="1">
                  <c:v>11.34</c:v>
                </c:pt>
                <c:pt idx="2">
                  <c:v>11.37</c:v>
                </c:pt>
                <c:pt idx="3">
                  <c:v>11.84</c:v>
                </c:pt>
                <c:pt idx="4">
                  <c:v>12.1</c:v>
                </c:pt>
                <c:pt idx="5">
                  <c:v>11.41</c:v>
                </c:pt>
                <c:pt idx="6">
                  <c:v>10.83</c:v>
                </c:pt>
                <c:pt idx="7">
                  <c:v>10.01</c:v>
                </c:pt>
                <c:pt idx="8">
                  <c:v>10.59</c:v>
                </c:pt>
                <c:pt idx="9">
                  <c:v>10.41</c:v>
                </c:pt>
                <c:pt idx="10">
                  <c:v>9.37</c:v>
                </c:pt>
                <c:pt idx="11">
                  <c:v>9.72</c:v>
                </c:pt>
                <c:pt idx="12">
                  <c:v>8.9</c:v>
                </c:pt>
                <c:pt idx="13">
                  <c:v>11.46</c:v>
                </c:pt>
                <c:pt idx="14">
                  <c:v>12.68</c:v>
                </c:pt>
                <c:pt idx="15">
                  <c:v>15.2</c:v>
                </c:pt>
                <c:pt idx="16">
                  <c:v>17.57</c:v>
                </c:pt>
                <c:pt idx="17">
                  <c:v>18.7</c:v>
                </c:pt>
                <c:pt idx="18">
                  <c:v>20.51</c:v>
                </c:pt>
                <c:pt idx="19">
                  <c:v>19.38</c:v>
                </c:pt>
                <c:pt idx="20">
                  <c:v>17.61</c:v>
                </c:pt>
                <c:pt idx="21">
                  <c:v>15.62</c:v>
                </c:pt>
                <c:pt idx="22">
                  <c:v>14.26</c:v>
                </c:pt>
                <c:pt idx="23">
                  <c:v>13.05</c:v>
                </c:pt>
              </c:numCache>
            </c:numRef>
          </c:val>
          <c:smooth val="0"/>
        </c:ser>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tickLblSkip val="6"/>
      </c:catAx>
      <c:valAx>
        <c:axId val="2094734552"/>
        <c:scaling>
          <c:orientation val="minMax"/>
          <c:max val="21"/>
          <c:min val="4"/>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majorUnit val="4"/>
      </c:valAx>
      <c:spPr>
        <a:noFill/>
        <a:ln>
          <a:noFill/>
        </a:ln>
        <a:effectLst/>
      </c:spPr>
    </c:plotArea>
    <c:legend>
      <c:legendPos val="b"/>
      <c:overlay val="0"/>
      <c:txPr>
        <a:bodyPr/>
        <a:lstStyle/>
        <a:p>
          <a:pPr>
            <a:defRPr sz="900">
              <a:solidFill>
                <a:srgbClr val="595959"/>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風力大の日</c:v>
                </c:pt>
              </c:strCache>
            </c:strRef>
          </c:tx>
          <c:spPr>
            <a:solidFill>
              <a:srgbClr val="D95B20"/>
            </a:solidFill>
            <a:ln w="28575" cap="flat">
              <a:solidFill>
                <a:srgbClr val="D95B20"/>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D95B20"/>
              </a:solidFill>
              <a:ln w="9525" cap="flat">
                <a:solidFill>
                  <a:srgbClr val="D95B20"/>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10.92</c:v>
                </c:pt>
                <c:pt idx="1">
                  <c:v>10.73</c:v>
                </c:pt>
                <c:pt idx="2">
                  <c:v>10.85</c:v>
                </c:pt>
                <c:pt idx="3">
                  <c:v>10.91</c:v>
                </c:pt>
                <c:pt idx="4">
                  <c:v>11</c:v>
                </c:pt>
                <c:pt idx="5">
                  <c:v>11.43</c:v>
                </c:pt>
                <c:pt idx="6">
                  <c:v>12.42</c:v>
                </c:pt>
                <c:pt idx="7">
                  <c:v>12.53</c:v>
                </c:pt>
                <c:pt idx="8">
                  <c:v>11.92</c:v>
                </c:pt>
                <c:pt idx="9">
                  <c:v>11.09</c:v>
                </c:pt>
                <c:pt idx="10">
                  <c:v>9.54</c:v>
                </c:pt>
                <c:pt idx="11">
                  <c:v>8.7</c:v>
                </c:pt>
                <c:pt idx="12">
                  <c:v>7.79</c:v>
                </c:pt>
                <c:pt idx="13">
                  <c:v>9.28</c:v>
                </c:pt>
                <c:pt idx="14">
                  <c:v>10.02</c:v>
                </c:pt>
                <c:pt idx="15">
                  <c:v>11.59</c:v>
                </c:pt>
                <c:pt idx="16">
                  <c:v>13.42</c:v>
                </c:pt>
                <c:pt idx="17">
                  <c:v>13.98</c:v>
                </c:pt>
                <c:pt idx="18">
                  <c:v>13.79</c:v>
                </c:pt>
                <c:pt idx="19">
                  <c:v>13.16</c:v>
                </c:pt>
                <c:pt idx="20">
                  <c:v>12.99</c:v>
                </c:pt>
                <c:pt idx="21">
                  <c:v>12.47</c:v>
                </c:pt>
                <c:pt idx="22">
                  <c:v>11.5</c:v>
                </c:pt>
                <c:pt idx="23">
                  <c:v>11.42</c:v>
                </c:pt>
              </c:numCache>
            </c:numRef>
          </c:val>
          <c:smooth val="0"/>
        </c:ser>
        <c:ser>
          <c:idx val="1"/>
          <c:order val="1"/>
          <c:tx>
            <c:strRef>
              <c:f>Sheet1!$C$1</c:f>
              <c:strCache>
                <c:ptCount val="1"/>
                <c:pt idx="0">
                  <c:v>風力小の日</c:v>
                </c:pt>
              </c:strCache>
            </c:strRef>
          </c:tx>
          <c:spPr>
            <a:solidFill>
              <a:srgbClr val="0079C2"/>
            </a:solidFill>
            <a:ln w="28575" cap="flat">
              <a:solidFill>
                <a:srgbClr val="0079C2"/>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0079C2"/>
              </a:solidFill>
              <a:ln w="9525" cap="flat">
                <a:solidFill>
                  <a:srgbClr val="0079C2"/>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12.45</c:v>
                </c:pt>
                <c:pt idx="1">
                  <c:v>12.27</c:v>
                </c:pt>
                <c:pt idx="2">
                  <c:v>12.34</c:v>
                </c:pt>
                <c:pt idx="3">
                  <c:v>12.5</c:v>
                </c:pt>
                <c:pt idx="4">
                  <c:v>12.75</c:v>
                </c:pt>
                <c:pt idx="5">
                  <c:v>12.91</c:v>
                </c:pt>
                <c:pt idx="6">
                  <c:v>14.28</c:v>
                </c:pt>
                <c:pt idx="7">
                  <c:v>14.25</c:v>
                </c:pt>
                <c:pt idx="8">
                  <c:v>13.61</c:v>
                </c:pt>
                <c:pt idx="9">
                  <c:v>12.22</c:v>
                </c:pt>
                <c:pt idx="10">
                  <c:v>10.87</c:v>
                </c:pt>
                <c:pt idx="11">
                  <c:v>9.88</c:v>
                </c:pt>
                <c:pt idx="12">
                  <c:v>9.18</c:v>
                </c:pt>
                <c:pt idx="13">
                  <c:v>10.49</c:v>
                </c:pt>
                <c:pt idx="14">
                  <c:v>11.43</c:v>
                </c:pt>
                <c:pt idx="15">
                  <c:v>13.69</c:v>
                </c:pt>
                <c:pt idx="16">
                  <c:v>15.17</c:v>
                </c:pt>
                <c:pt idx="17">
                  <c:v>15.82</c:v>
                </c:pt>
                <c:pt idx="18">
                  <c:v>15.44</c:v>
                </c:pt>
                <c:pt idx="19">
                  <c:v>14.65</c:v>
                </c:pt>
                <c:pt idx="20">
                  <c:v>14.05</c:v>
                </c:pt>
                <c:pt idx="21">
                  <c:v>13.26</c:v>
                </c:pt>
                <c:pt idx="22">
                  <c:v>12.31</c:v>
                </c:pt>
                <c:pt idx="23">
                  <c:v>12.13</c:v>
                </c:pt>
              </c:numCache>
            </c:numRef>
          </c:val>
          <c:smooth val="0"/>
        </c:ser>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tickLblSkip val="6"/>
      </c:catAx>
      <c:valAx>
        <c:axId val="2094734552"/>
        <c:scaling>
          <c:orientation val="minMax"/>
          <c:max val="21"/>
          <c:min val="4"/>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風力大の日</c:v>
                </c:pt>
              </c:strCache>
            </c:strRef>
          </c:tx>
          <c:spPr>
            <a:solidFill>
              <a:srgbClr val="D95B20"/>
            </a:solidFill>
            <a:ln w="28575" cap="flat">
              <a:solidFill>
                <a:srgbClr val="D95B20"/>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D95B20"/>
              </a:solidFill>
              <a:ln w="9525" cap="flat">
                <a:solidFill>
                  <a:srgbClr val="D95B20"/>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11.33</c:v>
                </c:pt>
                <c:pt idx="1">
                  <c:v>11</c:v>
                </c:pt>
                <c:pt idx="2">
                  <c:v>11.22</c:v>
                </c:pt>
                <c:pt idx="3">
                  <c:v>11.68</c:v>
                </c:pt>
                <c:pt idx="4">
                  <c:v>11.87</c:v>
                </c:pt>
                <c:pt idx="5">
                  <c:v>11.88</c:v>
                </c:pt>
                <c:pt idx="6">
                  <c:v>11.61</c:v>
                </c:pt>
                <c:pt idx="7">
                  <c:v>9.28</c:v>
                </c:pt>
                <c:pt idx="8">
                  <c:v>7.87</c:v>
                </c:pt>
                <c:pt idx="9">
                  <c:v>6.85</c:v>
                </c:pt>
                <c:pt idx="10">
                  <c:v>5.62</c:v>
                </c:pt>
                <c:pt idx="11">
                  <c:v>5.4</c:v>
                </c:pt>
                <c:pt idx="12">
                  <c:v>4.73</c:v>
                </c:pt>
                <c:pt idx="13">
                  <c:v>6.59</c:v>
                </c:pt>
                <c:pt idx="14">
                  <c:v>8.27</c:v>
                </c:pt>
                <c:pt idx="15">
                  <c:v>10.93</c:v>
                </c:pt>
                <c:pt idx="16">
                  <c:v>14.05</c:v>
                </c:pt>
                <c:pt idx="17">
                  <c:v>15.03</c:v>
                </c:pt>
                <c:pt idx="18">
                  <c:v>15.47</c:v>
                </c:pt>
                <c:pt idx="19">
                  <c:v>15.19</c:v>
                </c:pt>
                <c:pt idx="20">
                  <c:v>14.17</c:v>
                </c:pt>
                <c:pt idx="21">
                  <c:v>12.85</c:v>
                </c:pt>
                <c:pt idx="22">
                  <c:v>12.06</c:v>
                </c:pt>
                <c:pt idx="23">
                  <c:v>11.62</c:v>
                </c:pt>
              </c:numCache>
            </c:numRef>
          </c:val>
          <c:smooth val="0"/>
        </c:ser>
        <c:ser>
          <c:idx val="1"/>
          <c:order val="1"/>
          <c:tx>
            <c:strRef>
              <c:f>Sheet1!$C$1</c:f>
              <c:strCache>
                <c:ptCount val="1"/>
                <c:pt idx="0">
                  <c:v>風力小の日</c:v>
                </c:pt>
              </c:strCache>
            </c:strRef>
          </c:tx>
          <c:spPr>
            <a:solidFill>
              <a:srgbClr val="0079C2"/>
            </a:solidFill>
            <a:ln w="28575" cap="flat">
              <a:solidFill>
                <a:srgbClr val="0079C2"/>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0079C2"/>
              </a:solidFill>
              <a:ln w="9525" cap="flat">
                <a:solidFill>
                  <a:srgbClr val="0079C2"/>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12.37</c:v>
                </c:pt>
                <c:pt idx="1">
                  <c:v>11.88</c:v>
                </c:pt>
                <c:pt idx="2">
                  <c:v>12.15</c:v>
                </c:pt>
                <c:pt idx="3">
                  <c:v>12.64</c:v>
                </c:pt>
                <c:pt idx="4">
                  <c:v>12.95</c:v>
                </c:pt>
                <c:pt idx="5">
                  <c:v>13.03</c:v>
                </c:pt>
                <c:pt idx="6">
                  <c:v>12.6</c:v>
                </c:pt>
                <c:pt idx="7">
                  <c:v>10.36</c:v>
                </c:pt>
                <c:pt idx="8">
                  <c:v>9.16</c:v>
                </c:pt>
                <c:pt idx="9">
                  <c:v>8.04</c:v>
                </c:pt>
                <c:pt idx="10">
                  <c:v>6.7</c:v>
                </c:pt>
                <c:pt idx="11">
                  <c:v>6.36</c:v>
                </c:pt>
                <c:pt idx="12">
                  <c:v>5.67</c:v>
                </c:pt>
                <c:pt idx="13">
                  <c:v>8.16</c:v>
                </c:pt>
                <c:pt idx="14">
                  <c:v>10.66</c:v>
                </c:pt>
                <c:pt idx="15">
                  <c:v>13.37</c:v>
                </c:pt>
                <c:pt idx="16">
                  <c:v>16.39</c:v>
                </c:pt>
                <c:pt idx="17">
                  <c:v>17.22</c:v>
                </c:pt>
                <c:pt idx="18">
                  <c:v>16.9</c:v>
                </c:pt>
                <c:pt idx="19">
                  <c:v>16.51</c:v>
                </c:pt>
                <c:pt idx="20">
                  <c:v>15.41</c:v>
                </c:pt>
                <c:pt idx="21">
                  <c:v>14.22</c:v>
                </c:pt>
                <c:pt idx="22">
                  <c:v>13.73</c:v>
                </c:pt>
                <c:pt idx="23">
                  <c:v>12.87</c:v>
                </c:pt>
              </c:numCache>
            </c:numRef>
          </c:val>
          <c:smooth val="0"/>
        </c:ser>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tickLblSkip val="6"/>
      </c:catAx>
      <c:valAx>
        <c:axId val="2094734552"/>
        <c:scaling>
          <c:orientation val="minMax"/>
          <c:max val="21"/>
          <c:min val="4"/>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capture</c:v>
                </c:pt>
              </c:strCache>
            </c:strRef>
          </c:tx>
          <c:spPr>
            <a:solidFill>
              <a:srgbClr val="176871"/>
            </a:solidFill>
            <a:effectLst/>
          </c:spPr>
          <c:invertIfNegative val="0"/>
          <c:dLbls>
            <c:numFmt formatCode="0.0&quot;%&quot;" sourceLinked="0"/>
            <c:txPr>
              <a:bodyPr/>
              <a:lstStyle/>
              <a:p>
                <a:pPr>
                  <a:defRPr b="0" i="0" strike="noStrike" sz="950" u="none">
                    <a:solidFill>
                      <a:srgbClr val="176871"/>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176871"/>
              </a:solidFill>
              <a:effectLst/>
            </c:spPr>
          </c:dPt>
          <c:dPt>
            <c:idx val="1"/>
            <c:invertIfNegative val="0"/>
            <c:bubble3D val="0"/>
            <c:spPr>
              <a:solidFill>
                <a:srgbClr val="5DB6E7"/>
              </a:solidFill>
              <a:effectLst/>
            </c:spPr>
          </c:dPt>
          <c:dPt>
            <c:idx val="2"/>
            <c:invertIfNegative val="0"/>
            <c:bubble3D val="0"/>
            <c:spPr>
              <a:solidFill>
                <a:srgbClr val="5DB6E7"/>
              </a:solidFill>
              <a:effectLst/>
            </c:spPr>
          </c:dPt>
          <c:dPt>
            <c:idx val="3"/>
            <c:invertIfNegative val="0"/>
            <c:bubble3D val="0"/>
            <c:spPr>
              <a:solidFill>
                <a:srgbClr val="D95B20"/>
              </a:solidFill>
              <a:effectLst/>
            </c:spPr>
          </c:dPt>
          <c:dPt>
            <c:idx val="4"/>
            <c:invertIfNegative val="0"/>
            <c:bubble3D val="0"/>
            <c:spPr>
              <a:solidFill>
                <a:srgbClr val="0079C2"/>
              </a:solidFill>
              <a:effectLst/>
            </c:spPr>
          </c:dPt>
          <c:cat>
            <c:multiLvlStrRef>
              <c:f>Sheet1!$A$2:$A$6</c:f>
              <c:multiLvlStrCache>
                <c:ptCount val="5"/>
                <c:lvl>
                  <c:pt idx="0">
                    <c:v>完全予見PF</c:v>
                  </c:pt>
                  <c:pt idx="1">
                    <c:v>a 前日価格</c:v>
                  </c:pt>
                  <c:pt idx="2">
                    <c:v>a2 同区分前日</c:v>
                  </c:pt>
                  <c:pt idx="3">
                    <c:v>c 平均価格(気候値)</c:v>
                  </c:pt>
                  <c:pt idx="4">
                    <c:v>b 残余需要予測</c:v>
                  </c:pt>
                </c:lvl>
              </c:multiLvlStrCache>
            </c:multiLvlStrRef>
          </c:cat>
          <c:val>
            <c:numRef>
              <c:f>Sheet1!$B$2:$B$6</c:f>
              <c:numCache>
                <c:formatCode>General</c:formatCode>
                <c:ptCount val="5"/>
                <c:pt idx="0">
                  <c:v>100</c:v>
                </c:pt>
                <c:pt idx="1">
                  <c:v>68.5</c:v>
                </c:pt>
                <c:pt idx="2">
                  <c:v>69.4</c:v>
                </c:pt>
                <c:pt idx="3">
                  <c:v>81.7</c:v>
                </c:pt>
                <c:pt idx="4">
                  <c:v>78.8</c:v>
                </c:pt>
              </c:numCache>
            </c:numRef>
          </c:val>
        </c:ser>
        <c:dLbls>
          <c:numFmt formatCode="0.0&quot;%&quot;" sourceLinked="0"/>
          <c:txPr>
            <a:bodyPr/>
            <a:lstStyle/>
            <a:p>
              <a:pPr>
                <a:defRPr b="0" i="0" strike="noStrike" sz="950" u="none">
                  <a:solidFill>
                    <a:srgbClr val="176871"/>
                  </a:solidFill>
                  <a:latin typeface="Noto Sans JP"/>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PF</c:v>
                </c:pt>
              </c:strCache>
            </c:strRef>
          </c:tx>
          <c:spPr>
            <a:solidFill>
              <a:srgbClr val="5DB6E7"/>
            </a:solidFill>
            <a:effectLst/>
          </c:spPr>
          <c:invertIfNegative val="0"/>
          <c:dLbls>
            <c:numFmt formatCode="#,##0" sourceLinked="0"/>
            <c:txPr>
              <a:bodyPr/>
              <a:lstStyle/>
              <a:p>
                <a:pPr>
                  <a:defRPr b="0" i="0" strike="noStrike" sz="950" u="none">
                    <a:solidFill>
                      <a:srgbClr val="176871"/>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5DB6E7"/>
              </a:solidFill>
              <a:effectLst/>
            </c:spPr>
          </c:dPt>
          <c:dPt>
            <c:idx val="1"/>
            <c:invertIfNegative val="0"/>
            <c:bubble3D val="0"/>
            <c:spPr>
              <a:solidFill>
                <a:srgbClr val="0079C2"/>
              </a:solidFill>
              <a:effectLst/>
            </c:spPr>
          </c:dPt>
          <c:dPt>
            <c:idx val="2"/>
            <c:invertIfNegative val="0"/>
            <c:bubble3D val="0"/>
            <c:spPr>
              <a:solidFill>
                <a:srgbClr val="176871"/>
              </a:solidFill>
              <a:effectLst/>
            </c:spPr>
          </c:dPt>
          <c:dPt>
            <c:idx val="3"/>
            <c:invertIfNegative val="0"/>
            <c:bubble3D val="0"/>
            <c:spPr>
              <a:solidFill>
                <a:srgbClr val="70B437"/>
              </a:solidFill>
              <a:effectLst/>
            </c:spPr>
          </c:dPt>
          <c:cat>
            <c:multiLvlStrRef>
              <c:f>Sheet1!$A$2:$A$5</c:f>
              <c:multiLvlStrCache>
                <c:ptCount val="4"/>
                <c:lvl>
                  <c:pt idx="0">
                    <c:v>2h</c:v>
                  </c:pt>
                  <c:pt idx="1">
                    <c:v>4h</c:v>
                  </c:pt>
                  <c:pt idx="2">
                    <c:v>6h</c:v>
                  </c:pt>
                  <c:pt idx="3">
                    <c:v>8h</c:v>
                  </c:pt>
                </c:lvl>
              </c:multiLvlStrCache>
            </c:multiLvlStrRef>
          </c:cat>
          <c:val>
            <c:numRef>
              <c:f>Sheet1!$B$2:$B$5</c:f>
              <c:numCache>
                <c:formatCode>General</c:formatCode>
                <c:ptCount val="4"/>
                <c:pt idx="0">
                  <c:v>6026</c:v>
                </c:pt>
                <c:pt idx="1">
                  <c:v>10317</c:v>
                </c:pt>
                <c:pt idx="2">
                  <c:v>13062</c:v>
                </c:pt>
                <c:pt idx="3">
                  <c:v>14354</c:v>
                </c:pt>
              </c:numCache>
            </c:numRef>
          </c:val>
        </c:ser>
        <c:dLbls>
          <c:numFmt formatCode="#,##0" sourceLinked="0"/>
          <c:txPr>
            <a:bodyPr/>
            <a:lstStyle/>
            <a:p>
              <a:pPr>
                <a:defRPr b="0" i="0" strike="noStrike" sz="950" u="none">
                  <a:solidFill>
                    <a:srgbClr val="176871"/>
                  </a:solidFill>
                  <a:latin typeface="Noto Sans JP"/>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泊なし（現状）</c:v>
                </c:pt>
              </c:strCache>
            </c:strRef>
          </c:tx>
          <c:spPr>
            <a:solidFill>
              <a:srgbClr val="0079C2"/>
            </a:solidFill>
            <a:ln w="31750" cap="flat">
              <a:solidFill>
                <a:srgbClr val="0079C2"/>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0079C2"/>
              </a:solidFill>
              <a:ln w="9525" cap="flat">
                <a:solidFill>
                  <a:srgbClr val="0079C2"/>
                </a:solidFill>
                <a:prstDash val="solid"/>
                <a:round/>
              </a:ln>
              <a:effectLst/>
            </c:spPr>
          </c:marker>
          <c:cat>
            <c:multiLvlStrRef>
              <c:f>Sheet1!$A$2:$A$10</c:f>
              <c:multiLvlStrCache>
                <c:ptCount val="9"/>
                <c:lvl>
                  <c:pt idx="0">
                    <c:v>61</c:v>
                  </c:pt>
                  <c:pt idx="1">
                    <c:v>91</c:v>
                  </c:pt>
                  <c:pt idx="2">
                    <c:v>121</c:v>
                  </c:pt>
                  <c:pt idx="3">
                    <c:v>151</c:v>
                  </c:pt>
                  <c:pt idx="4">
                    <c:v>182</c:v>
                  </c:pt>
                  <c:pt idx="5">
                    <c:v>212</c:v>
                  </c:pt>
                  <c:pt idx="6">
                    <c:v>242</c:v>
                  </c:pt>
                  <c:pt idx="7">
                    <c:v>303</c:v>
                  </c:pt>
                  <c:pt idx="8">
                    <c:v>363</c:v>
                  </c:pt>
                </c:lvl>
              </c:multiLvlStrCache>
            </c:multiLvlStrRef>
          </c:cat>
          <c:val>
            <c:numRef>
              <c:f>Sheet1!$B$2:$B$10</c:f>
              <c:numCache>
                <c:formatCode>General</c:formatCode>
                <c:ptCount val="9"/>
                <c:pt idx="0">
                  <c:v>8528</c:v>
                </c:pt>
                <c:pt idx="1">
                  <c:v>8574</c:v>
                </c:pt>
                <c:pt idx="2">
                  <c:v>8593</c:v>
                </c:pt>
                <c:pt idx="3">
                  <c:v>8663</c:v>
                </c:pt>
                <c:pt idx="4">
                  <c:v>8792</c:v>
                </c:pt>
                <c:pt idx="5">
                  <c:v>9000</c:v>
                </c:pt>
                <c:pt idx="6">
                  <c:v>9198</c:v>
                </c:pt>
                <c:pt idx="7">
                  <c:v>9824</c:v>
                </c:pt>
                <c:pt idx="8">
                  <c:v>10554</c:v>
                </c:pt>
              </c:numCache>
            </c:numRef>
          </c:val>
          <c:smooth val="0"/>
        </c:ser>
        <c:ser>
          <c:idx val="1"/>
          <c:order val="1"/>
          <c:tx>
            <c:strRef>
              <c:f>Sheet1!$C$1</c:f>
              <c:strCache>
                <c:ptCount val="1"/>
                <c:pt idx="0">
                  <c:v>泊3号再稼働</c:v>
                </c:pt>
              </c:strCache>
            </c:strRef>
          </c:tx>
          <c:spPr>
            <a:solidFill>
              <a:srgbClr val="D95B20"/>
            </a:solidFill>
            <a:ln w="31750" cap="flat">
              <a:solidFill>
                <a:srgbClr val="D95B20"/>
              </a:solidFill>
              <a:prstDash val="solid"/>
              <a:round/>
            </a:ln>
            <a:effectLst/>
          </c:spPr>
          <c:invertIfNegative val="0"/>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c:symbol val="circle"/>
            <c:size val="6"/>
            <c:spPr>
              <a:solidFill>
                <a:srgbClr val="D95B20"/>
              </a:solidFill>
              <a:ln w="9525" cap="flat">
                <a:solidFill>
                  <a:srgbClr val="D95B20"/>
                </a:solidFill>
                <a:prstDash val="solid"/>
                <a:round/>
              </a:ln>
              <a:effectLst/>
            </c:spPr>
          </c:marker>
          <c:cat>
            <c:multiLvlStrRef>
              <c:f>Sheet1!$A$2:$A$10</c:f>
              <c:multiLvlStrCache>
                <c:ptCount val="9"/>
                <c:lvl>
                  <c:pt idx="0">
                    <c:v>61</c:v>
                  </c:pt>
                  <c:pt idx="1">
                    <c:v>91</c:v>
                  </c:pt>
                  <c:pt idx="2">
                    <c:v>121</c:v>
                  </c:pt>
                  <c:pt idx="3">
                    <c:v>151</c:v>
                  </c:pt>
                  <c:pt idx="4">
                    <c:v>182</c:v>
                  </c:pt>
                  <c:pt idx="5">
                    <c:v>212</c:v>
                  </c:pt>
                  <c:pt idx="6">
                    <c:v>242</c:v>
                  </c:pt>
                  <c:pt idx="7">
                    <c:v>303</c:v>
                  </c:pt>
                  <c:pt idx="8">
                    <c:v>363</c:v>
                  </c:pt>
                </c:lvl>
              </c:multiLvlStrCache>
            </c:multiLvlStrRef>
          </c:cat>
          <c:val>
            <c:numRef>
              <c:f>Sheet1!$C$2:$C$10</c:f>
              <c:numCache>
                <c:formatCode>General</c:formatCode>
                <c:ptCount val="9"/>
                <c:pt idx="0">
                  <c:v>9271</c:v>
                </c:pt>
                <c:pt idx="1">
                  <c:v>9488</c:v>
                </c:pt>
                <c:pt idx="2">
                  <c:v>9777</c:v>
                </c:pt>
                <c:pt idx="3">
                  <c:v>10053</c:v>
                </c:pt>
                <c:pt idx="4">
                  <c:v>10459</c:v>
                </c:pt>
                <c:pt idx="5">
                  <c:v>10901</c:v>
                </c:pt>
                <c:pt idx="6">
                  <c:v>11271</c:v>
                </c:pt>
                <c:pt idx="7">
                  <c:v>12009</c:v>
                </c:pt>
                <c:pt idx="8">
                  <c:v>12615</c:v>
                </c:pt>
              </c:numCache>
            </c:numRef>
          </c:val>
          <c:smooth val="0"/>
        </c:ser>
        <c:dLbls>
          <c:numFmt formatCode="#,##0" sourceLinked="0"/>
          <c:txPr>
            <a:bodyPr/>
            <a:lstStyle/>
            <a:p>
              <a:pPr>
                <a:defRPr b="0" i="0" strike="noStrike" sz="950" u="none">
                  <a:solidFill>
                    <a:srgbClr val="176871"/>
                  </a:solidFill>
                  <a:latin typeface="Noto Sans JP"/>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50" b="0" i="0" u="none" strike="noStrike">
                    <a:solidFill>
                      <a:srgbClr val="000000"/>
                    </a:solidFill>
                    <a:latin typeface="Arial"/>
                  </a:defRPr>
                </a:pPr>
                <a:r>
                  <a:rPr sz="950" b="0" i="0" u="none" strike="noStrike">
                    <a:solidFill>
                      <a:srgbClr val="000000"/>
                    </a:solidFill>
                    <a:latin typeface="Arial"/>
                  </a:rPr>
                  <a:t>風力導入量 K_wind（万kW）※現状121</a:t>
                </a:r>
              </a:p>
            </c:rich>
          </c:tx>
          <c:layout/>
          <c:overlay val="0"/>
        </c:title>
        <c:numFmt formatCode="General" sourceLinked="1"/>
        <c:majorTickMark val="out"/>
        <c:minorTickMark val="none"/>
        <c:tickLblPos val="low"/>
        <c:spPr>
          <a:ln w="12700" cap="flat">
            <a:solidFill>
              <a:srgbClr val="D9D9D9"/>
            </a:solidFill>
            <a:prstDash val="solid"/>
            <a:round/>
          </a:ln>
        </c:spPr>
        <c:txPr>
          <a:bodyPr/>
          <a:lstStyle/>
          <a:p>
            <a:pPr>
              <a:defRPr sz="9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3000"/>
          <c:min val="8000"/>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D9D9D9"/>
            </a:solidFill>
            <a:prstDash val="solid"/>
            <a:round/>
          </a:ln>
        </c:spPr>
        <c:txPr>
          <a:bodyPr/>
          <a:lstStyle/>
          <a:p>
            <a:pPr>
              <a:defRPr sz="850" b="0" i="0" u="none" strike="noStrike">
                <a:solidFill>
                  <a:srgbClr val="595959"/>
                </a:solidFill>
                <a:latin typeface="Arial"/>
              </a:defRPr>
            </a:pPr>
            <a:endParaRPr lang="en-US"/>
          </a:p>
        </c:txPr>
        <c:crossAx val="2094734554"/>
        <c:crosses val="autoZero"/>
        <c:crossBetween val="between"/>
        <c:majorUnit val="1000"/>
      </c:valAx>
      <c:spPr>
        <a:noFill/>
        <a:ln>
          <a:noFill/>
        </a:ln>
        <a:effectLst/>
      </c:spPr>
    </c:plotArea>
    <c:legend>
      <c:legendPos val="b"/>
      <c:overlay val="0"/>
      <c:txPr>
        <a:bodyPr/>
        <a:lstStyle/>
        <a:p>
          <a:pPr>
            <a:defRPr sz="1000">
              <a:solidFill>
                <a:srgbClr val="595959"/>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377440"/>
            <a:ext cx="10515600" cy="731520"/>
          </a:xfrm>
          <a:prstGeom prst="rect">
            <a:avLst/>
          </a:prstGeom>
          <a:noFill/>
          <a:ln/>
        </p:spPr>
        <p:txBody>
          <a:bodyPr wrap="square" lIns="0" tIns="0" rIns="0" bIns="0" rtlCol="0" anchor="ctr"/>
          <a:lstStyle/>
          <a:p>
            <a:pPr indent="0" marL="0">
              <a:buNone/>
            </a:pPr>
            <a:r>
              <a:rPr lang="en-US" sz="3200" b="1" dirty="0">
                <a:solidFill>
                  <a:srgbClr val="000000"/>
                </a:solidFill>
                <a:latin typeface="Noto Sans JP SemiBold" pitchFamily="34" charset="0"/>
                <a:ea typeface="Noto Sans JP SemiBold" pitchFamily="34" charset="-122"/>
                <a:cs typeface="Noto Sans JP SemiBold" pitchFamily="34" charset="-120"/>
              </a:rPr>
              <a:t>修士論文　進捗報告</a:t>
            </a:r>
            <a:endParaRPr lang="en-US" sz="3200" dirty="0"/>
          </a:p>
        </p:txBody>
      </p:sp>
      <p:sp>
        <p:nvSpPr>
          <p:cNvPr id="3" name="Shape 1"/>
          <p:cNvSpPr/>
          <p:nvPr/>
        </p:nvSpPr>
        <p:spPr>
          <a:xfrm>
            <a:off x="868680" y="3218688"/>
            <a:ext cx="1737360" cy="54864"/>
          </a:xfrm>
          <a:prstGeom prst="rect">
            <a:avLst/>
          </a:prstGeom>
          <a:solidFill>
            <a:srgbClr val="0079C2"/>
          </a:solidFill>
          <a:ln/>
        </p:spPr>
      </p:sp>
      <p:sp>
        <p:nvSpPr>
          <p:cNvPr id="4" name="Text 2"/>
          <p:cNvSpPr/>
          <p:nvPr/>
        </p:nvSpPr>
        <p:spPr>
          <a:xfrm>
            <a:off x="822960" y="3520440"/>
            <a:ext cx="5486400" cy="365760"/>
          </a:xfrm>
          <a:prstGeom prst="rect">
            <a:avLst/>
          </a:prstGeom>
          <a:noFill/>
          <a:ln/>
        </p:spPr>
        <p:txBody>
          <a:bodyPr wrap="square" lIns="0" tIns="0" rIns="0" bIns="0" rtlCol="0" anchor="ctr"/>
          <a:lstStyle/>
          <a:p>
            <a:pPr indent="0" marL="0">
              <a:buNone/>
            </a:pPr>
            <a:r>
              <a:rPr lang="en-US" sz="1400" dirty="0">
                <a:solidFill>
                  <a:srgbClr val="262626"/>
                </a:solidFill>
                <a:latin typeface="Noto Sans JP" pitchFamily="34" charset="0"/>
                <a:ea typeface="Noto Sans JP" pitchFamily="34" charset="-122"/>
                <a:cs typeface="Noto Sans JP" pitchFamily="34" charset="-120"/>
              </a:rPr>
              <a:t>松葉 大希</a:t>
            </a:r>
            <a:endParaRPr lang="en-US" sz="1400" dirty="0"/>
          </a:p>
        </p:txBody>
      </p:sp>
      <p:sp>
        <p:nvSpPr>
          <p:cNvPr id="5" name="Text 3"/>
          <p:cNvSpPr/>
          <p:nvPr/>
        </p:nvSpPr>
        <p:spPr>
          <a:xfrm>
            <a:off x="822960" y="3886200"/>
            <a:ext cx="5486400" cy="365760"/>
          </a:xfrm>
          <a:prstGeom prst="rect">
            <a:avLst/>
          </a:prstGeom>
          <a:noFill/>
          <a:ln/>
        </p:spPr>
        <p:txBody>
          <a:bodyPr wrap="square" lIns="0" tIns="0" rIns="0" bIns="0" rtlCol="0" anchor="ctr"/>
          <a:lstStyle/>
          <a:p>
            <a:pPr indent="0" marL="0">
              <a:buNone/>
            </a:pPr>
            <a:r>
              <a:rPr lang="en-US" sz="1200" dirty="0">
                <a:solidFill>
                  <a:srgbClr val="595959"/>
                </a:solidFill>
                <a:latin typeface="Noto Sans JP" pitchFamily="34" charset="0"/>
                <a:ea typeface="Noto Sans JP" pitchFamily="34" charset="-122"/>
                <a:cs typeface="Noto Sans JP" pitchFamily="34" charset="-120"/>
              </a:rPr>
              <a:t>2026.08.17</a:t>
            </a:r>
            <a:endParaRPr lang="en-US" sz="1200" dirty="0"/>
          </a:p>
        </p:txBody>
      </p:sp>
      <p:sp>
        <p:nvSpPr>
          <p:cNvPr id="6" name="Text 4"/>
          <p:cNvSpPr/>
          <p:nvPr/>
        </p:nvSpPr>
        <p:spPr>
          <a:xfrm>
            <a:off x="822960" y="4572000"/>
            <a:ext cx="10515600" cy="365760"/>
          </a:xfrm>
          <a:prstGeom prst="rect">
            <a:avLst/>
          </a:prstGeom>
          <a:noFill/>
          <a:ln/>
        </p:spPr>
        <p:txBody>
          <a:bodyPr wrap="square" lIns="0" tIns="0" rIns="0" bIns="0" rtlCol="0" anchor="ctr"/>
          <a:lstStyle/>
          <a:p>
            <a:pPr indent="0" marL="0">
              <a:buNone/>
            </a:pPr>
            <a:r>
              <a:rPr lang="en-US" sz="1300" dirty="0">
                <a:solidFill>
                  <a:srgbClr val="595959"/>
                </a:solidFill>
                <a:latin typeface="Noto Sans JP" pitchFamily="34" charset="0"/>
                <a:ea typeface="Noto Sans JP" pitchFamily="34" charset="-122"/>
                <a:cs typeface="Noto Sans JP" pitchFamily="34" charset="-120"/>
              </a:rPr>
              <a:t>風力 × 蓄電池 — 北海道市場の初期実証と、風力増加が蓄電池価値に与える影響</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2</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現在の課題</a:t>
            </a:r>
            <a:endParaRPr lang="en-US" sz="1900" dirty="0"/>
          </a:p>
        </p:txBody>
      </p:sp>
      <p:sp>
        <p:nvSpPr>
          <p:cNvPr id="4" name="Shape 2"/>
          <p:cNvSpPr/>
          <p:nvPr/>
        </p:nvSpPr>
        <p:spPr>
          <a:xfrm>
            <a:off x="338328" y="603504"/>
            <a:ext cx="11521440" cy="0"/>
          </a:xfrm>
          <a:prstGeom prst="line">
            <a:avLst/>
          </a:prstGeom>
          <a:noFill/>
          <a:ln w="9525">
            <a:solidFill>
              <a:srgbClr val="D9D9D9"/>
            </a:solidFill>
            <a:prstDash val="solid"/>
          </a:ln>
        </p:spPr>
      </p:sp>
      <p:sp>
        <p:nvSpPr>
          <p:cNvPr id="5" name="Shape 3"/>
          <p:cNvSpPr/>
          <p:nvPr/>
        </p:nvSpPr>
        <p:spPr>
          <a:xfrm>
            <a:off x="548640" y="978408"/>
            <a:ext cx="45720" cy="274320"/>
          </a:xfrm>
          <a:prstGeom prst="rect">
            <a:avLst/>
          </a:prstGeom>
          <a:solidFill>
            <a:srgbClr val="0079C2"/>
          </a:solidFill>
          <a:ln/>
        </p:spPr>
      </p:sp>
      <p:sp>
        <p:nvSpPr>
          <p:cNvPr id="6" name="Text 4"/>
          <p:cNvSpPr/>
          <p:nvPr/>
        </p:nvSpPr>
        <p:spPr>
          <a:xfrm>
            <a:off x="676656" y="96012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前回までの発表内容</a:t>
            </a:r>
            <a:endParaRPr lang="en-US" sz="1300" dirty="0"/>
          </a:p>
        </p:txBody>
      </p:sp>
      <p:sp>
        <p:nvSpPr>
          <p:cNvPr id="7" name="Text 5"/>
          <p:cNvSpPr/>
          <p:nvPr/>
        </p:nvSpPr>
        <p:spPr>
          <a:xfrm>
            <a:off x="685800" y="1325880"/>
            <a:ext cx="10881360" cy="640080"/>
          </a:xfrm>
          <a:prstGeom prst="rect">
            <a:avLst/>
          </a:prstGeom>
          <a:noFill/>
          <a:ln/>
        </p:spPr>
        <p:txBody>
          <a:bodyPr wrap="square" lIns="0" tIns="0" rIns="0" bIns="0" rtlCol="0" anchor="t"/>
          <a:lstStyle/>
          <a:p>
            <a:pPr marL="152400" indent="-152400">
              <a:lnSpc>
                <a:spcPct val="120000"/>
              </a:lnSpc>
              <a:spcAft>
                <a:spcPts val="600"/>
              </a:spcAft>
              <a:buSzPct val="100000"/>
              <a:buChar char="■"/>
            </a:pPr>
            <a:r>
              <a:rPr lang="en-US" sz="1250" dirty="0">
                <a:solidFill>
                  <a:srgbClr val="262626"/>
                </a:solidFill>
                <a:latin typeface="Noto Sans JP" pitchFamily="34" charset="0"/>
                <a:ea typeface="Noto Sans JP" pitchFamily="34" charset="-122"/>
                <a:cs typeface="Noto Sans JP" pitchFamily="34" charset="-120"/>
              </a:rPr>
              <a:t>太陽光×蓄電池＠九州: 前日一括約定の情報構造の下、完全予見ベースの価値算定と価値減少の要因分解（太陽光は増え続けるのに裁定価値は減少に転じた）</a:t>
            </a:r>
            <a:endParaRPr lang="en-US" sz="1250" dirty="0"/>
          </a:p>
        </p:txBody>
      </p:sp>
      <p:sp>
        <p:nvSpPr>
          <p:cNvPr id="8" name="Shape 6"/>
          <p:cNvSpPr/>
          <p:nvPr/>
        </p:nvSpPr>
        <p:spPr>
          <a:xfrm>
            <a:off x="548640" y="2121408"/>
            <a:ext cx="45720" cy="274320"/>
          </a:xfrm>
          <a:prstGeom prst="rect">
            <a:avLst/>
          </a:prstGeom>
          <a:solidFill>
            <a:srgbClr val="0079C2"/>
          </a:solidFill>
          <a:ln/>
        </p:spPr>
      </p:sp>
      <p:sp>
        <p:nvSpPr>
          <p:cNvPr id="9" name="Text 7"/>
          <p:cNvSpPr/>
          <p:nvPr/>
        </p:nvSpPr>
        <p:spPr>
          <a:xfrm>
            <a:off x="676656" y="210312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今回の位置づけ: エリアと焦点の転換</a:t>
            </a:r>
            <a:endParaRPr lang="en-US" sz="1300" dirty="0"/>
          </a:p>
        </p:txBody>
      </p:sp>
      <p:sp>
        <p:nvSpPr>
          <p:cNvPr id="10" name="Text 8"/>
          <p:cNvSpPr/>
          <p:nvPr/>
        </p:nvSpPr>
        <p:spPr>
          <a:xfrm>
            <a:off x="685800" y="2468880"/>
            <a:ext cx="10881360" cy="1051560"/>
          </a:xfrm>
          <a:prstGeom prst="rect">
            <a:avLst/>
          </a:prstGeom>
          <a:noFill/>
          <a:ln/>
        </p:spPr>
        <p:txBody>
          <a:bodyPr wrap="square" lIns="0" tIns="0" rIns="0" bIns="0" rtlCol="0" anchor="t"/>
          <a:lstStyle/>
          <a:p>
            <a:pPr marL="152400" indent="-152400">
              <a:lnSpc>
                <a:spcPct val="120000"/>
              </a:lnSpc>
              <a:spcAft>
                <a:spcPts val="600"/>
              </a:spcAft>
              <a:buSzPct val="100000"/>
              <a:buChar char="■"/>
            </a:pPr>
            <a:r>
              <a:rPr lang="en-US" sz="1250" b="1" dirty="0">
                <a:solidFill>
                  <a:srgbClr val="262626"/>
                </a:solidFill>
                <a:latin typeface="Noto Sans JP" pitchFamily="34" charset="0"/>
                <a:ea typeface="Noto Sans JP" pitchFamily="34" charset="-122"/>
                <a:cs typeface="Noto Sans JP" pitchFamily="34" charset="-120"/>
              </a:rPr>
              <a:t>エリアを九州→北海道へ、焦点を太陽光→風力へ。「風力の増加は蓄電池の価値をどう変えるか」を北海道データで走り切る</a:t>
            </a:r>
            <a:endParaRPr lang="en-US" sz="1250" dirty="0"/>
          </a:p>
          <a:p>
            <a:pPr lvl="1" marL="254000" indent="-127000">
              <a:lnSpc>
                <a:spcPct val="120000"/>
              </a:lnSpc>
              <a:spcAft>
                <a:spcPts val="600"/>
              </a:spcAft>
              <a:buSzPct val="100000"/>
              <a:buChar char="–"/>
            </a:pPr>
            <a:r>
              <a:rPr lang="en-US" sz="1250" dirty="0">
                <a:solidFill>
                  <a:srgbClr val="262626"/>
                </a:solidFill>
                <a:latin typeface="Noto Sans JP" pitchFamily="34" charset="0"/>
                <a:ea typeface="Noto Sans JP" pitchFamily="34" charset="-122"/>
                <a:cs typeface="Noto Sans JP" pitchFamily="34" charset="-120"/>
              </a:rPr>
              <a:t>北海道は風力/需要比が全国最大級・シェア実測10%超（先行研究のMOE検出水準を超過）・洋上5海域が控える「風力の実験場」</a:t>
            </a:r>
            <a:endParaRPr lang="en-US" sz="1250" dirty="0"/>
          </a:p>
        </p:txBody>
      </p:sp>
      <p:sp>
        <p:nvSpPr>
          <p:cNvPr id="11" name="Shape 9"/>
          <p:cNvSpPr/>
          <p:nvPr/>
        </p:nvSpPr>
        <p:spPr>
          <a:xfrm>
            <a:off x="548640" y="3675888"/>
            <a:ext cx="45720" cy="274320"/>
          </a:xfrm>
          <a:prstGeom prst="rect">
            <a:avLst/>
          </a:prstGeom>
          <a:solidFill>
            <a:srgbClr val="0079C2"/>
          </a:solidFill>
          <a:ln/>
        </p:spPr>
      </p:sp>
      <p:sp>
        <p:nvSpPr>
          <p:cNvPr id="12" name="Text 10"/>
          <p:cNvSpPr/>
          <p:nvPr/>
        </p:nvSpPr>
        <p:spPr>
          <a:xfrm>
            <a:off x="676656" y="365760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本日の構成</a:t>
            </a:r>
            <a:endParaRPr lang="en-US" sz="1300" dirty="0"/>
          </a:p>
        </p:txBody>
      </p:sp>
      <p:sp>
        <p:nvSpPr>
          <p:cNvPr id="13" name="Text 11"/>
          <p:cNvSpPr/>
          <p:nvPr/>
        </p:nvSpPr>
        <p:spPr>
          <a:xfrm>
            <a:off x="685800" y="4023360"/>
            <a:ext cx="10881360" cy="2011680"/>
          </a:xfrm>
          <a:prstGeom prst="rect">
            <a:avLst/>
          </a:prstGeom>
          <a:noFill/>
          <a:ln/>
        </p:spPr>
        <p:txBody>
          <a:bodyPr wrap="square" lIns="0" tIns="0" rIns="0" bIns="0" rtlCol="0" anchor="t"/>
          <a:lstStyle/>
          <a:p>
            <a:pPr marL="152400" indent="-152400">
              <a:lnSpc>
                <a:spcPct val="120000"/>
              </a:lnSpc>
              <a:spcAft>
                <a:spcPts val="500"/>
              </a:spcAft>
              <a:buSzPct val="100000"/>
              <a:buChar char="■"/>
            </a:pPr>
            <a:r>
              <a:rPr lang="en-US" sz="1250" dirty="0">
                <a:solidFill>
                  <a:srgbClr val="262626"/>
                </a:solidFill>
                <a:latin typeface="Noto Sans JP" pitchFamily="34" charset="0"/>
                <a:ea typeface="Noto Sans JP" pitchFamily="34" charset="-122"/>
                <a:cs typeface="Noto Sans JP" pitchFamily="34" charset="-120"/>
              </a:rPr>
              <a:t>① 風力は価格に何をしているか（価格カーブ・MOE・分断）</a:t>
            </a:r>
            <a:endParaRPr lang="en-US" sz="1250" dirty="0"/>
          </a:p>
          <a:p>
            <a:pPr marL="152400" indent="-152400">
              <a:lnSpc>
                <a:spcPct val="120000"/>
              </a:lnSpc>
              <a:spcAft>
                <a:spcPts val="500"/>
              </a:spcAft>
              <a:buSzPct val="100000"/>
              <a:buChar char="■"/>
            </a:pPr>
            <a:r>
              <a:rPr lang="en-US" sz="1250" dirty="0">
                <a:solidFill>
                  <a:srgbClr val="262626"/>
                </a:solidFill>
                <a:latin typeface="Noto Sans JP" pitchFamily="34" charset="0"/>
                <a:ea typeface="Noto Sans JP" pitchFamily="34" charset="-122"/>
                <a:cs typeface="Noto Sans JP" pitchFamily="34" charset="-120"/>
              </a:rPr>
              <a:t>② 蓄電池価値の実測（床・PF・風力依存・capture率）</a:t>
            </a:r>
            <a:endParaRPr lang="en-US" sz="1250" dirty="0"/>
          </a:p>
          <a:p>
            <a:pPr marL="152400" indent="-152400">
              <a:lnSpc>
                <a:spcPct val="120000"/>
              </a:lnSpc>
              <a:spcAft>
                <a:spcPts val="500"/>
              </a:spcAft>
              <a:buSzPct val="100000"/>
              <a:buChar char="■"/>
            </a:pPr>
            <a:r>
              <a:rPr lang="en-US" sz="1250" dirty="0">
                <a:solidFill>
                  <a:srgbClr val="262626"/>
                </a:solidFill>
                <a:latin typeface="Noto Sans JP" pitchFamily="34" charset="0"/>
                <a:ea typeface="Noto Sans JP" pitchFamily="34" charset="-122"/>
                <a:cs typeface="Noto Sans JP" pitchFamily="34" charset="-120"/>
              </a:rPr>
              <a:t>③ 風力の時間構造とduration（帯域分解・2/4/6/8h）</a:t>
            </a:r>
            <a:endParaRPr lang="en-US" sz="1250" dirty="0"/>
          </a:p>
          <a:p>
            <a:pPr marL="152400" indent="-152400">
              <a:lnSpc>
                <a:spcPct val="120000"/>
              </a:lnSpc>
              <a:spcAft>
                <a:spcPts val="500"/>
              </a:spcAft>
              <a:buSzPct val="100000"/>
              <a:buChar char="■"/>
            </a:pPr>
            <a:r>
              <a:rPr lang="en-US" sz="1250" b="1" dirty="0">
                <a:solidFill>
                  <a:srgbClr val="262626"/>
                </a:solidFill>
                <a:latin typeface="Noto Sans JP" pitchFamily="34" charset="0"/>
                <a:ea typeface="Noto Sans JP" pitchFamily="34" charset="-122"/>
                <a:cs typeface="Noto Sans JP" pitchFamily="34" charset="-120"/>
              </a:rPr>
              <a:t>④ 風力増加×蓄電池価値の反実仮想（K_windスイープ＝本日の中心図）</a:t>
            </a:r>
            <a:endParaRPr lang="en-US" sz="1250" dirty="0"/>
          </a:p>
          <a:p>
            <a:pPr marL="152400" indent="-152400">
              <a:lnSpc>
                <a:spcPct val="120000"/>
              </a:lnSpc>
              <a:spcAft>
                <a:spcPts val="500"/>
              </a:spcAft>
              <a:buSzPct val="100000"/>
              <a:buChar char="■"/>
            </a:pPr>
            <a:r>
              <a:rPr lang="en-US" sz="1250" dirty="0">
                <a:solidFill>
                  <a:srgbClr val="262626"/>
                </a:solidFill>
                <a:latin typeface="Noto Sans JP" pitchFamily="34" charset="0"/>
                <a:ea typeface="Noto Sans JP" pitchFamily="34" charset="-122"/>
                <a:cs typeface="Noto Sans JP" pitchFamily="34" charset="-120"/>
              </a:rPr>
              <a:t>⑤ 今後の方針（均衡容量K*へ）</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3</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データ基盤と「風力の現在地」</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需給実績×価格の10年パネルを自前構築（検証アンカーで品質確認済み）— 北海道は日本初の風力主導市場になりつつある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298448"/>
            <a:ext cx="45720" cy="274320"/>
          </a:xfrm>
          <a:prstGeom prst="rect">
            <a:avLst/>
          </a:prstGeom>
          <a:solidFill>
            <a:srgbClr val="0079C2"/>
          </a:solidFill>
          <a:ln/>
        </p:spPr>
      </p:sp>
      <p:sp>
        <p:nvSpPr>
          <p:cNvPr id="7" name="Text 5"/>
          <p:cNvSpPr/>
          <p:nvPr/>
        </p:nvSpPr>
        <p:spPr>
          <a:xfrm>
            <a:off x="676656" y="128016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データ</a:t>
            </a:r>
            <a:endParaRPr lang="en-US" sz="1300" dirty="0"/>
          </a:p>
        </p:txBody>
      </p:sp>
      <p:sp>
        <p:nvSpPr>
          <p:cNvPr id="8" name="Text 6"/>
          <p:cNvSpPr/>
          <p:nvPr/>
        </p:nvSpPr>
        <p:spPr>
          <a:xfrm>
            <a:off x="685800" y="1645920"/>
            <a:ext cx="10881360" cy="1097280"/>
          </a:xfrm>
          <a:prstGeom prst="rect">
            <a:avLst/>
          </a:prstGeom>
          <a:noFill/>
          <a:ln/>
        </p:spPr>
        <p:txBody>
          <a:bodyPr wrap="square" lIns="0" tIns="0" rIns="0" bIns="0" rtlCol="0" anchor="t"/>
          <a:lstStyle/>
          <a:p>
            <a:pPr marL="152400" indent="-152400">
              <a:lnSpc>
                <a:spcPct val="120000"/>
              </a:lnSpc>
              <a:spcAft>
                <a:spcPts val="600"/>
              </a:spcAft>
              <a:buSzPct val="100000"/>
              <a:buChar char="■"/>
            </a:pPr>
            <a:r>
              <a:rPr lang="en-US" sz="1200" dirty="0">
                <a:solidFill>
                  <a:srgbClr val="262626"/>
                </a:solidFill>
                <a:latin typeface="Noto Sans JP" pitchFamily="34" charset="0"/>
                <a:ea typeface="Noto Sans JP" pitchFamily="34" charset="-122"/>
                <a:cs typeface="Noto Sans JP" pitchFamily="34" charset="-120"/>
              </a:rPr>
              <a:t>北海道・東北の需給実績＋JEPXエリアプライス: 2016/4〜2026/6・約9万時間（新旧様式統合）</a:t>
            </a:r>
            <a:endParaRPr lang="en-US" sz="1200" dirty="0"/>
          </a:p>
          <a:p>
            <a:pPr lvl="1" marL="254000" indent="-127000">
              <a:lnSpc>
                <a:spcPct val="120000"/>
              </a:lnSpc>
              <a:spcAft>
                <a:spcPts val="600"/>
              </a:spcAft>
              <a:buSzPct val="100000"/>
              <a:buChar char="–"/>
            </a:pPr>
            <a:r>
              <a:rPr lang="en-US" sz="1200" dirty="0">
                <a:solidFill>
                  <a:srgbClr val="262626"/>
                </a:solidFill>
                <a:latin typeface="Noto Sans JP" pitchFamily="34" charset="0"/>
                <a:ea typeface="Noto Sans JP" pitchFamily="34" charset="-122"/>
                <a:cs typeface="Noto Sans JP" pitchFamily="34" charset="-120"/>
              </a:rPr>
              <a:t>FIT/FIP認定量から導入量系列を構築 → 設備利用率（cf）過程を抽出。検証アンカー: 制御初日一致・JWPA/系統WGと整合・2018/9欠測=胆振東部地震</a:t>
            </a:r>
            <a:endParaRPr lang="en-US" sz="1200" dirty="0"/>
          </a:p>
        </p:txBody>
      </p:sp>
      <p:sp>
        <p:nvSpPr>
          <p:cNvPr id="9" name="Shape 7"/>
          <p:cNvSpPr/>
          <p:nvPr/>
        </p:nvSpPr>
        <p:spPr>
          <a:xfrm>
            <a:off x="548640" y="2852928"/>
            <a:ext cx="45720" cy="274320"/>
          </a:xfrm>
          <a:prstGeom prst="rect">
            <a:avLst/>
          </a:prstGeom>
          <a:solidFill>
            <a:srgbClr val="0079C2"/>
          </a:solidFill>
          <a:ln/>
        </p:spPr>
      </p:sp>
      <p:sp>
        <p:nvSpPr>
          <p:cNvPr id="10" name="Text 8"/>
          <p:cNvSpPr/>
          <p:nvPr/>
        </p:nvSpPr>
        <p:spPr>
          <a:xfrm>
            <a:off x="676656" y="283464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風力の現在地（北海道）</a:t>
            </a:r>
            <a:endParaRPr lang="en-US" sz="1300" dirty="0"/>
          </a:p>
        </p:txBody>
      </p:sp>
      <p:sp>
        <p:nvSpPr>
          <p:cNvPr id="11" name="Shape 9"/>
          <p:cNvSpPr/>
          <p:nvPr/>
        </p:nvSpPr>
        <p:spPr>
          <a:xfrm>
            <a:off x="548640" y="3200400"/>
            <a:ext cx="5440680" cy="1097280"/>
          </a:xfrm>
          <a:prstGeom prst="rect">
            <a:avLst/>
          </a:prstGeom>
          <a:solidFill>
            <a:srgbClr val="F0F6FB"/>
          </a:solidFill>
          <a:ln/>
        </p:spPr>
      </p:sp>
      <p:sp>
        <p:nvSpPr>
          <p:cNvPr id="12" name="Text 10"/>
          <p:cNvSpPr/>
          <p:nvPr/>
        </p:nvSpPr>
        <p:spPr>
          <a:xfrm>
            <a:off x="777240" y="3310128"/>
            <a:ext cx="5029200" cy="411480"/>
          </a:xfrm>
          <a:prstGeom prst="rect">
            <a:avLst/>
          </a:prstGeom>
          <a:noFill/>
          <a:ln/>
        </p:spPr>
        <p:txBody>
          <a:bodyPr wrap="square" lIns="0" tIns="0" rIns="0" bIns="0" rtlCol="0" anchor="ctr"/>
          <a:lstStyle/>
          <a:p>
            <a:pPr indent="0" marL="0">
              <a:buNone/>
            </a:pPr>
            <a:r>
              <a:rPr lang="en-US" sz="1600" b="1" dirty="0">
                <a:solidFill>
                  <a:srgbClr val="176871"/>
                </a:solidFill>
                <a:latin typeface="Noto Sans JP SemiBold" pitchFamily="34" charset="0"/>
                <a:ea typeface="Noto Sans JP SemiBold" pitchFamily="34" charset="-122"/>
                <a:cs typeface="Noto Sans JP SemiBold" pitchFamily="34" charset="-120"/>
              </a:rPr>
              <a:t>130万kW</a:t>
            </a:r>
            <a:endParaRPr lang="en-US" sz="1600" dirty="0"/>
          </a:p>
        </p:txBody>
      </p:sp>
      <p:sp>
        <p:nvSpPr>
          <p:cNvPr id="13" name="Text 11"/>
          <p:cNvSpPr/>
          <p:nvPr/>
        </p:nvSpPr>
        <p:spPr>
          <a:xfrm>
            <a:off x="777240" y="3730752"/>
            <a:ext cx="5029200" cy="502920"/>
          </a:xfrm>
          <a:prstGeom prst="rect">
            <a:avLst/>
          </a:prstGeom>
          <a:noFill/>
          <a:ln/>
        </p:spPr>
        <p:txBody>
          <a:bodyPr wrap="square" lIns="0" tIns="0" rIns="0" bIns="0" rtlCol="0" anchor="ctr"/>
          <a:lstStyle/>
          <a:p>
            <a:pPr indent="0" marL="0">
              <a:lnSpc>
                <a:spcPct val="115000"/>
              </a:lnSpc>
              <a:buNone/>
            </a:pPr>
            <a:r>
              <a:rPr lang="en-US" sz="950" dirty="0">
                <a:solidFill>
                  <a:srgbClr val="595959"/>
                </a:solidFill>
                <a:latin typeface="Noto Sans JP" pitchFamily="34" charset="0"/>
                <a:ea typeface="Noto Sans JP" pitchFamily="34" charset="-122"/>
                <a:cs typeface="Noto Sans JP" pitchFamily="34" charset="-120"/>
              </a:rPr>
              <a:t>導入量（2024年末）— 直近2年で倍増</a:t>
            </a:r>
            <a:endParaRPr lang="en-US" sz="950" dirty="0"/>
          </a:p>
        </p:txBody>
      </p:sp>
      <p:sp>
        <p:nvSpPr>
          <p:cNvPr id="14" name="Shape 12"/>
          <p:cNvSpPr/>
          <p:nvPr/>
        </p:nvSpPr>
        <p:spPr>
          <a:xfrm>
            <a:off x="6217920" y="3200400"/>
            <a:ext cx="5440680" cy="1097280"/>
          </a:xfrm>
          <a:prstGeom prst="rect">
            <a:avLst/>
          </a:prstGeom>
          <a:solidFill>
            <a:srgbClr val="F0F6FB"/>
          </a:solidFill>
          <a:ln/>
        </p:spPr>
      </p:sp>
      <p:sp>
        <p:nvSpPr>
          <p:cNvPr id="15" name="Text 13"/>
          <p:cNvSpPr/>
          <p:nvPr/>
        </p:nvSpPr>
        <p:spPr>
          <a:xfrm>
            <a:off x="6446520" y="3310128"/>
            <a:ext cx="5029200" cy="411480"/>
          </a:xfrm>
          <a:prstGeom prst="rect">
            <a:avLst/>
          </a:prstGeom>
          <a:noFill/>
          <a:ln/>
        </p:spPr>
        <p:txBody>
          <a:bodyPr wrap="square" lIns="0" tIns="0" rIns="0" bIns="0" rtlCol="0" anchor="ctr"/>
          <a:lstStyle/>
          <a:p>
            <a:pPr indent="0" marL="0">
              <a:buNone/>
            </a:pPr>
            <a:r>
              <a:rPr lang="en-US" sz="1600" b="1" dirty="0">
                <a:solidFill>
                  <a:srgbClr val="176871"/>
                </a:solidFill>
                <a:latin typeface="Noto Sans JP SemiBold" pitchFamily="34" charset="0"/>
                <a:ea typeface="Noto Sans JP SemiBold" pitchFamily="34" charset="-122"/>
                <a:cs typeface="Noto Sans JP SemiBold" pitchFamily="34" charset="-120"/>
              </a:rPr>
              <a:t>10.2〜10.3%</a:t>
            </a:r>
            <a:endParaRPr lang="en-US" sz="1600" dirty="0"/>
          </a:p>
        </p:txBody>
      </p:sp>
      <p:sp>
        <p:nvSpPr>
          <p:cNvPr id="16" name="Text 14"/>
          <p:cNvSpPr/>
          <p:nvPr/>
        </p:nvSpPr>
        <p:spPr>
          <a:xfrm>
            <a:off x="6446520" y="3730752"/>
            <a:ext cx="5029200" cy="502920"/>
          </a:xfrm>
          <a:prstGeom prst="rect">
            <a:avLst/>
          </a:prstGeom>
          <a:noFill/>
          <a:ln/>
        </p:spPr>
        <p:txBody>
          <a:bodyPr wrap="square" lIns="0" tIns="0" rIns="0" bIns="0" rtlCol="0" anchor="ctr"/>
          <a:lstStyle/>
          <a:p>
            <a:pPr indent="0" marL="0">
              <a:lnSpc>
                <a:spcPct val="115000"/>
              </a:lnSpc>
              <a:buNone/>
            </a:pPr>
            <a:r>
              <a:rPr lang="en-US" sz="950" dirty="0">
                <a:solidFill>
                  <a:srgbClr val="595959"/>
                </a:solidFill>
                <a:latin typeface="Noto Sans JP" pitchFamily="34" charset="0"/>
                <a:ea typeface="Noto Sans JP" pitchFamily="34" charset="-122"/>
                <a:cs typeface="Noto Sans JP" pitchFamily="34" charset="-120"/>
              </a:rPr>
              <a:t>電力量シェア実測（FY2024-25）＝Woo(5-8%)・Ketterer(6-8%)のMOE検出水準を超過</a:t>
            </a:r>
            <a:endParaRPr lang="en-US" sz="950" dirty="0"/>
          </a:p>
        </p:txBody>
      </p:sp>
      <p:sp>
        <p:nvSpPr>
          <p:cNvPr id="17" name="Shape 15"/>
          <p:cNvSpPr/>
          <p:nvPr/>
        </p:nvSpPr>
        <p:spPr>
          <a:xfrm>
            <a:off x="548640" y="4434840"/>
            <a:ext cx="5440680" cy="1097280"/>
          </a:xfrm>
          <a:prstGeom prst="rect">
            <a:avLst/>
          </a:prstGeom>
          <a:solidFill>
            <a:srgbClr val="F0F6FB"/>
          </a:solidFill>
          <a:ln/>
        </p:spPr>
      </p:sp>
      <p:sp>
        <p:nvSpPr>
          <p:cNvPr id="18" name="Text 16"/>
          <p:cNvSpPr/>
          <p:nvPr/>
        </p:nvSpPr>
        <p:spPr>
          <a:xfrm>
            <a:off x="777240" y="4544568"/>
            <a:ext cx="5029200" cy="411480"/>
          </a:xfrm>
          <a:prstGeom prst="rect">
            <a:avLst/>
          </a:prstGeom>
          <a:noFill/>
          <a:ln/>
        </p:spPr>
        <p:txBody>
          <a:bodyPr wrap="square" lIns="0" tIns="0" rIns="0" bIns="0" rtlCol="0" anchor="ctr"/>
          <a:lstStyle/>
          <a:p>
            <a:pPr indent="0" marL="0">
              <a:buNone/>
            </a:pPr>
            <a:r>
              <a:rPr lang="en-US" sz="1600" b="1" dirty="0">
                <a:solidFill>
                  <a:srgbClr val="176871"/>
                </a:solidFill>
                <a:latin typeface="Noto Sans JP SemiBold" pitchFamily="34" charset="0"/>
                <a:ea typeface="Noto Sans JP SemiBold" pitchFamily="34" charset="-122"/>
                <a:cs typeface="Noto Sans JP SemiBold" pitchFamily="34" charset="-120"/>
              </a:rPr>
              <a:t>風力/需要比 全国最大級</a:t>
            </a:r>
            <a:endParaRPr lang="en-US" sz="1600" dirty="0"/>
          </a:p>
        </p:txBody>
      </p:sp>
      <p:sp>
        <p:nvSpPr>
          <p:cNvPr id="19" name="Text 17"/>
          <p:cNvSpPr/>
          <p:nvPr/>
        </p:nvSpPr>
        <p:spPr>
          <a:xfrm>
            <a:off x="777240" y="4965192"/>
            <a:ext cx="5029200" cy="502920"/>
          </a:xfrm>
          <a:prstGeom prst="rect">
            <a:avLst/>
          </a:prstGeom>
          <a:noFill/>
          <a:ln/>
        </p:spPr>
        <p:txBody>
          <a:bodyPr wrap="square" lIns="0" tIns="0" rIns="0" bIns="0" rtlCol="0" anchor="ctr"/>
          <a:lstStyle/>
          <a:p>
            <a:pPr indent="0" marL="0">
              <a:lnSpc>
                <a:spcPct val="115000"/>
              </a:lnSpc>
              <a:buNone/>
            </a:pPr>
            <a:r>
              <a:rPr lang="en-US" sz="950" dirty="0">
                <a:solidFill>
                  <a:srgbClr val="595959"/>
                </a:solidFill>
                <a:latin typeface="Noto Sans JP" pitchFamily="34" charset="0"/>
                <a:ea typeface="Noto Sans JP" pitchFamily="34" charset="-122"/>
                <a:cs typeface="Noto Sans JP" pitchFamily="34" charset="-120"/>
              </a:rPr>
              <a:t>洋上5海域＋380万kWが控える。導入量は今後も外生的に増加</a:t>
            </a:r>
            <a:endParaRPr lang="en-US" sz="950" dirty="0"/>
          </a:p>
        </p:txBody>
      </p:sp>
      <p:sp>
        <p:nvSpPr>
          <p:cNvPr id="20" name="Shape 18"/>
          <p:cNvSpPr/>
          <p:nvPr/>
        </p:nvSpPr>
        <p:spPr>
          <a:xfrm>
            <a:off x="6217920" y="4434840"/>
            <a:ext cx="5440680" cy="1097280"/>
          </a:xfrm>
          <a:prstGeom prst="rect">
            <a:avLst/>
          </a:prstGeom>
          <a:solidFill>
            <a:srgbClr val="FDF0E8"/>
          </a:solidFill>
          <a:ln/>
        </p:spPr>
      </p:sp>
      <p:sp>
        <p:nvSpPr>
          <p:cNvPr id="21" name="Text 19"/>
          <p:cNvSpPr/>
          <p:nvPr/>
        </p:nvSpPr>
        <p:spPr>
          <a:xfrm>
            <a:off x="6446520" y="4544568"/>
            <a:ext cx="5029200" cy="411480"/>
          </a:xfrm>
          <a:prstGeom prst="rect">
            <a:avLst/>
          </a:prstGeom>
          <a:noFill/>
          <a:ln/>
        </p:spPr>
        <p:txBody>
          <a:bodyPr wrap="square" lIns="0" tIns="0" rIns="0" bIns="0" rtlCol="0" anchor="ctr"/>
          <a:lstStyle/>
          <a:p>
            <a:pPr indent="0" marL="0">
              <a:buNone/>
            </a:pPr>
            <a:r>
              <a:rPr lang="en-US" sz="1600" b="1" dirty="0">
                <a:solidFill>
                  <a:srgbClr val="D95B20"/>
                </a:solidFill>
                <a:latin typeface="Noto Sans JP SemiBold" pitchFamily="34" charset="0"/>
                <a:ea typeface="Noto Sans JP SemiBold" pitchFamily="34" charset="-122"/>
                <a:cs typeface="Noto Sans JP SemiBold" pitchFamily="34" charset="-120"/>
              </a:rPr>
              <a:t>抑制率 0.1%→1.35%</a:t>
            </a:r>
            <a:endParaRPr lang="en-US" sz="1600" dirty="0"/>
          </a:p>
        </p:txBody>
      </p:sp>
      <p:sp>
        <p:nvSpPr>
          <p:cNvPr id="22" name="Text 20"/>
          <p:cNvSpPr/>
          <p:nvPr/>
        </p:nvSpPr>
        <p:spPr>
          <a:xfrm>
            <a:off x="6446520" y="4965192"/>
            <a:ext cx="5029200" cy="502920"/>
          </a:xfrm>
          <a:prstGeom prst="rect">
            <a:avLst/>
          </a:prstGeom>
          <a:noFill/>
          <a:ln/>
        </p:spPr>
        <p:txBody>
          <a:bodyPr wrap="square" lIns="0" tIns="0" rIns="0" bIns="0" rtlCol="0" anchor="ctr"/>
          <a:lstStyle/>
          <a:p>
            <a:pPr indent="0" marL="0">
              <a:lnSpc>
                <a:spcPct val="115000"/>
              </a:lnSpc>
              <a:buNone/>
            </a:pPr>
            <a:r>
              <a:rPr lang="en-US" sz="950" dirty="0">
                <a:solidFill>
                  <a:srgbClr val="595959"/>
                </a:solidFill>
                <a:latin typeface="Noto Sans JP" pitchFamily="34" charset="0"/>
                <a:ea typeface="Noto Sans JP" pitchFamily="34" charset="-122"/>
                <a:cs typeface="Noto Sans JP" pitchFamily="34" charset="-120"/>
              </a:rPr>
              <a:t>FY2025→FY2026(4-6月)。抑制時代の入口</a:t>
            </a:r>
            <a:endParaRPr lang="en-US" sz="950" dirty="0"/>
          </a:p>
        </p:txBody>
      </p:sp>
      <p:sp>
        <p:nvSpPr>
          <p:cNvPr id="23" name="Text 21"/>
          <p:cNvSpPr/>
          <p:nvPr/>
        </p:nvSpPr>
        <p:spPr>
          <a:xfrm>
            <a:off x="548640" y="5897880"/>
            <a:ext cx="10881360" cy="320040"/>
          </a:xfrm>
          <a:prstGeom prst="rect">
            <a:avLst/>
          </a:prstGeom>
          <a:noFill/>
          <a:ln/>
        </p:spPr>
        <p:txBody>
          <a:bodyPr wrap="square" lIns="0" tIns="0" rIns="0" bIns="0" rtlCol="0" anchor="ctr"/>
          <a:lstStyle/>
          <a:p>
            <a:pPr indent="0" marL="0">
              <a:buNone/>
            </a:pPr>
            <a:r>
              <a:rPr lang="en-US" sz="950" dirty="0">
                <a:solidFill>
                  <a:srgbClr val="595959"/>
                </a:solidFill>
                <a:latin typeface="Noto Sans JP" pitchFamily="34" charset="0"/>
                <a:ea typeface="Noto Sans JP" pitchFamily="34" charset="-122"/>
                <a:cs typeface="Noto Sans JP" pitchFamily="34" charset="-120"/>
              </a:rPr>
              <a:t>太陽光も234万kWあり無視はしない（価格カーブの季節別・晴天日分析は別添Excel「価格カーブ形状」）。ただし本日は風力を主役に据える</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4</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風力は価格に何をするか（1/2）— 一日全体が「平行に」沈む</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風力大の日は全時間帯で−1.1〜−1.4円/kWh。形はほぼ変えない — 昼だけ彫る太陽光と対照的で、これが蓄電池への効き方を決める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Text 4"/>
          <p:cNvSpPr/>
          <p:nvPr/>
        </p:nvSpPr>
        <p:spPr>
          <a:xfrm>
            <a:off x="548640" y="1371600"/>
            <a:ext cx="3566160" cy="274320"/>
          </a:xfrm>
          <a:prstGeom prst="rect">
            <a:avLst/>
          </a:prstGeom>
          <a:noFill/>
          <a:ln/>
        </p:spPr>
        <p:txBody>
          <a:bodyPr wrap="square" lIns="0" tIns="0" rIns="0" bIns="0" rtlCol="0" anchor="ctr"/>
          <a:lstStyle/>
          <a:p>
            <a:pPr indent="0" marL="0">
              <a:buNone/>
            </a:pPr>
            <a:r>
              <a:rPr lang="en-US" sz="1100" b="1" dirty="0">
                <a:solidFill>
                  <a:srgbClr val="000000"/>
                </a:solidFill>
                <a:latin typeface="Noto Sans JP SemiBold" pitchFamily="34" charset="0"/>
                <a:ea typeface="Noto Sans JP SemiBold" pitchFamily="34" charset="-122"/>
                <a:cs typeface="Noto Sans JP SemiBold" pitchFamily="34" charset="-120"/>
              </a:rPr>
              <a:t>需要期・夏（7-8月）</a:t>
            </a:r>
            <a:endParaRPr lang="en-US" sz="1100" dirty="0"/>
          </a:p>
        </p:txBody>
      </p:sp>
      <p:graphicFrame>
        <p:nvGraphicFramePr>
          <p:cNvPr id="7" name="Chart 0" descr=""/>
          <p:cNvGraphicFramePr/>
          <p:nvPr/>
        </p:nvGraphicFramePr>
        <p:xfrm>
          <a:off x="457200" y="1691640"/>
          <a:ext cx="374904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389120" y="1371600"/>
            <a:ext cx="3566160" cy="274320"/>
          </a:xfrm>
          <a:prstGeom prst="rect">
            <a:avLst/>
          </a:prstGeom>
          <a:noFill/>
          <a:ln/>
        </p:spPr>
        <p:txBody>
          <a:bodyPr wrap="square" lIns="0" tIns="0" rIns="0" bIns="0" rtlCol="0" anchor="ctr"/>
          <a:lstStyle/>
          <a:p>
            <a:pPr indent="0" marL="0">
              <a:buNone/>
            </a:pPr>
            <a:r>
              <a:rPr lang="en-US" sz="1100" b="1" dirty="0">
                <a:solidFill>
                  <a:srgbClr val="000000"/>
                </a:solidFill>
                <a:latin typeface="Noto Sans JP SemiBold" pitchFamily="34" charset="0"/>
                <a:ea typeface="Noto Sans JP SemiBold" pitchFamily="34" charset="-122"/>
                <a:cs typeface="Noto Sans JP SemiBold" pitchFamily="34" charset="-120"/>
              </a:rPr>
              <a:t>需要期・冬（12-2月）</a:t>
            </a:r>
            <a:endParaRPr lang="en-US" sz="1100" dirty="0"/>
          </a:p>
        </p:txBody>
      </p:sp>
      <p:graphicFrame>
        <p:nvGraphicFramePr>
          <p:cNvPr id="9" name="Chart 1" descr=""/>
          <p:cNvGraphicFramePr/>
          <p:nvPr/>
        </p:nvGraphicFramePr>
        <p:xfrm>
          <a:off x="4297680" y="1691640"/>
          <a:ext cx="3749040" cy="35661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8229600" y="1371600"/>
            <a:ext cx="3566160" cy="274320"/>
          </a:xfrm>
          <a:prstGeom prst="rect">
            <a:avLst/>
          </a:prstGeom>
          <a:noFill/>
          <a:ln/>
        </p:spPr>
        <p:txBody>
          <a:bodyPr wrap="square" lIns="0" tIns="0" rIns="0" bIns="0" rtlCol="0" anchor="ctr"/>
          <a:lstStyle/>
          <a:p>
            <a:pPr indent="0" marL="0">
              <a:buNone/>
            </a:pPr>
            <a:r>
              <a:rPr lang="en-US" sz="1100" b="1" dirty="0">
                <a:solidFill>
                  <a:srgbClr val="000000"/>
                </a:solidFill>
                <a:latin typeface="Noto Sans JP SemiBold" pitchFamily="34" charset="0"/>
                <a:ea typeface="Noto Sans JP SemiBold" pitchFamily="34" charset="-122"/>
                <a:cs typeface="Noto Sans JP SemiBold" pitchFamily="34" charset="-120"/>
              </a:rPr>
              <a:t>不需要期（4-5・10-11月）</a:t>
            </a:r>
            <a:endParaRPr lang="en-US" sz="1100" dirty="0"/>
          </a:p>
        </p:txBody>
      </p:sp>
      <p:graphicFrame>
        <p:nvGraphicFramePr>
          <p:cNvPr id="11" name="Chart 2" descr=""/>
          <p:cNvGraphicFramePr/>
          <p:nvPr/>
        </p:nvGraphicFramePr>
        <p:xfrm>
          <a:off x="8138160" y="1691640"/>
          <a:ext cx="3749040" cy="3566160"/>
        </p:xfrm>
        <a:graphic xmlns:a="http://schemas.openxmlformats.org/drawingml/2006/main">
          <a:graphicData uri="http://schemas.openxmlformats.org/drawingml/2006/chart">
            <c:chart xmlns:c="http://schemas.openxmlformats.org/drawingml/2006/chart" r:id="rId3"/>
          </a:graphicData>
        </a:graphic>
      </p:graphicFrame>
      <p:sp>
        <p:nvSpPr>
          <p:cNvPr id="12" name="Shape 7"/>
          <p:cNvSpPr/>
          <p:nvPr/>
        </p:nvSpPr>
        <p:spPr>
          <a:xfrm>
            <a:off x="548640" y="5486400"/>
            <a:ext cx="11091672" cy="685800"/>
          </a:xfrm>
          <a:prstGeom prst="rect">
            <a:avLst/>
          </a:prstGeom>
          <a:solidFill>
            <a:srgbClr val="F0F6FB"/>
          </a:solidFill>
          <a:ln/>
        </p:spPr>
      </p:sp>
      <p:sp>
        <p:nvSpPr>
          <p:cNvPr id="13" name="Text 8"/>
          <p:cNvSpPr/>
          <p:nvPr/>
        </p:nvSpPr>
        <p:spPr>
          <a:xfrm>
            <a:off x="777240" y="5486400"/>
            <a:ext cx="10607040" cy="685800"/>
          </a:xfrm>
          <a:prstGeom prst="rect">
            <a:avLst/>
          </a:prstGeom>
          <a:noFill/>
          <a:ln/>
        </p:spPr>
        <p:txBody>
          <a:bodyPr wrap="square" lIns="0" tIns="0" rIns="0" bIns="0" rtlCol="0" anchor="ctr"/>
          <a:lstStyle/>
          <a:p>
            <a:pPr indent="0" marL="0">
              <a:lnSpc>
                <a:spcPct val="125000"/>
              </a:lnSpc>
              <a:buNone/>
            </a:pPr>
            <a:r>
              <a:rPr lang="en-US" sz="1100" b="1" dirty="0">
                <a:solidFill>
                  <a:srgbClr val="176871"/>
                </a:solidFill>
                <a:latin typeface="Noto Sans JP" pitchFamily="34" charset="0"/>
                <a:ea typeface="Noto Sans JP" pitchFamily="34" charset="-122"/>
                <a:cs typeface="Noto Sans JP" pitchFamily="34" charset="-120"/>
              </a:rPr>
              <a:t>読み方: </a:t>
            </a:r>
            <a:pPr indent="0" marL="0">
              <a:lnSpc>
                <a:spcPct val="125000"/>
              </a:lnSpc>
              <a:buNone/>
            </a:pPr>
            <a:r>
              <a:rPr lang="en-US" sz="1100" dirty="0">
                <a:solidFill>
                  <a:srgbClr val="262626"/>
                </a:solidFill>
                <a:latin typeface="Noto Sans JP" pitchFamily="34" charset="0"/>
                <a:ea typeface="Noto Sans JP" pitchFamily="34" charset="-122"/>
                <a:cs typeface="Noto Sans JP" pitchFamily="34" charset="-120"/>
              </a:rPr>
              <a:t>夕方スパイク（蓄電池の放電原資）は風力大の日でも高いまま残る。風力の日内振幅は平均の14〜18%しかなく（太陽光は数倍）、日内の「形」を作らない — 効くのは水準</a:t>
            </a:r>
            <a:endParaRPr lang="en-US" sz="1100" dirty="0"/>
          </a:p>
        </p:txBody>
      </p:sp>
      <p:sp>
        <p:nvSpPr>
          <p:cNvPr id="14" name="Text 9"/>
          <p:cNvSpPr/>
          <p:nvPr/>
        </p:nvSpPr>
        <p:spPr>
          <a:xfrm>
            <a:off x="548640" y="6263640"/>
            <a:ext cx="10881360" cy="274320"/>
          </a:xfrm>
          <a:prstGeom prst="rect">
            <a:avLst/>
          </a:prstGeom>
          <a:noFill/>
          <a:ln/>
        </p:spPr>
        <p:txBody>
          <a:bodyPr wrap="square" lIns="0" tIns="0" rIns="0" bIns="0" rtlCol="0" anchor="ctr"/>
          <a:lstStyle/>
          <a:p>
            <a:pPr indent="0" marL="0">
              <a:buNone/>
            </a:pPr>
            <a:r>
              <a:rPr lang="en-US" sz="900" dirty="0">
                <a:solidFill>
                  <a:srgbClr val="595959"/>
                </a:solidFill>
                <a:latin typeface="Noto Sans JP" pitchFamily="34" charset="0"/>
                <a:ea typeface="Noto Sans JP" pitchFamily="34" charset="-122"/>
                <a:cs typeface="Noto Sans JP" pitchFamily="34" charset="-120"/>
              </a:rPr>
              <a:t>風力大/小＝各季節内で日次風力発電量（制御前）の上位/下位1/3の日（FY2023-25）。データは別添Excel「風力価格カーブ」で編集可</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5</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風力は価格に何をするか（2/2）— MOEの分位構造と、分断の駆動</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高い時間帯ほど強く効く風力MOEは連系線増強で減衰中 — 代わりに風力は「安値分断」を駆動し始めた</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344168"/>
            <a:ext cx="45720" cy="274320"/>
          </a:xfrm>
          <a:prstGeom prst="rect">
            <a:avLst/>
          </a:prstGeom>
          <a:solidFill>
            <a:srgbClr val="0079C2"/>
          </a:solidFill>
          <a:ln/>
        </p:spPr>
      </p:sp>
      <p:sp>
        <p:nvSpPr>
          <p:cNvPr id="7" name="Text 5"/>
          <p:cNvSpPr/>
          <p:nvPr/>
        </p:nvSpPr>
        <p:spPr>
          <a:xfrm>
            <a:off x="676656" y="132588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分位点回帰（Sakaguchi &amp; Fujii 2021 の再現・延長）</a:t>
            </a:r>
            <a:endParaRPr lang="en-US" sz="1300" dirty="0"/>
          </a:p>
        </p:txBody>
      </p:sp>
      <p:sp>
        <p:nvSpPr>
          <p:cNvPr id="8" name="Text 6"/>
          <p:cNvSpPr/>
          <p:nvPr/>
        </p:nvSpPr>
        <p:spPr>
          <a:xfrm>
            <a:off x="685800" y="1691640"/>
            <a:ext cx="10881360" cy="1554480"/>
          </a:xfrm>
          <a:prstGeom prst="rect">
            <a:avLst/>
          </a:prstGeom>
          <a:noFill/>
          <a:ln/>
        </p:spPr>
        <p:txBody>
          <a:bodyPr wrap="square" lIns="0" tIns="0" rIns="0" bIns="0" rtlCol="0" anchor="t"/>
          <a:lstStyle/>
          <a:p>
            <a:pPr marL="152400" indent="-152400">
              <a:lnSpc>
                <a:spcPct val="120000"/>
              </a:lnSpc>
              <a:spcAft>
                <a:spcPts val="600"/>
              </a:spcAft>
              <a:buSzPct val="100000"/>
              <a:buChar char="■"/>
            </a:pPr>
            <a:r>
              <a:rPr lang="en-US" sz="1200" b="1" dirty="0">
                <a:solidFill>
                  <a:srgbClr val="262626"/>
                </a:solidFill>
                <a:latin typeface="Noto Sans JP" pitchFamily="34" charset="0"/>
                <a:ea typeface="Noto Sans JP" pitchFamily="34" charset="-122"/>
                <a:cs typeface="Noto Sans JP" pitchFamily="34" charset="-120"/>
              </a:rPr>
              <a:t>高分位ほど強い風力MOE: τ0.9で−11.2円/kWh/GW（FY2016-19）→ FY2023-25は−4〜−7円へ減衰</a:t>
            </a:r>
            <a:endParaRPr lang="en-US" sz="1200" dirty="0"/>
          </a:p>
          <a:p>
            <a:pPr lvl="1" marL="254000" indent="-127000">
              <a:lnSpc>
                <a:spcPct val="120000"/>
              </a:lnSpc>
              <a:spcAft>
                <a:spcPts val="600"/>
              </a:spcAft>
              <a:buSzPct val="100000"/>
              <a:buChar char="–"/>
            </a:pPr>
            <a:r>
              <a:rPr lang="en-US" sz="1200" dirty="0">
                <a:solidFill>
                  <a:srgbClr val="262626"/>
                </a:solidFill>
                <a:latin typeface="Noto Sans JP" pitchFamily="34" charset="0"/>
                <a:ea typeface="Noto Sans JP" pitchFamily="34" charset="-122"/>
                <a:cs typeface="Noto Sans JP" pitchFamily="34" charset="-120"/>
              </a:rPr>
              <a:t>減衰の正体は北本増強・市場統合＝実効市場サイズの拡大。「シェアが増えるほどMOEが強まる」という単純な外挿は北海道では成立しない</a:t>
            </a:r>
            <a:endParaRPr lang="en-US" sz="1200" dirty="0"/>
          </a:p>
          <a:p>
            <a:pPr lvl="1" marL="254000" indent="-127000">
              <a:lnSpc>
                <a:spcPct val="120000"/>
              </a:lnSpc>
              <a:spcAft>
                <a:spcPts val="600"/>
              </a:spcAft>
              <a:buSzPct val="100000"/>
              <a:buChar char="–"/>
            </a:pPr>
            <a:r>
              <a:rPr lang="en-US" sz="1200" dirty="0">
                <a:solidFill>
                  <a:srgbClr val="262626"/>
                </a:solidFill>
                <a:latin typeface="Noto Sans JP" pitchFamily="34" charset="0"/>
                <a:ea typeface="Noto Sans JP" pitchFamily="34" charset="-122"/>
                <a:cs typeface="Noto Sans JP" pitchFamily="34" charset="-120"/>
              </a:rPr>
              <a:t>市場分断は方向が逆転: 高値分断87〜92% → 約60%、安値分断1〜5% → 約30%</a:t>
            </a:r>
            <a:endParaRPr lang="en-US" sz="1200" dirty="0"/>
          </a:p>
        </p:txBody>
      </p:sp>
      <p:sp>
        <p:nvSpPr>
          <p:cNvPr id="9" name="Shape 7"/>
          <p:cNvSpPr/>
          <p:nvPr/>
        </p:nvSpPr>
        <p:spPr>
          <a:xfrm>
            <a:off x="548640" y="3447288"/>
            <a:ext cx="45720" cy="274320"/>
          </a:xfrm>
          <a:prstGeom prst="rect">
            <a:avLst/>
          </a:prstGeom>
          <a:solidFill>
            <a:srgbClr val="0079C2"/>
          </a:solidFill>
          <a:ln/>
        </p:spPr>
      </p:sp>
      <p:sp>
        <p:nvSpPr>
          <p:cNvPr id="10" name="Text 8"/>
          <p:cNvSpPr/>
          <p:nvPr/>
        </p:nvSpPr>
        <p:spPr>
          <a:xfrm>
            <a:off x="676656" y="342900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風力は「安値分断」を駆動している（風力三分位別・時間/日、FY2023-25）</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6583680" cy="914400"/>
        </p:xfrm>
        <a:graphic>
          <a:graphicData uri="http://schemas.openxmlformats.org/drawingml/2006/table">
            <a:tbl>
              <a:tblPr/>
              <a:tblGrid>
                <a:gridCol w="1737360"/>
                <a:gridCol w="1600200"/>
                <a:gridCol w="1600200"/>
                <a:gridCol w="1645920"/>
              </a:tblGrid>
              <a:tr h="384048">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季節</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風力小の日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風力大の日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変化</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384048">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需要期・夏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8.1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10.3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+2.2</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需要期・冬</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3.1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8.3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+5.2（2.7倍）</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384048">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不需要期</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4.6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9.1 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+4.5（2.0倍）</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2" name="Shape 9"/>
          <p:cNvSpPr/>
          <p:nvPr/>
        </p:nvSpPr>
        <p:spPr>
          <a:xfrm>
            <a:off x="7406640" y="3794760"/>
            <a:ext cx="4233672" cy="1737360"/>
          </a:xfrm>
          <a:prstGeom prst="rect">
            <a:avLst/>
          </a:prstGeom>
          <a:solidFill>
            <a:srgbClr val="F0F6FB"/>
          </a:solidFill>
          <a:ln/>
        </p:spPr>
      </p:sp>
      <p:sp>
        <p:nvSpPr>
          <p:cNvPr id="13" name="Text 10"/>
          <p:cNvSpPr/>
          <p:nvPr/>
        </p:nvSpPr>
        <p:spPr>
          <a:xfrm>
            <a:off x="7635240" y="3794760"/>
            <a:ext cx="3794760" cy="1737360"/>
          </a:xfrm>
          <a:prstGeom prst="rect">
            <a:avLst/>
          </a:prstGeom>
          <a:noFill/>
          <a:ln/>
        </p:spPr>
        <p:txBody>
          <a:bodyPr wrap="square" lIns="0" tIns="0" rIns="0" bIns="0" rtlCol="0" anchor="ctr"/>
          <a:lstStyle/>
          <a:p>
            <a:pPr indent="0" marL="0">
              <a:lnSpc>
                <a:spcPct val="130000"/>
              </a:lnSpc>
              <a:buNone/>
            </a:pPr>
            <a:r>
              <a:rPr lang="en-US" sz="1050" b="1" dirty="0">
                <a:solidFill>
                  <a:srgbClr val="176871"/>
                </a:solidFill>
                <a:latin typeface="Noto Sans JP" pitchFamily="34" charset="0"/>
                <a:ea typeface="Noto Sans JP" pitchFamily="34" charset="-122"/>
                <a:cs typeface="Noto Sans JP" pitchFamily="34" charset="-120"/>
              </a:rPr>
              <a:t>含意: </a:t>
            </a:r>
            <a:pPr indent="0" marL="0">
              <a:lnSpc>
                <a:spcPct val="130000"/>
              </a:lnSpc>
              <a:buNone/>
            </a:pPr>
            <a:r>
              <a:rPr lang="en-US" sz="1050" dirty="0">
                <a:solidFill>
                  <a:srgbClr val="262626"/>
                </a:solidFill>
                <a:latin typeface="Noto Sans JP" pitchFamily="34" charset="0"/>
                <a:ea typeface="Noto Sans JP" pitchFamily="34" charset="-122"/>
                <a:cs typeface="Noto Sans JP" pitchFamily="34" charset="-120"/>
              </a:rPr>
              <a:t>風力が吹くと北本の輸出が飽和し、道内価格が本州から下方に切り離される。連系線と蓄電池は同じ余剰を取り合う競合であり、輸出が飽和した先の受け皿が蓄電池</a:t>
            </a:r>
            <a:endParaRPr lang="en-US" sz="1050" dirty="0"/>
          </a:p>
        </p:txBody>
      </p:sp>
      <p:sp>
        <p:nvSpPr>
          <p:cNvPr id="14" name="Text 11"/>
          <p:cNvSpPr/>
          <p:nvPr/>
        </p:nvSpPr>
        <p:spPr>
          <a:xfrm>
            <a:off x="548640" y="5943600"/>
            <a:ext cx="10881360" cy="274320"/>
          </a:xfrm>
          <a:prstGeom prst="rect">
            <a:avLst/>
          </a:prstGeom>
          <a:noFill/>
          <a:ln/>
        </p:spPr>
        <p:txBody>
          <a:bodyPr wrap="square" lIns="0" tIns="0" rIns="0" bIns="0" rtlCol="0" anchor="ctr"/>
          <a:lstStyle/>
          <a:p>
            <a:pPr indent="0" marL="0">
              <a:buNone/>
            </a:pPr>
            <a:r>
              <a:rPr lang="en-US" sz="900" dirty="0">
                <a:solidFill>
                  <a:srgbClr val="595959"/>
                </a:solidFill>
                <a:latin typeface="Noto Sans JP" pitchFamily="34" charset="0"/>
                <a:ea typeface="Noto Sans JP" pitchFamily="34" charset="-122"/>
                <a:cs typeface="Noto Sans JP" pitchFamily="34" charset="-120"/>
              </a:rPr>
              <a:t>安値分断＝道内価格＜システムプライス−0.01円の時間。分位点回帰は打ち切り対応（0.01円床）。データ: 別添Excel「風力×裁定指標」</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6</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蓄電池価値の実測（1/3）— 床は九州の半分、価値は九州並み</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北海道の裁定価値の源泉は「昼の床」ではなく「夕方スパイク」— 風力がスパイクを削らないからこそ成立している構図</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Text 4"/>
          <p:cNvSpPr/>
          <p:nvPr/>
        </p:nvSpPr>
        <p:spPr>
          <a:xfrm>
            <a:off x="548640" y="1371600"/>
            <a:ext cx="6400800" cy="3291840"/>
          </a:xfrm>
          <a:prstGeom prst="rect">
            <a:avLst/>
          </a:prstGeom>
          <a:noFill/>
          <a:ln/>
        </p:spPr>
        <p:txBody>
          <a:bodyPr wrap="square" lIns="0" tIns="0" rIns="0" bIns="0" rtlCol="0" anchor="t"/>
          <a:lstStyle/>
          <a:p>
            <a:pPr marL="152400" indent="-152400">
              <a:lnSpc>
                <a:spcPct val="120000"/>
              </a:lnSpc>
              <a:spcAft>
                <a:spcPts val="900"/>
              </a:spcAft>
              <a:buSzPct val="100000"/>
              <a:buChar char="■"/>
            </a:pPr>
            <a:r>
              <a:rPr lang="en-US" sz="1200" b="1" dirty="0">
                <a:solidFill>
                  <a:srgbClr val="262626"/>
                </a:solidFill>
                <a:latin typeface="Noto Sans JP" pitchFamily="34" charset="0"/>
                <a:ea typeface="Noto Sans JP" pitchFamily="34" charset="-122"/>
                <a:cs typeface="Noto Sans JP" pitchFamily="34" charset="-120"/>
              </a:rPr>
              <a:t>床コマ（0.01円/kWh）は年473コマ ＝ 九州の約半分。ダックカーブは形成途上</a:t>
            </a:r>
            <a:endParaRPr lang="en-US" sz="1200" dirty="0"/>
          </a:p>
          <a:p>
            <a:pPr marL="152400" indent="-152400">
              <a:lnSpc>
                <a:spcPct val="120000"/>
              </a:lnSpc>
              <a:spcAft>
                <a:spcPts val="900"/>
              </a:spcAft>
              <a:buSzPct val="100000"/>
              <a:buChar char="■"/>
            </a:pPr>
            <a:r>
              <a:rPr lang="en-US" sz="1200" b="1" dirty="0">
                <a:solidFill>
                  <a:srgbClr val="262626"/>
                </a:solidFill>
                <a:latin typeface="Noto Sans JP" pitchFamily="34" charset="0"/>
                <a:ea typeface="Noto Sans JP" pitchFamily="34" charset="-122"/>
                <a:cs typeface="Noto Sans JP" pitchFamily="34" charset="-120"/>
              </a:rPr>
              <a:t>完全予見4h裁定価値（PF）は0.96〜1.15万円/kW-年で九州と同水準</a:t>
            </a:r>
            <a:endParaRPr lang="en-US" sz="1200" dirty="0"/>
          </a:p>
          <a:p>
            <a:pPr lvl="1" marL="254000" indent="-127000">
              <a:lnSpc>
                <a:spcPct val="120000"/>
              </a:lnSpc>
              <a:spcAft>
                <a:spcPts val="900"/>
              </a:spcAft>
              <a:buSzPct val="100000"/>
              <a:buChar char="–"/>
            </a:pPr>
            <a:r>
              <a:rPr lang="en-US" sz="1200" dirty="0">
                <a:solidFill>
                  <a:srgbClr val="262626"/>
                </a:solidFill>
                <a:latin typeface="Noto Sans JP" pitchFamily="34" charset="0"/>
                <a:ea typeface="Noto Sans JP" pitchFamily="34" charset="-122"/>
                <a:cs typeface="Noto Sans JP" pitchFamily="34" charset="-120"/>
              </a:rPr>
              <a:t>九州: 太陽光が作る昼の床（安値側）が源泉 ／ 北海道: 夕方スパイク（高値側）が源泉</a:t>
            </a:r>
            <a:endParaRPr lang="en-US" sz="1200" dirty="0"/>
          </a:p>
          <a:p>
            <a:pPr lvl="1" marL="254000" indent="-127000">
              <a:lnSpc>
                <a:spcPct val="120000"/>
              </a:lnSpc>
              <a:spcAft>
                <a:spcPts val="900"/>
              </a:spcAft>
              <a:buSzPct val="100000"/>
              <a:buChar char="–"/>
            </a:pPr>
            <a:r>
              <a:rPr lang="en-US" sz="1200" dirty="0">
                <a:solidFill>
                  <a:srgbClr val="262626"/>
                </a:solidFill>
                <a:latin typeface="Noto Sans JP" pitchFamily="34" charset="0"/>
                <a:ea typeface="Noto Sans JP" pitchFamily="34" charset="-122"/>
                <a:cs typeface="Noto Sans JP" pitchFamily="34" charset="-120"/>
              </a:rPr>
              <a:t>前頁の価格カーブが示す通り、風力はスパイクをほとんど削らない → 放電側の原資は当面頑健</a:t>
            </a:r>
            <a:endParaRPr lang="en-US" sz="1200" dirty="0"/>
          </a:p>
          <a:p>
            <a:pPr marL="152400" indent="-152400">
              <a:lnSpc>
                <a:spcPct val="120000"/>
              </a:lnSpc>
              <a:spcAft>
                <a:spcPts val="400"/>
              </a:spcAft>
              <a:buSzPct val="100000"/>
              <a:buChar char="■"/>
            </a:pPr>
            <a:r>
              <a:rPr lang="en-US" sz="1200" b="1" dirty="0">
                <a:solidFill>
                  <a:srgbClr val="262626"/>
                </a:solidFill>
                <a:latin typeface="Noto Sans JP" pitchFamily="34" charset="0"/>
                <a:ea typeface="Noto Sans JP" pitchFamily="34" charset="-122"/>
                <a:cs typeface="Noto Sans JP" pitchFamily="34" charset="-120"/>
              </a:rPr>
              <a:t>床がまだ少ない＝充電側の「タダ同然の電気」はこれから — 風力・泊がそれを作る（後段のスイープへ）</a:t>
            </a:r>
            <a:endParaRPr lang="en-US" sz="1200" dirty="0"/>
          </a:p>
        </p:txBody>
      </p:sp>
      <p:sp>
        <p:nvSpPr>
          <p:cNvPr id="7" name="Shape 5"/>
          <p:cNvSpPr/>
          <p:nvPr/>
        </p:nvSpPr>
        <p:spPr>
          <a:xfrm>
            <a:off x="7315200" y="1371600"/>
            <a:ext cx="4325112" cy="1097280"/>
          </a:xfrm>
          <a:prstGeom prst="rect">
            <a:avLst/>
          </a:prstGeom>
          <a:solidFill>
            <a:srgbClr val="F0F6FB"/>
          </a:solidFill>
          <a:ln/>
        </p:spPr>
      </p:sp>
      <p:sp>
        <p:nvSpPr>
          <p:cNvPr id="8" name="Text 6"/>
          <p:cNvSpPr/>
          <p:nvPr/>
        </p:nvSpPr>
        <p:spPr>
          <a:xfrm>
            <a:off x="7543800" y="1508760"/>
            <a:ext cx="3931920" cy="457200"/>
          </a:xfrm>
          <a:prstGeom prst="rect">
            <a:avLst/>
          </a:prstGeom>
          <a:noFill/>
          <a:ln/>
        </p:spPr>
        <p:txBody>
          <a:bodyPr wrap="square" lIns="0" tIns="0" rIns="0" bIns="0" rtlCol="0" anchor="ctr"/>
          <a:lstStyle/>
          <a:p>
            <a:pPr indent="0" marL="0">
              <a:buNone/>
            </a:pPr>
            <a:r>
              <a:rPr lang="en-US" sz="1700" b="1" dirty="0">
                <a:solidFill>
                  <a:srgbClr val="176871"/>
                </a:solidFill>
                <a:latin typeface="Noto Sans JP SemiBold" pitchFamily="34" charset="0"/>
                <a:ea typeface="Noto Sans JP SemiBold" pitchFamily="34" charset="-122"/>
                <a:cs typeface="Noto Sans JP SemiBold" pitchFamily="34" charset="-120"/>
              </a:rPr>
              <a:t>473コマ/年</a:t>
            </a:r>
            <a:endParaRPr lang="en-US" sz="1700" dirty="0"/>
          </a:p>
        </p:txBody>
      </p:sp>
      <p:sp>
        <p:nvSpPr>
          <p:cNvPr id="9" name="Text 7"/>
          <p:cNvSpPr/>
          <p:nvPr/>
        </p:nvSpPr>
        <p:spPr>
          <a:xfrm>
            <a:off x="7543800" y="1993392"/>
            <a:ext cx="3931920" cy="365760"/>
          </a:xfrm>
          <a:prstGeom prst="rect">
            <a:avLst/>
          </a:prstGeom>
          <a:noFill/>
          <a:ln/>
        </p:spPr>
        <p:txBody>
          <a:bodyPr wrap="square" lIns="0" tIns="0" rIns="0" bIns="0" rtlCol="0" anchor="ctr"/>
          <a:lstStyle/>
          <a:p>
            <a:pPr indent="0" marL="0">
              <a:buNone/>
            </a:pPr>
            <a:r>
              <a:rPr lang="en-US" sz="1000" dirty="0">
                <a:solidFill>
                  <a:srgbClr val="595959"/>
                </a:solidFill>
                <a:latin typeface="Noto Sans JP" pitchFamily="34" charset="0"/>
                <a:ea typeface="Noto Sans JP" pitchFamily="34" charset="-122"/>
                <a:cs typeface="Noto Sans JP" pitchFamily="34" charset="-120"/>
              </a:rPr>
              <a:t>床コマ（九州の約半分）</a:t>
            </a:r>
            <a:endParaRPr lang="en-US" sz="1000" dirty="0"/>
          </a:p>
        </p:txBody>
      </p:sp>
      <p:sp>
        <p:nvSpPr>
          <p:cNvPr id="10" name="Shape 8"/>
          <p:cNvSpPr/>
          <p:nvPr/>
        </p:nvSpPr>
        <p:spPr>
          <a:xfrm>
            <a:off x="7315200" y="2606040"/>
            <a:ext cx="4325112" cy="1097280"/>
          </a:xfrm>
          <a:prstGeom prst="rect">
            <a:avLst/>
          </a:prstGeom>
          <a:solidFill>
            <a:srgbClr val="F0F6FB"/>
          </a:solidFill>
          <a:ln/>
        </p:spPr>
      </p:sp>
      <p:sp>
        <p:nvSpPr>
          <p:cNvPr id="11" name="Text 9"/>
          <p:cNvSpPr/>
          <p:nvPr/>
        </p:nvSpPr>
        <p:spPr>
          <a:xfrm>
            <a:off x="7543800" y="2743200"/>
            <a:ext cx="3931920" cy="457200"/>
          </a:xfrm>
          <a:prstGeom prst="rect">
            <a:avLst/>
          </a:prstGeom>
          <a:noFill/>
          <a:ln/>
        </p:spPr>
        <p:txBody>
          <a:bodyPr wrap="square" lIns="0" tIns="0" rIns="0" bIns="0" rtlCol="0" anchor="ctr"/>
          <a:lstStyle/>
          <a:p>
            <a:pPr indent="0" marL="0">
              <a:buNone/>
            </a:pPr>
            <a:r>
              <a:rPr lang="en-US" sz="1700" b="1" dirty="0">
                <a:solidFill>
                  <a:srgbClr val="176871"/>
                </a:solidFill>
                <a:latin typeface="Noto Sans JP SemiBold" pitchFamily="34" charset="0"/>
                <a:ea typeface="Noto Sans JP SemiBold" pitchFamily="34" charset="-122"/>
                <a:cs typeface="Noto Sans JP SemiBold" pitchFamily="34" charset="-120"/>
              </a:rPr>
              <a:t>0.96〜1.15万円/kW-年</a:t>
            </a:r>
            <a:endParaRPr lang="en-US" sz="1700" dirty="0"/>
          </a:p>
        </p:txBody>
      </p:sp>
      <p:sp>
        <p:nvSpPr>
          <p:cNvPr id="12" name="Text 10"/>
          <p:cNvSpPr/>
          <p:nvPr/>
        </p:nvSpPr>
        <p:spPr>
          <a:xfrm>
            <a:off x="7543800" y="3227832"/>
            <a:ext cx="3931920" cy="365760"/>
          </a:xfrm>
          <a:prstGeom prst="rect">
            <a:avLst/>
          </a:prstGeom>
          <a:noFill/>
          <a:ln/>
        </p:spPr>
        <p:txBody>
          <a:bodyPr wrap="square" lIns="0" tIns="0" rIns="0" bIns="0" rtlCol="0" anchor="ctr"/>
          <a:lstStyle/>
          <a:p>
            <a:pPr indent="0" marL="0">
              <a:buNone/>
            </a:pPr>
            <a:r>
              <a:rPr lang="en-US" sz="1000" dirty="0">
                <a:solidFill>
                  <a:srgbClr val="595959"/>
                </a:solidFill>
                <a:latin typeface="Noto Sans JP" pitchFamily="34" charset="0"/>
                <a:ea typeface="Noto Sans JP" pitchFamily="34" charset="-122"/>
                <a:cs typeface="Noto Sans JP" pitchFamily="34" charset="-120"/>
              </a:rPr>
              <a:t>PF価値（九州と同水準）</a:t>
            </a:r>
            <a:endParaRPr lang="en-US" sz="1000" dirty="0"/>
          </a:p>
        </p:txBody>
      </p:sp>
      <p:sp>
        <p:nvSpPr>
          <p:cNvPr id="13" name="Shape 11"/>
          <p:cNvSpPr/>
          <p:nvPr/>
        </p:nvSpPr>
        <p:spPr>
          <a:xfrm>
            <a:off x="7315200" y="3840480"/>
            <a:ext cx="4325112" cy="1097280"/>
          </a:xfrm>
          <a:prstGeom prst="rect">
            <a:avLst/>
          </a:prstGeom>
          <a:solidFill>
            <a:srgbClr val="F0F6FB"/>
          </a:solidFill>
          <a:ln/>
        </p:spPr>
      </p:sp>
      <p:sp>
        <p:nvSpPr>
          <p:cNvPr id="14" name="Text 12"/>
          <p:cNvSpPr/>
          <p:nvPr/>
        </p:nvSpPr>
        <p:spPr>
          <a:xfrm>
            <a:off x="7543800" y="3977640"/>
            <a:ext cx="3931920" cy="457200"/>
          </a:xfrm>
          <a:prstGeom prst="rect">
            <a:avLst/>
          </a:prstGeom>
          <a:noFill/>
          <a:ln/>
        </p:spPr>
        <p:txBody>
          <a:bodyPr wrap="square" lIns="0" tIns="0" rIns="0" bIns="0" rtlCol="0" anchor="ctr"/>
          <a:lstStyle/>
          <a:p>
            <a:pPr indent="0" marL="0">
              <a:buNone/>
            </a:pPr>
            <a:r>
              <a:rPr lang="en-US" sz="1700" b="1" dirty="0">
                <a:solidFill>
                  <a:srgbClr val="176871"/>
                </a:solidFill>
                <a:latin typeface="Noto Sans JP SemiBold" pitchFamily="34" charset="0"/>
                <a:ea typeface="Noto Sans JP SemiBold" pitchFamily="34" charset="-122"/>
                <a:cs typeface="Noto Sans JP SemiBold" pitchFamily="34" charset="-120"/>
              </a:rPr>
              <a:t>夕方スパイク</a:t>
            </a:r>
            <a:endParaRPr lang="en-US" sz="1700" dirty="0"/>
          </a:p>
        </p:txBody>
      </p:sp>
      <p:sp>
        <p:nvSpPr>
          <p:cNvPr id="15" name="Text 13"/>
          <p:cNvSpPr/>
          <p:nvPr/>
        </p:nvSpPr>
        <p:spPr>
          <a:xfrm>
            <a:off x="7543800" y="4462272"/>
            <a:ext cx="3931920" cy="365760"/>
          </a:xfrm>
          <a:prstGeom prst="rect">
            <a:avLst/>
          </a:prstGeom>
          <a:noFill/>
          <a:ln/>
        </p:spPr>
        <p:txBody>
          <a:bodyPr wrap="square" lIns="0" tIns="0" rIns="0" bIns="0" rtlCol="0" anchor="ctr"/>
          <a:lstStyle/>
          <a:p>
            <a:pPr indent="0" marL="0">
              <a:buNone/>
            </a:pPr>
            <a:r>
              <a:rPr lang="en-US" sz="1000" dirty="0">
                <a:solidFill>
                  <a:srgbClr val="595959"/>
                </a:solidFill>
                <a:latin typeface="Noto Sans JP" pitchFamily="34" charset="0"/>
                <a:ea typeface="Noto Sans JP" pitchFamily="34" charset="-122"/>
                <a:cs typeface="Noto Sans JP" pitchFamily="34" charset="-120"/>
              </a:rPr>
              <a:t>価値の源泉（九州は昼の床）</a:t>
            </a:r>
            <a:endParaRPr lang="en-US" sz="1000" dirty="0"/>
          </a:p>
        </p:txBody>
      </p:sp>
      <p:sp>
        <p:nvSpPr>
          <p:cNvPr id="16" name="Text 14"/>
          <p:cNvSpPr/>
          <p:nvPr/>
        </p:nvSpPr>
        <p:spPr>
          <a:xfrm>
            <a:off x="548640" y="5943600"/>
            <a:ext cx="10881360" cy="274320"/>
          </a:xfrm>
          <a:prstGeom prst="rect">
            <a:avLst/>
          </a:prstGeom>
          <a:noFill/>
          <a:ln/>
        </p:spPr>
        <p:txBody>
          <a:bodyPr wrap="square" lIns="0" tIns="0" rIns="0" bIns="0" rtlCol="0" anchor="ctr"/>
          <a:lstStyle/>
          <a:p>
            <a:pPr indent="0" marL="0">
              <a:buNone/>
            </a:pPr>
            <a:r>
              <a:rPr lang="en-US" sz="900" dirty="0">
                <a:solidFill>
                  <a:srgbClr val="595959"/>
                </a:solidFill>
                <a:latin typeface="Noto Sans JP" pitchFamily="34" charset="0"/>
                <a:ea typeface="Noto Sans JP" pitchFamily="34" charset="-122"/>
                <a:cs typeface="Noto Sans JP" pitchFamily="34" charset="-120"/>
              </a:rPr>
              <a:t>PF＝完全予見・4時間・往復効率0.85・1日1サイクル。床コマはエリアプライス30分値。九州比較は前回発表と同一手法</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7</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蓄電池価値の実測（2/3）— 現在の風力水準では、風力大の日は価値を「やや下げる」</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平行シフトはスプレッドを微圧縮（冬は−19%）。床はまだほぼ出ない — 「床に届く前」の段階にいる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600200"/>
                <a:gridCol w="1417320"/>
                <a:gridCol w="2011680"/>
                <a:gridCol w="2514600"/>
                <a:gridCol w="1691640"/>
                <a:gridCol w="1856232"/>
              </a:tblGrid>
              <a:tr h="420624">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季節</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風力三分位</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TB4hスプレッド</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PF粗利（円/kW-日）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床時間（h/日）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安値分断（h/日）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420624">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需要期・夏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風力小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10.72円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31.2</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0.13</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8.1</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indent="0" marL="0">
                        <a:buNone/>
                      </a:pP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風力大</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10.38円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30.7</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0.06</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10.3</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420624">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需要期・冬</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風力小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7.24円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19.0</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0.02</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3.1</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indent="0" marL="0">
                        <a:buNone/>
                      </a:pP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262626"/>
                          </a:solidFill>
                          <a:latin typeface="Noto Sans JP" pitchFamily="34" charset="0"/>
                          <a:ea typeface="Noto Sans JP" pitchFamily="34" charset="-122"/>
                          <a:cs typeface="Noto Sans JP" pitchFamily="34" charset="-120"/>
                        </a:rPr>
                        <a:t>風力大</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5.92円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15.3（−19%）</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0.04</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262626"/>
                          </a:solidFill>
                          <a:latin typeface="Noto Sans JP" pitchFamily="34" charset="0"/>
                          <a:ea typeface="Noto Sans JP" pitchFamily="34" charset="-122"/>
                          <a:cs typeface="Noto Sans JP" pitchFamily="34" charset="-120"/>
                        </a:rPr>
                        <a:t>8.3</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420624">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不需要期</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風力小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11.38円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35.1</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0.89</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4.6</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indent="0" marL="0">
                        <a:buNone/>
                      </a:pP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風力大</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10.55円</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32.8</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1.37</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9.1</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7" name="Shape 4"/>
          <p:cNvSpPr/>
          <p:nvPr/>
        </p:nvSpPr>
        <p:spPr>
          <a:xfrm>
            <a:off x="548640" y="4572000"/>
            <a:ext cx="11091672" cy="1371600"/>
          </a:xfrm>
          <a:prstGeom prst="rect">
            <a:avLst/>
          </a:prstGeom>
          <a:solidFill>
            <a:srgbClr val="F0F6FB"/>
          </a:solidFill>
          <a:ln/>
        </p:spPr>
      </p:sp>
      <p:sp>
        <p:nvSpPr>
          <p:cNvPr id="8" name="Text 5"/>
          <p:cNvSpPr/>
          <p:nvPr/>
        </p:nvSpPr>
        <p:spPr>
          <a:xfrm>
            <a:off x="777240" y="4572000"/>
            <a:ext cx="10607040" cy="1371600"/>
          </a:xfrm>
          <a:prstGeom prst="rect">
            <a:avLst/>
          </a:prstGeom>
          <a:noFill/>
          <a:ln/>
        </p:spPr>
        <p:txBody>
          <a:bodyPr wrap="square" lIns="0" tIns="0" rIns="0" bIns="0" rtlCol="0" anchor="ctr"/>
          <a:lstStyle/>
          <a:p>
            <a:pPr indent="0" marL="0">
              <a:lnSpc>
                <a:spcPct val="130000"/>
              </a:lnSpc>
              <a:buNone/>
            </a:pPr>
            <a:r>
              <a:rPr lang="en-US" sz="1150" b="1" dirty="0">
                <a:solidFill>
                  <a:srgbClr val="176871"/>
                </a:solidFill>
                <a:latin typeface="Noto Sans JP" pitchFamily="34" charset="0"/>
                <a:ea typeface="Noto Sans JP" pitchFamily="34" charset="-122"/>
                <a:cs typeface="Noto Sans JP" pitchFamily="34" charset="-120"/>
              </a:rPr>
              <a:t>読み方: </a:t>
            </a:r>
            <a:pPr indent="0" marL="0">
              <a:lnSpc>
                <a:spcPct val="130000"/>
              </a:lnSpc>
              <a:buNone/>
            </a:pPr>
            <a:r>
              <a:rPr lang="en-US" sz="1150" dirty="0">
                <a:solidFill>
                  <a:srgbClr val="262626"/>
                </a:solidFill>
                <a:latin typeface="Noto Sans JP" pitchFamily="34" charset="0"/>
                <a:ea typeface="Noto Sans JP" pitchFamily="34" charset="-122"/>
                <a:cs typeface="Noto Sans JP" pitchFamily="34" charset="-120"/>
              </a:rPr>
              <a:t>①風力大の日はスプレッドがやや縮む（平行シフト＋輸出飽和による全体安）＝ 目先の蓄電池には微マイナス。②しかし床時間はまだほぼゼロ — 風力は「タダの電気」をまだ作れていない。③安値分断だけが急増しており、輸出の受け皿が飽和した次に床が現れる。この転換を導入量の軸で見るのが次々頁のスイープ</a:t>
            </a:r>
            <a:endParaRPr lang="en-US" sz="1150" dirty="0"/>
          </a:p>
        </p:txBody>
      </p:sp>
      <p:sp>
        <p:nvSpPr>
          <p:cNvPr id="9" name="Text 6"/>
          <p:cNvSpPr/>
          <p:nvPr/>
        </p:nvSpPr>
        <p:spPr>
          <a:xfrm>
            <a:off x="548640" y="6080760"/>
            <a:ext cx="10881360" cy="274320"/>
          </a:xfrm>
          <a:prstGeom prst="rect">
            <a:avLst/>
          </a:prstGeom>
          <a:noFill/>
          <a:ln/>
        </p:spPr>
        <p:txBody>
          <a:bodyPr wrap="square" lIns="0" tIns="0" rIns="0" bIns="0" rtlCol="0" anchor="ctr"/>
          <a:lstStyle/>
          <a:p>
            <a:pPr indent="0" marL="0">
              <a:buNone/>
            </a:pPr>
            <a:r>
              <a:rPr lang="en-US" sz="900" dirty="0">
                <a:solidFill>
                  <a:srgbClr val="595959"/>
                </a:solidFill>
                <a:latin typeface="Noto Sans JP" pitchFamily="34" charset="0"/>
                <a:ea typeface="Noto Sans JP" pitchFamily="34" charset="-122"/>
                <a:cs typeface="Noto Sans JP" pitchFamily="34" charset="-120"/>
              </a:rPr>
              <a:t>風力三分位＝各季節内の日次風力発電量（制御前）による3等分（FY2023-25）。データ: 別添Excel「風力×裁定指標」</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8</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蓄電池価値の実測（3/3）— 実行可能戦略と「風力ノイズは前日情報で取れない」</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捕捉率の最善は単純な平均化（気候値）の81〜83% — 風力主導の価格変動は前日時点でほぼ予測不能</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Text 4"/>
          <p:cNvSpPr/>
          <p:nvPr/>
        </p:nvSpPr>
        <p:spPr>
          <a:xfrm>
            <a:off x="548640" y="1371600"/>
            <a:ext cx="6126480" cy="4572000"/>
          </a:xfrm>
          <a:prstGeom prst="rect">
            <a:avLst/>
          </a:prstGeom>
          <a:noFill/>
          <a:ln/>
        </p:spPr>
        <p:txBody>
          <a:bodyPr wrap="square" lIns="0" tIns="0" rIns="0" bIns="0" rtlCol="0" anchor="t"/>
          <a:lstStyle/>
          <a:p>
            <a:pPr marL="152400" indent="-152400">
              <a:lnSpc>
                <a:spcPct val="120000"/>
              </a:lnSpc>
              <a:spcAft>
                <a:spcPts val="700"/>
              </a:spcAft>
              <a:buSzPct val="100000"/>
              <a:buChar char="■"/>
            </a:pPr>
            <a:r>
              <a:rPr lang="en-US" sz="1150" b="1" dirty="0">
                <a:solidFill>
                  <a:srgbClr val="262626"/>
                </a:solidFill>
                <a:latin typeface="Noto Sans JP" pitchFamily="34" charset="0"/>
                <a:ea typeface="Noto Sans JP" pitchFamily="34" charset="-122"/>
                <a:cs typeface="Noto Sans JP" pitchFamily="34" charset="-120"/>
              </a:rPr>
              <a:t>実行可能戦略のcapture率（完全予見PF=100%、FY2023-25）</a:t>
            </a:r>
            <a:endParaRPr lang="en-US" sz="1150" dirty="0"/>
          </a:p>
          <a:p>
            <a:pPr lvl="1" marL="254000" indent="-127000">
              <a:lnSpc>
                <a:spcPct val="120000"/>
              </a:lnSpc>
              <a:spcAft>
                <a:spcPts val="700"/>
              </a:spcAft>
              <a:buSzPct val="100000"/>
              <a:buChar char="–"/>
            </a:pPr>
            <a:r>
              <a:rPr lang="en-US" sz="1150" dirty="0">
                <a:solidFill>
                  <a:srgbClr val="262626"/>
                </a:solidFill>
                <a:latin typeface="Noto Sans JP" pitchFamily="34" charset="0"/>
                <a:ea typeface="Noto Sans JP" pitchFamily="34" charset="-122"/>
                <a:cs typeface="Noto Sans JP" pitchFamily="34" charset="-120"/>
              </a:rPr>
              <a:t>a. 前日の実現価格ランク: 68.0〜69.3% — 昨日の風力ノイズを追いかけて自滅</a:t>
            </a:r>
            <a:endParaRPr lang="en-US" sz="1150" dirty="0"/>
          </a:p>
          <a:p>
            <a:pPr lvl="1" marL="254000" indent="-127000">
              <a:lnSpc>
                <a:spcPct val="120000"/>
              </a:lnSpc>
              <a:spcAft>
                <a:spcPts val="700"/>
              </a:spcAft>
              <a:buSzPct val="100000"/>
              <a:buChar char="–"/>
            </a:pPr>
            <a:r>
              <a:rPr lang="en-US" sz="1150" dirty="0">
                <a:solidFill>
                  <a:srgbClr val="262626"/>
                </a:solidFill>
                <a:latin typeface="Noto Sans JP" pitchFamily="34" charset="0"/>
                <a:ea typeface="Noto Sans JP" pitchFamily="34" charset="-122"/>
                <a:cs typeface="Noto Sans JP" pitchFamily="34" charset="-120"/>
              </a:rPr>
              <a:t>a2. 同曜日区分の直近日: 68.6〜70.4%（日タイプ補正は+1ptのみ）</a:t>
            </a:r>
            <a:endParaRPr lang="en-US" sz="1150" dirty="0"/>
          </a:p>
          <a:p>
            <a:pPr lvl="1" marL="254000" indent="-127000">
              <a:lnSpc>
                <a:spcPct val="120000"/>
              </a:lnSpc>
              <a:spcAft>
                <a:spcPts val="700"/>
              </a:spcAft>
              <a:buSzPct val="100000"/>
              <a:buChar char="–"/>
            </a:pPr>
            <a:r>
              <a:rPr lang="en-US" sz="1150" b="1" dirty="0">
                <a:solidFill>
                  <a:srgbClr val="262626"/>
                </a:solidFill>
                <a:latin typeface="Noto Sans JP" pitchFamily="34" charset="0"/>
                <a:ea typeface="Noto Sans JP" pitchFamily="34" charset="-122"/>
                <a:cs typeface="Noto Sans JP" pitchFamily="34" charset="-120"/>
              </a:rPr>
              <a:t>c. 過去28日・同区分の平均価格ランク（気候値）: 80.6〜82.6% ＝ 最善</a:t>
            </a:r>
            <a:endParaRPr lang="en-US" sz="1150" dirty="0"/>
          </a:p>
          <a:p>
            <a:pPr lvl="1" marL="254000" indent="-127000">
              <a:lnSpc>
                <a:spcPct val="120000"/>
              </a:lnSpc>
              <a:spcAft>
                <a:spcPts val="700"/>
              </a:spcAft>
              <a:buSzPct val="100000"/>
              <a:buChar char="–"/>
            </a:pPr>
            <a:r>
              <a:rPr lang="en-US" sz="1150" dirty="0">
                <a:solidFill>
                  <a:srgbClr val="262626"/>
                </a:solidFill>
                <a:latin typeface="Noto Sans JP" pitchFamily="34" charset="0"/>
                <a:ea typeface="Noto Sans JP" pitchFamily="34" charset="-122"/>
                <a:cs typeface="Noto Sans JP" pitchFamily="34" charset="-120"/>
              </a:rPr>
              <a:t>b. 予測残余需要ランク（需要28日−太陽光7日平均）: 77.3〜80.8%</a:t>
            </a:r>
            <a:endParaRPr lang="en-US" sz="1150" dirty="0"/>
          </a:p>
          <a:p>
            <a:pPr marL="152400" indent="-152400">
              <a:lnSpc>
                <a:spcPct val="120000"/>
              </a:lnSpc>
              <a:spcAft>
                <a:spcPts val="400"/>
              </a:spcAft>
              <a:buSzPct val="100000"/>
              <a:buChar char="■"/>
            </a:pPr>
            <a:r>
              <a:rPr lang="en-US" sz="1150" dirty="0">
                <a:solidFill>
                  <a:srgbClr val="262626"/>
                </a:solidFill>
                <a:latin typeface="Noto Sans JP" pitchFamily="34" charset="0"/>
                <a:ea typeface="Noto Sans JP" pitchFamily="34" charset="-122"/>
                <a:cs typeface="Noto Sans JP" pitchFamily="34" charset="-120"/>
              </a:rPr>
              <a:t>含意①: 価格形状＝安定した骨格＋ほぼ無相関の風力ノイズ。骨格は平均化で取り尽くせ、ノイズは前日情報では取れない（風力持続性の追加も改善ゼロ）</a:t>
            </a:r>
            <a:endParaRPr lang="en-US" sz="1150" dirty="0"/>
          </a:p>
          <a:p>
            <a:pPr marL="152400" indent="-152400">
              <a:lnSpc>
                <a:spcPct val="120000"/>
              </a:lnSpc>
              <a:spcAft>
                <a:spcPts val="700"/>
              </a:spcAft>
              <a:buSzPct val="100000"/>
              <a:buChar char="■"/>
            </a:pPr>
            <a:r>
              <a:rPr lang="en-US" sz="1150" b="1" dirty="0">
                <a:solidFill>
                  <a:srgbClr val="262626"/>
                </a:solidFill>
                <a:latin typeface="Noto Sans JP" pitchFamily="34" charset="0"/>
                <a:ea typeface="Noto Sans JP" pitchFamily="34" charset="-122"/>
                <a:cs typeface="Noto Sans JP" pitchFamily="34" charset="-120"/>
              </a:rPr>
              <a:t>含意②: 実現可能収益のヘアカットは約18〜19%（気候値ベース）— 均衡計算の校正係数に使用</a:t>
            </a:r>
            <a:endParaRPr lang="en-US" sz="1150" dirty="0"/>
          </a:p>
        </p:txBody>
      </p:sp>
      <p:sp>
        <p:nvSpPr>
          <p:cNvPr id="7" name="Shape 5"/>
          <p:cNvSpPr/>
          <p:nvPr/>
        </p:nvSpPr>
        <p:spPr>
          <a:xfrm>
            <a:off x="6949440" y="1344168"/>
            <a:ext cx="45720" cy="274320"/>
          </a:xfrm>
          <a:prstGeom prst="rect">
            <a:avLst/>
          </a:prstGeom>
          <a:solidFill>
            <a:srgbClr val="0079C2"/>
          </a:solidFill>
          <a:ln/>
        </p:spPr>
      </p:sp>
      <p:sp>
        <p:nvSpPr>
          <p:cNvPr id="8" name="Text 6"/>
          <p:cNvSpPr/>
          <p:nvPr/>
        </p:nvSpPr>
        <p:spPr>
          <a:xfrm>
            <a:off x="7077456" y="1325880"/>
            <a:ext cx="466344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capture率（PF＝100%）</a:t>
            </a:r>
            <a:endParaRPr lang="en-US" sz="1300" dirty="0"/>
          </a:p>
        </p:txBody>
      </p:sp>
      <p:graphicFrame>
        <p:nvGraphicFramePr>
          <p:cNvPr id="9" name="Chart 0" descr=""/>
          <p:cNvGraphicFramePr/>
          <p:nvPr/>
        </p:nvGraphicFramePr>
        <p:xfrm>
          <a:off x="6949440" y="1737360"/>
          <a:ext cx="466344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6949440" y="5760720"/>
            <a:ext cx="4663440" cy="274320"/>
          </a:xfrm>
          <a:prstGeom prst="rect">
            <a:avLst/>
          </a:prstGeom>
          <a:noFill/>
          <a:ln/>
        </p:spPr>
        <p:txBody>
          <a:bodyPr wrap="square" lIns="0" tIns="0" rIns="0" bIns="0" rtlCol="0" anchor="ctr"/>
          <a:lstStyle/>
          <a:p>
            <a:pPr indent="0" marL="0">
              <a:buNone/>
            </a:pPr>
            <a:r>
              <a:rPr lang="en-US" sz="850" dirty="0">
                <a:solidFill>
                  <a:srgbClr val="595959"/>
                </a:solidFill>
                <a:latin typeface="Noto Sans JP" pitchFamily="34" charset="0"/>
                <a:ea typeface="Noto Sans JP" pitchFamily="34" charset="-122"/>
                <a:cs typeface="Noto Sans JP" pitchFamily="34" charset="-120"/>
              </a:rPr>
              <a:t>棒はFY2023-25平均。分解実験: analysis/16（共通サンプル）</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9</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風力の時間構造とduration — 4h電池が「食える帯域」は限られる</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風力分散の3/4は1日超の長周期。スポットの限界価値はhとともに逓減、容量市場のκ(h)は漸増 — 最適durationは両市場の合算で決まる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344168"/>
            <a:ext cx="45720" cy="274320"/>
          </a:xfrm>
          <a:prstGeom prst="rect">
            <a:avLst/>
          </a:prstGeom>
          <a:solidFill>
            <a:srgbClr val="0079C2"/>
          </a:solidFill>
          <a:ln/>
        </p:spPr>
      </p:sp>
      <p:sp>
        <p:nvSpPr>
          <p:cNvPr id="7" name="Text 5"/>
          <p:cNvSpPr/>
          <p:nvPr/>
        </p:nvSpPr>
        <p:spPr>
          <a:xfrm>
            <a:off x="676656" y="1325880"/>
            <a:ext cx="502920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風力変動の帯域分解（分散シェア）</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1554480"/>
                <a:gridCol w="1097280"/>
                <a:gridCol w="1097280"/>
                <a:gridCol w="2103120"/>
              </a:tblGrid>
              <a:tr h="402336">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帯域</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風力</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太陽光</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50" b="1" dirty="0">
                          <a:solidFill>
                            <a:srgbClr val="FFFFFF"/>
                          </a:solidFill>
                          <a:latin typeface="Noto Sans JP" pitchFamily="34" charset="0"/>
                          <a:ea typeface="Noto Sans JP" pitchFamily="34" charset="-122"/>
                          <a:cs typeface="Noto Sans JP" pitchFamily="34" charset="-120"/>
                        </a:rPr>
                        <a:t>対応する貯蔵</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402336">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日内（&lt;24h）</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25.7%</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約2/3</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4h蓄電池の主戦場</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262626"/>
                          </a:solidFill>
                          <a:latin typeface="Noto Sans JP" pitchFamily="34" charset="0"/>
                          <a:ea typeface="Noto Sans JP" pitchFamily="34" charset="-122"/>
                          <a:cs typeface="Noto Sans JP" pitchFamily="34" charset="-120"/>
                        </a:rPr>
                        <a:t>1〜7日</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35.7%</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数日貯蔵・連系線・火力</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402336">
                <a:tc>
                  <a:txBody>
                    <a:bodyPr/>
                    <a:lstStyle/>
                    <a:p>
                      <a:pPr indent="0" marL="0">
                        <a:buNone/>
                      </a:pPr>
                      <a:r>
                        <a:rPr lang="en-US" sz="1050" b="1" dirty="0">
                          <a:solidFill>
                            <a:srgbClr val="262626"/>
                          </a:solidFill>
                          <a:latin typeface="Noto Sans JP" pitchFamily="34" charset="0"/>
                          <a:ea typeface="Noto Sans JP" pitchFamily="34" charset="-122"/>
                          <a:cs typeface="Noto Sans JP" pitchFamily="34" charset="-120"/>
                        </a:rPr>
                        <a:t>7日超</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b="1" dirty="0">
                          <a:solidFill>
                            <a:srgbClr val="D95B20"/>
                          </a:solidFill>
                          <a:latin typeface="Noto Sans JP" pitchFamily="34" charset="0"/>
                          <a:ea typeface="Noto Sans JP" pitchFamily="34" charset="-122"/>
                          <a:cs typeface="Noto Sans JP" pitchFamily="34" charset="-120"/>
                        </a:rPr>
                        <a:t>38.6%</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小</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262626"/>
                          </a:solidFill>
                          <a:latin typeface="Noto Sans JP" pitchFamily="34" charset="0"/>
                          <a:ea typeface="Noto Sans JP" pitchFamily="34" charset="-122"/>
                          <a:cs typeface="Noto Sans JP" pitchFamily="34" charset="-120"/>
                        </a:rPr>
                        <a:t>季節間（P2G等）</a:t>
                      </a:r>
                      <a:endParaRPr lang="en-US" sz="105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6"/>
          <p:cNvSpPr/>
          <p:nvPr/>
        </p:nvSpPr>
        <p:spPr>
          <a:xfrm>
            <a:off x="685800" y="3520440"/>
            <a:ext cx="5669280" cy="822960"/>
          </a:xfrm>
          <a:prstGeom prst="rect">
            <a:avLst/>
          </a:prstGeom>
          <a:noFill/>
          <a:ln/>
        </p:spPr>
        <p:txBody>
          <a:bodyPr wrap="square" lIns="0" tIns="0" rIns="0" bIns="0" rtlCol="0" anchor="t"/>
          <a:lstStyle/>
          <a:p>
            <a:pPr lvl="1" marL="254000" indent="-127000">
              <a:lnSpc>
                <a:spcPct val="120000"/>
              </a:lnSpc>
              <a:spcAft>
                <a:spcPts val="400"/>
              </a:spcAft>
              <a:buSzPct val="100000"/>
              <a:buChar char="–"/>
            </a:pPr>
            <a:r>
              <a:rPr lang="en-US" sz="1000" dirty="0">
                <a:solidFill>
                  <a:srgbClr val="262626"/>
                </a:solidFill>
                <a:latin typeface="Noto Sans JP" pitchFamily="34" charset="0"/>
                <a:ea typeface="Noto Sans JP" pitchFamily="34" charset="-122"/>
                <a:cs typeface="Noto Sans JP" pitchFamily="34" charset="-120"/>
              </a:rPr>
              <a:t>移動平均カスケードによる帯域分解（FY2022-25、非直交・交差項あり）。風力の日内成分が小さい＝価格カーブの平行シフト・b′の空振りと同根</a:t>
            </a:r>
            <a:endParaRPr lang="en-US" sz="1000" dirty="0"/>
          </a:p>
        </p:txBody>
      </p:sp>
      <p:sp>
        <p:nvSpPr>
          <p:cNvPr id="10" name="Shape 7"/>
          <p:cNvSpPr/>
          <p:nvPr/>
        </p:nvSpPr>
        <p:spPr>
          <a:xfrm>
            <a:off x="6812280" y="1344168"/>
            <a:ext cx="45720" cy="274320"/>
          </a:xfrm>
          <a:prstGeom prst="rect">
            <a:avLst/>
          </a:prstGeom>
          <a:solidFill>
            <a:srgbClr val="0079C2"/>
          </a:solidFill>
          <a:ln/>
        </p:spPr>
      </p:sp>
      <p:sp>
        <p:nvSpPr>
          <p:cNvPr id="11" name="Text 8"/>
          <p:cNvSpPr/>
          <p:nvPr/>
        </p:nvSpPr>
        <p:spPr>
          <a:xfrm>
            <a:off x="6940296" y="1325880"/>
            <a:ext cx="48463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duration曲線（スポットPF価値・FY23-25平均）</a:t>
            </a:r>
            <a:endParaRPr lang="en-US" sz="1300" dirty="0"/>
          </a:p>
        </p:txBody>
      </p:sp>
      <p:graphicFrame>
        <p:nvGraphicFramePr>
          <p:cNvPr id="12" name="Chart 0" descr=""/>
          <p:cNvGraphicFramePr/>
          <p:nvPr/>
        </p:nvGraphicFramePr>
        <p:xfrm>
          <a:off x="6812280" y="1737360"/>
          <a:ext cx="480060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812280" y="4709160"/>
          <a:ext cx="4800600" cy="914400"/>
        </p:xfrm>
        <a:graphic>
          <a:graphicData uri="http://schemas.openxmlformats.org/drawingml/2006/table">
            <a:tbl>
              <a:tblPr/>
              <a:tblGrid>
                <a:gridCol w="1691640"/>
                <a:gridCol w="777240"/>
                <a:gridCol w="777240"/>
                <a:gridCol w="777240"/>
                <a:gridCol w="777240"/>
              </a:tblGrid>
              <a:tr h="347472">
                <a:tc>
                  <a:txBody>
                    <a:bodyPr/>
                    <a:lstStyle/>
                    <a:p>
                      <a:pPr indent="0" marL="0">
                        <a:buNone/>
                      </a:pP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2h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4h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6h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8h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スポット（4h比）</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0.58</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1.00</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1.27</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1.39</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容量市場 κ(h)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83.6%</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93.2%</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98.3%</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14" name="Shape 9"/>
          <p:cNvSpPr/>
          <p:nvPr/>
        </p:nvSpPr>
        <p:spPr>
          <a:xfrm>
            <a:off x="548640" y="5806440"/>
            <a:ext cx="11091672" cy="548640"/>
          </a:xfrm>
          <a:prstGeom prst="rect">
            <a:avLst/>
          </a:prstGeom>
          <a:solidFill>
            <a:srgbClr val="F0F6FB"/>
          </a:solidFill>
          <a:ln/>
        </p:spPr>
      </p:sp>
      <p:sp>
        <p:nvSpPr>
          <p:cNvPr id="15" name="Text 10"/>
          <p:cNvSpPr/>
          <p:nvPr/>
        </p:nvSpPr>
        <p:spPr>
          <a:xfrm>
            <a:off x="777240" y="5806440"/>
            <a:ext cx="10607040" cy="548640"/>
          </a:xfrm>
          <a:prstGeom prst="rect">
            <a:avLst/>
          </a:prstGeom>
          <a:noFill/>
          <a:ln/>
        </p:spPr>
        <p:txBody>
          <a:bodyPr wrap="square" lIns="0" tIns="0" rIns="0" bIns="0" rtlCol="0" anchor="ctr"/>
          <a:lstStyle/>
          <a:p>
            <a:pPr indent="0" marL="0">
              <a:buNone/>
            </a:pPr>
            <a:r>
              <a:rPr lang="en-US" sz="1100" b="1" dirty="0">
                <a:solidFill>
                  <a:srgbClr val="176871"/>
                </a:solidFill>
                <a:latin typeface="Noto Sans JP SemiBold" pitchFamily="34" charset="0"/>
                <a:ea typeface="Noto Sans JP SemiBold" pitchFamily="34" charset="-122"/>
                <a:cs typeface="Noto Sans JP SemiBold" pitchFamily="34" charset="-120"/>
              </a:rPr>
              <a:t>4h→6hでスポット+27%＋κ+9.6pt、6h→8hは+9%＋5.1pt — 長周期が支配的な風力市場ほど「longer durationの価値」が両市場で残る</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10</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風力増加 × 蓄電池価値（本日の中心図）— 風力は蓄電池の敵ではなく「餌」</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K_windを0.5〜3倍に振ると蓄電池スポット価値は単調増加 — 0.01円の床が、風力の価値破壊を充電機会に変換する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344168"/>
            <a:ext cx="45720" cy="274320"/>
          </a:xfrm>
          <a:prstGeom prst="rect">
            <a:avLst/>
          </a:prstGeom>
          <a:solidFill>
            <a:srgbClr val="0079C2"/>
          </a:solidFill>
          <a:ln/>
        </p:spPr>
      </p:sp>
      <p:sp>
        <p:nvSpPr>
          <p:cNvPr id="7" name="Text 5"/>
          <p:cNvSpPr/>
          <p:nvPr/>
        </p:nvSpPr>
        <p:spPr>
          <a:xfrm>
            <a:off x="676656" y="1325880"/>
            <a:ext cx="585216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蓄電池スポット価値 PF（円/kW-年、FY23-25平均・仕様B）</a:t>
            </a:r>
            <a:endParaRPr lang="en-US" sz="1300" dirty="0"/>
          </a:p>
        </p:txBody>
      </p:sp>
      <p:graphicFrame>
        <p:nvGraphicFramePr>
          <p:cNvPr id="8" name="Chart 0" descr=""/>
          <p:cNvGraphicFramePr/>
          <p:nvPr/>
        </p:nvGraphicFramePr>
        <p:xfrm>
          <a:off x="548640" y="1737360"/>
          <a:ext cx="5760720" cy="36576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720840" y="1344168"/>
            <a:ext cx="45720" cy="274320"/>
          </a:xfrm>
          <a:prstGeom prst="rect">
            <a:avLst/>
          </a:prstGeom>
          <a:solidFill>
            <a:srgbClr val="0079C2"/>
          </a:solidFill>
          <a:ln/>
        </p:spPr>
      </p:sp>
      <p:sp>
        <p:nvSpPr>
          <p:cNvPr id="10" name="Text 7"/>
          <p:cNvSpPr/>
          <p:nvPr/>
        </p:nvSpPr>
        <p:spPr>
          <a:xfrm>
            <a:off x="6848856" y="1325880"/>
            <a:ext cx="48463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メカニズムと読み方</a:t>
            </a:r>
            <a:endParaRPr lang="en-US" sz="1300" dirty="0"/>
          </a:p>
        </p:txBody>
      </p:sp>
      <p:sp>
        <p:nvSpPr>
          <p:cNvPr id="11" name="Text 8"/>
          <p:cNvSpPr/>
          <p:nvPr/>
        </p:nvSpPr>
        <p:spPr>
          <a:xfrm>
            <a:off x="6720840" y="1737360"/>
            <a:ext cx="4919472" cy="3931920"/>
          </a:xfrm>
          <a:prstGeom prst="rect">
            <a:avLst/>
          </a:prstGeom>
          <a:noFill/>
          <a:ln/>
        </p:spPr>
        <p:txBody>
          <a:bodyPr wrap="square" lIns="0" tIns="0" rIns="0" bIns="0" rtlCol="0" anchor="t"/>
          <a:lstStyle/>
          <a:p>
            <a:pPr marL="152400" indent="-152400">
              <a:lnSpc>
                <a:spcPct val="120000"/>
              </a:lnSpc>
              <a:spcAft>
                <a:spcPts val="700"/>
              </a:spcAft>
              <a:buSzPct val="100000"/>
              <a:buChar char="■"/>
            </a:pPr>
            <a:r>
              <a:rPr lang="en-US" sz="1050" dirty="0">
                <a:solidFill>
                  <a:srgbClr val="262626"/>
                </a:solidFill>
                <a:latin typeface="Noto Sans JP" pitchFamily="34" charset="0"/>
                <a:ea typeface="Noto Sans JP" pitchFamily="34" charset="-122"/>
                <a:cs typeface="Noto Sans JP" pitchFamily="34" charset="-120"/>
              </a:rPr>
              <a:t>現状近傍では微増（+70円/25%増）→ 2倍で+600円 → 3倍で+2,000円/kW-年。床時間は117→807h/年（泊ありなら2,247h）に立ち上がる</a:t>
            </a:r>
            <a:endParaRPr lang="en-US" sz="1050" dirty="0"/>
          </a:p>
          <a:p>
            <a:pPr marL="152400" indent="-152400">
              <a:lnSpc>
                <a:spcPct val="120000"/>
              </a:lnSpc>
              <a:spcAft>
                <a:spcPts val="700"/>
              </a:spcAft>
              <a:buSzPct val="100000"/>
              <a:buChar char="■"/>
            </a:pPr>
            <a:r>
              <a:rPr lang="en-US" sz="1050" b="1" dirty="0">
                <a:solidFill>
                  <a:srgbClr val="262626"/>
                </a:solidFill>
                <a:latin typeface="Noto Sans JP" pitchFamily="34" charset="0"/>
                <a:ea typeface="Noto Sans JP" pitchFamily="34" charset="-122"/>
                <a:cs typeface="Noto Sans JP" pitchFamily="34" charset="-120"/>
              </a:rPr>
              <a:t>なぜ増える: 風力は水準を下げるだけだが、0.01円床に当たると安い側だけが切り取られ（センサリング）、夕方スパイクは無傷 → スプレッド拡大</a:t>
            </a:r>
            <a:endParaRPr lang="en-US" sz="1050" dirty="0"/>
          </a:p>
          <a:p>
            <a:pPr lvl="1" marL="254000" indent="-127000">
              <a:lnSpc>
                <a:spcPct val="120000"/>
              </a:lnSpc>
              <a:spcAft>
                <a:spcPts val="700"/>
              </a:spcAft>
              <a:buSzPct val="100000"/>
              <a:buChar char="–"/>
            </a:pPr>
            <a:r>
              <a:rPr lang="en-US" sz="1050" dirty="0">
                <a:solidFill>
                  <a:srgbClr val="262626"/>
                </a:solidFill>
                <a:latin typeface="Noto Sans JP" pitchFamily="34" charset="0"/>
                <a:ea typeface="Noto Sans JP" pitchFamily="34" charset="-122"/>
                <a:cs typeface="Noto Sans JP" pitchFamily="34" charset="-120"/>
              </a:rPr>
              <a:t>実測（前々頁）の「風力大の日は微マイナス」と矛盾しない: あれは床に届く前の姿。導入量が増えて床に届くと符号が反転する</a:t>
            </a:r>
            <a:endParaRPr lang="en-US" sz="1050" dirty="0"/>
          </a:p>
          <a:p>
            <a:pPr marL="152400" indent="-152400">
              <a:lnSpc>
                <a:spcPct val="120000"/>
              </a:lnSpc>
              <a:spcAft>
                <a:spcPts val="400"/>
              </a:spcAft>
              <a:buSzPct val="100000"/>
              <a:buChar char="■"/>
            </a:pPr>
            <a:r>
              <a:rPr lang="en-US" sz="1050" b="1" dirty="0">
                <a:solidFill>
                  <a:srgbClr val="262626"/>
                </a:solidFill>
                <a:latin typeface="Noto Sans JP" pitchFamily="34" charset="0"/>
                <a:ea typeface="Noto Sans JP" pitchFamily="34" charset="-122"/>
                <a:cs typeface="Noto Sans JP" pitchFamily="34" charset="-120"/>
              </a:rPr>
              <a:t>価値の上限を決めるのは風力ではなく蓄電池自身の競合（K↑→床を自分で埋める）— このfleet feedbackの内生化が次のフェーズC＝均衡容量K*</a:t>
            </a:r>
            <a:endParaRPr lang="en-US" sz="1050" dirty="0"/>
          </a:p>
        </p:txBody>
      </p:sp>
      <p:sp>
        <p:nvSpPr>
          <p:cNvPr id="12" name="Shape 9"/>
          <p:cNvSpPr/>
          <p:nvPr/>
        </p:nvSpPr>
        <p:spPr>
          <a:xfrm>
            <a:off x="548640" y="5623560"/>
            <a:ext cx="11091672" cy="566928"/>
          </a:xfrm>
          <a:prstGeom prst="rect">
            <a:avLst/>
          </a:prstGeom>
          <a:solidFill>
            <a:srgbClr val="FDF0E8"/>
          </a:solidFill>
          <a:ln/>
        </p:spPr>
      </p:sp>
      <p:sp>
        <p:nvSpPr>
          <p:cNvPr id="13" name="Text 10"/>
          <p:cNvSpPr/>
          <p:nvPr/>
        </p:nvSpPr>
        <p:spPr>
          <a:xfrm>
            <a:off x="777240" y="5623560"/>
            <a:ext cx="10607040" cy="566928"/>
          </a:xfrm>
          <a:prstGeom prst="rect">
            <a:avLst/>
          </a:prstGeom>
          <a:noFill/>
          <a:ln/>
        </p:spPr>
        <p:txBody>
          <a:bodyPr wrap="square" lIns="0" tIns="0" rIns="0" bIns="0" rtlCol="0" anchor="ctr"/>
          <a:lstStyle/>
          <a:p>
            <a:pPr indent="0" marL="0">
              <a:buNone/>
            </a:pPr>
            <a:r>
              <a:rPr lang="en-US" sz="1000" dirty="0">
                <a:solidFill>
                  <a:srgbClr val="262626"/>
                </a:solidFill>
                <a:latin typeface="Noto Sans JP" pitchFamily="34" charset="0"/>
                <a:ea typeface="Noto Sans JP" pitchFamily="34" charset="-122"/>
                <a:cs typeface="Noto Sans JP" pitchFamily="34" charset="-120"/>
              </a:rPr>
              <a:t>留保: 部分均衡（蓄電池フリート応答・p_system・供給側の内生反応・連系線増強は未反映）。3倍はロジットの外挿域 — 水準は幅を持って、方向とメカニズムを主張</a:t>
            </a:r>
            <a:endParaRPr lang="en-US" sz="1000" dirty="0"/>
          </a:p>
        </p:txBody>
      </p:sp>
      <p:sp>
        <p:nvSpPr>
          <p:cNvPr id="14" name="Text 11"/>
          <p:cNvSpPr/>
          <p:nvPr/>
        </p:nvSpPr>
        <p:spPr>
          <a:xfrm>
            <a:off x="548640" y="6263640"/>
            <a:ext cx="10881360" cy="274320"/>
          </a:xfrm>
          <a:prstGeom prst="rect">
            <a:avLst/>
          </a:prstGeom>
          <a:noFill/>
          <a:ln/>
        </p:spPr>
        <p:txBody>
          <a:bodyPr wrap="square" lIns="0" tIns="0" rIns="0" bIns="0" rtlCol="0" anchor="ctr"/>
          <a:lstStyle/>
          <a:p>
            <a:pPr indent="0" marL="0">
              <a:buNone/>
            </a:pPr>
            <a:r>
              <a:rPr lang="en-US" sz="900" dirty="0">
                <a:solidFill>
                  <a:srgbClr val="595959"/>
                </a:solidFill>
                <a:latin typeface="Noto Sans JP" pitchFamily="34" charset="0"/>
                <a:ea typeface="Noto Sans JP" pitchFamily="34" charset="-122"/>
                <a:cs typeface="Noto Sans JP" pitchFamily="34" charset="-120"/>
              </a:rPr>
              <a:t>価格過程v1: p=g(net;季節)+μ(時刻)・分断3レジーム混合・共通乱数。K_windはcf過程を保って一律スケール。データ: 別添Excel「風力スイープ」</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11</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対象の拡張 — 系統用（FTM）に加えて併設（BTM）という第2の柱</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抑制の1割強は「エリア価格が高いのに」起きている ＝ エリア価格に映らないBTM固有の価値。当初対象（系統用）だけでは価値の総体を捉えられない</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344168"/>
            <a:ext cx="45720" cy="274320"/>
          </a:xfrm>
          <a:prstGeom prst="rect">
            <a:avLst/>
          </a:prstGeom>
          <a:solidFill>
            <a:srgbClr val="0079C2"/>
          </a:solidFill>
          <a:ln/>
        </p:spPr>
      </p:sp>
      <p:sp>
        <p:nvSpPr>
          <p:cNvPr id="7" name="Text 5"/>
          <p:cNvSpPr/>
          <p:nvPr/>
        </p:nvSpPr>
        <p:spPr>
          <a:xfrm>
            <a:off x="676656" y="1325880"/>
            <a:ext cx="57607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根拠① 風力の出力制御が立ち上がった</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2011680"/>
                <a:gridCol w="914400"/>
                <a:gridCol w="914400"/>
                <a:gridCol w="914400"/>
                <a:gridCol w="1097280"/>
              </a:tblGrid>
              <a:tr h="347472">
                <a:tc>
                  <a:txBody>
                    <a:bodyPr/>
                    <a:lstStyle/>
                    <a:p>
                      <a:pPr indent="0" marL="0">
                        <a:buNone/>
                      </a:pP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FY2022</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FY2024</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FY2025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FY2026(4-6月)</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抑制率（エネルギー）</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0.01%</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0.04%</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0.10%</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b="1" dirty="0">
                          <a:solidFill>
                            <a:srgbClr val="D95B20"/>
                          </a:solidFill>
                          <a:latin typeface="Noto Sans JP" pitchFamily="34" charset="0"/>
                          <a:ea typeface="Noto Sans JP" pitchFamily="34" charset="-122"/>
                          <a:cs typeface="Noto Sans JP" pitchFamily="34" charset="-120"/>
                        </a:rPr>
                        <a:t>1.35%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抑制時間</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12h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12h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109h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b="1" dirty="0">
                          <a:solidFill>
                            <a:srgbClr val="262626"/>
                          </a:solidFill>
                          <a:latin typeface="Noto Sans JP" pitchFamily="34" charset="0"/>
                          <a:ea typeface="Noto Sans JP" pitchFamily="34" charset="-122"/>
                          <a:cs typeface="Noto Sans JP" pitchFamily="34" charset="-120"/>
                        </a:rPr>
                        <a:t>235h</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9" name="Shape 6"/>
          <p:cNvSpPr/>
          <p:nvPr/>
        </p:nvSpPr>
        <p:spPr>
          <a:xfrm>
            <a:off x="548640" y="2990088"/>
            <a:ext cx="45720" cy="274320"/>
          </a:xfrm>
          <a:prstGeom prst="rect">
            <a:avLst/>
          </a:prstGeom>
          <a:solidFill>
            <a:srgbClr val="0079C2"/>
          </a:solidFill>
          <a:ln/>
        </p:spPr>
      </p:sp>
      <p:sp>
        <p:nvSpPr>
          <p:cNvPr id="10" name="Text 7"/>
          <p:cNvSpPr/>
          <p:nvPr/>
        </p:nvSpPr>
        <p:spPr>
          <a:xfrm>
            <a:off x="676656" y="2971800"/>
            <a:ext cx="57607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根拠② 抑制発生時間のエリア価格内訳</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3337560"/>
          <a:ext cx="5852160" cy="914400"/>
        </p:xfrm>
        <a:graphic>
          <a:graphicData uri="http://schemas.openxmlformats.org/drawingml/2006/table">
            <a:tbl>
              <a:tblPr/>
              <a:tblGrid>
                <a:gridCol w="1463040"/>
                <a:gridCol w="1463040"/>
                <a:gridCol w="1463040"/>
                <a:gridCol w="1463040"/>
              </a:tblGrid>
              <a:tr h="347472">
                <a:tc>
                  <a:txBody>
                    <a:bodyPr/>
                    <a:lstStyle/>
                    <a:p>
                      <a:pPr indent="0" marL="0">
                        <a:buNone/>
                      </a:pP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床（0.01円）</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0.01〜5円</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5円超</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FY2025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60%</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28%</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b="1" dirty="0">
                          <a:solidFill>
                            <a:srgbClr val="D95B20"/>
                          </a:solidFill>
                          <a:latin typeface="Noto Sans JP" pitchFamily="34" charset="0"/>
                          <a:ea typeface="Noto Sans JP" pitchFamily="34" charset="-122"/>
                          <a:cs typeface="Noto Sans JP" pitchFamily="34" charset="-120"/>
                        </a:rPr>
                        <a:t>12.8%</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FY2026</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68%</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19%</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b="1" dirty="0">
                          <a:solidFill>
                            <a:srgbClr val="D95B20"/>
                          </a:solidFill>
                          <a:latin typeface="Noto Sans JP" pitchFamily="34" charset="0"/>
                          <a:ea typeface="Noto Sans JP" pitchFamily="34" charset="-122"/>
                          <a:cs typeface="Noto Sans JP" pitchFamily="34" charset="-120"/>
                        </a:rPr>
                        <a:t>12.8%</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12" name="Text 8"/>
          <p:cNvSpPr/>
          <p:nvPr/>
        </p:nvSpPr>
        <p:spPr>
          <a:xfrm>
            <a:off x="685800" y="4526280"/>
            <a:ext cx="5715000" cy="1280160"/>
          </a:xfrm>
          <a:prstGeom prst="rect">
            <a:avLst/>
          </a:prstGeom>
          <a:noFill/>
          <a:ln/>
        </p:spPr>
        <p:txBody>
          <a:bodyPr wrap="square" lIns="0" tIns="0" rIns="0" bIns="0" rtlCol="0" anchor="t"/>
          <a:lstStyle/>
          <a:p>
            <a:pPr lvl="1" marL="254000" indent="-127000">
              <a:lnSpc>
                <a:spcPct val="120000"/>
              </a:lnSpc>
              <a:spcAft>
                <a:spcPts val="400"/>
              </a:spcAft>
              <a:buSzPct val="100000"/>
              <a:buChar char="–"/>
            </a:pPr>
            <a:r>
              <a:rPr lang="en-US" sz="1000" dirty="0">
                <a:solidFill>
                  <a:srgbClr val="262626"/>
                </a:solidFill>
                <a:latin typeface="Noto Sans JP" pitchFamily="34" charset="0"/>
                <a:ea typeface="Noto Sans JP" pitchFamily="34" charset="-122"/>
                <a:cs typeface="Noto Sans JP" pitchFamily="34" charset="-120"/>
              </a:rPr>
              <a:t>5円超での抑制＝エリア余剰でなくローカル系統混雑・下げ代制約。ノーダル価格がない日本では、この損失はエリア価格に映らない → 当方のπ_spotはBTM価値をゼロと計上（＝現行分析は価値の下限）</a:t>
            </a:r>
            <a:endParaRPr lang="en-US" sz="1000" dirty="0"/>
          </a:p>
        </p:txBody>
      </p:sp>
      <p:sp>
        <p:nvSpPr>
          <p:cNvPr id="13" name="Shape 9"/>
          <p:cNvSpPr/>
          <p:nvPr/>
        </p:nvSpPr>
        <p:spPr>
          <a:xfrm>
            <a:off x="6720840" y="1344168"/>
            <a:ext cx="45720" cy="274320"/>
          </a:xfrm>
          <a:prstGeom prst="rect">
            <a:avLst/>
          </a:prstGeom>
          <a:solidFill>
            <a:srgbClr val="0079C2"/>
          </a:solidFill>
          <a:ln/>
        </p:spPr>
      </p:sp>
      <p:sp>
        <p:nvSpPr>
          <p:cNvPr id="14" name="Text 10"/>
          <p:cNvSpPr/>
          <p:nvPr/>
        </p:nvSpPr>
        <p:spPr>
          <a:xfrm>
            <a:off x="6848856" y="1325880"/>
            <a:ext cx="48463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根拠③ 回避価値の上限試算（cf26%・FIP14円）</a:t>
            </a:r>
            <a:endParaRPr lang="en-US" sz="13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720840" y="1691640"/>
          <a:ext cx="4919472" cy="914400"/>
        </p:xfrm>
        <a:graphic>
          <a:graphicData uri="http://schemas.openxmlformats.org/drawingml/2006/table">
            <a:tbl>
              <a:tblPr/>
              <a:tblGrid>
                <a:gridCol w="1920240"/>
                <a:gridCol w="1371600"/>
                <a:gridCol w="1627632"/>
              </a:tblGrid>
              <a:tr h="365760">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抑制率シナリオ</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円/kW風力-年</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Noto Sans JP" pitchFamily="34" charset="0"/>
                          <a:ea typeface="Noto Sans JP" pitchFamily="34" charset="-122"/>
                          <a:cs typeface="Noto Sans JP" pitchFamily="34" charset="-120"/>
                        </a:rPr>
                        <a:t>併設0.64kWh/kWあたり</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365760">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現状 1.35%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430</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673円/kWh-年</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3%</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957</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1,495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365760">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5%</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1,594</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00" dirty="0">
                          <a:solidFill>
                            <a:srgbClr val="262626"/>
                          </a:solidFill>
                          <a:latin typeface="Noto Sans JP" pitchFamily="34" charset="0"/>
                          <a:ea typeface="Noto Sans JP" pitchFamily="34" charset="-122"/>
                          <a:cs typeface="Noto Sans JP" pitchFamily="34" charset="-120"/>
                        </a:rPr>
                        <a:t>2,491</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262626"/>
                          </a:solidFill>
                          <a:latin typeface="Noto Sans JP" pitchFamily="34" charset="0"/>
                          <a:ea typeface="Noto Sans JP" pitchFamily="34" charset="-122"/>
                          <a:cs typeface="Noto Sans JP" pitchFamily="34" charset="-120"/>
                        </a:rPr>
                        <a:t>8%（九州太陽光並み）</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b="1" dirty="0">
                          <a:solidFill>
                            <a:srgbClr val="D95B20"/>
                          </a:solidFill>
                          <a:latin typeface="Noto Sans JP" pitchFamily="34" charset="0"/>
                          <a:ea typeface="Noto Sans JP" pitchFamily="34" charset="-122"/>
                          <a:cs typeface="Noto Sans JP" pitchFamily="34" charset="-120"/>
                        </a:rPr>
                        <a:t>2,551</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1000" b="1" dirty="0">
                          <a:solidFill>
                            <a:srgbClr val="D95B20"/>
                          </a:solidFill>
                          <a:latin typeface="Noto Sans JP" pitchFamily="34" charset="0"/>
                          <a:ea typeface="Noto Sans JP" pitchFamily="34" charset="-122"/>
                          <a:cs typeface="Noto Sans JP" pitchFamily="34" charset="-120"/>
                        </a:rPr>
                        <a:t>3,986円/kWh-年</a:t>
                      </a:r>
                      <a:endParaRPr lang="en-US" sz="1000" dirty="0">
                        <a:latin typeface="Noto Sans JP" charset="0"/>
                        <a:ea typeface="Noto Sans JP" charset="0"/>
                        <a:cs typeface="Noto Sans JP"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16" name="Text 11"/>
          <p:cNvSpPr/>
          <p:nvPr/>
        </p:nvSpPr>
        <p:spPr>
          <a:xfrm>
            <a:off x="6858000" y="3749040"/>
            <a:ext cx="4782312" cy="1554480"/>
          </a:xfrm>
          <a:prstGeom prst="rect">
            <a:avLst/>
          </a:prstGeom>
          <a:noFill/>
          <a:ln/>
        </p:spPr>
        <p:txBody>
          <a:bodyPr wrap="square" lIns="0" tIns="0" rIns="0" bIns="0" rtlCol="0" anchor="t"/>
          <a:lstStyle/>
          <a:p>
            <a:pPr lvl="1" marL="254000" indent="-127000">
              <a:lnSpc>
                <a:spcPct val="120000"/>
              </a:lnSpc>
              <a:spcAft>
                <a:spcPts val="500"/>
              </a:spcAft>
              <a:buSzPct val="100000"/>
              <a:buChar char="–"/>
            </a:pPr>
            <a:r>
              <a:rPr lang="en-US" sz="1000" dirty="0">
                <a:solidFill>
                  <a:srgbClr val="262626"/>
                </a:solidFill>
                <a:latin typeface="Noto Sans JP" pitchFamily="34" charset="0"/>
                <a:ea typeface="Noto Sans JP" pitchFamily="34" charset="-122"/>
                <a:cs typeface="Noto Sans JP" pitchFamily="34" charset="-120"/>
              </a:rPr>
              <a:t>現状は蓄電池実勢6.8万円/kWhの年0.7%相当と小さいが、九州並み8%で年4%相当に。全量回収仮定の上限値（容量0.64kWh/kW制約で実効は下がる）</a:t>
            </a:r>
            <a:endParaRPr lang="en-US" sz="1000" dirty="0"/>
          </a:p>
          <a:p>
            <a:pPr lvl="1" marL="254000" indent="-127000">
              <a:lnSpc>
                <a:spcPct val="120000"/>
              </a:lnSpc>
              <a:spcAft>
                <a:spcPts val="500"/>
              </a:spcAft>
              <a:buSzPct val="100000"/>
              <a:buChar char="–"/>
            </a:pPr>
            <a:r>
              <a:rPr lang="en-US" sz="1000" dirty="0">
                <a:solidFill>
                  <a:srgbClr val="262626"/>
                </a:solidFill>
                <a:latin typeface="Noto Sans JP" pitchFamily="34" charset="0"/>
                <a:ea typeface="Noto Sans JP" pitchFamily="34" charset="-122"/>
                <a:cs typeface="Noto Sans JP" pitchFamily="34" charset="-120"/>
              </a:rPr>
              <a:t>北海道は2015年から風力への蓄電池併設要件を課した先駆エリア — 制度は既にこの価値を織り込みに行っている</a:t>
            </a:r>
            <a:endParaRPr lang="en-US" sz="1000" dirty="0"/>
          </a:p>
        </p:txBody>
      </p:sp>
      <p:sp>
        <p:nvSpPr>
          <p:cNvPr id="17" name="Shape 12"/>
          <p:cNvSpPr/>
          <p:nvPr/>
        </p:nvSpPr>
        <p:spPr>
          <a:xfrm>
            <a:off x="548640" y="5669280"/>
            <a:ext cx="11091672" cy="621792"/>
          </a:xfrm>
          <a:prstGeom prst="rect">
            <a:avLst/>
          </a:prstGeom>
          <a:solidFill>
            <a:srgbClr val="F0F6FB"/>
          </a:solidFill>
          <a:ln/>
        </p:spPr>
      </p:sp>
      <p:sp>
        <p:nvSpPr>
          <p:cNvPr id="18" name="Text 13"/>
          <p:cNvSpPr/>
          <p:nvPr/>
        </p:nvSpPr>
        <p:spPr>
          <a:xfrm>
            <a:off x="777240" y="5669280"/>
            <a:ext cx="10607040" cy="621792"/>
          </a:xfrm>
          <a:prstGeom prst="rect">
            <a:avLst/>
          </a:prstGeom>
          <a:noFill/>
          <a:ln/>
        </p:spPr>
        <p:txBody>
          <a:bodyPr wrap="square" lIns="0" tIns="0" rIns="0" bIns="0" rtlCol="0" anchor="ctr"/>
          <a:lstStyle/>
          <a:p>
            <a:pPr indent="0" marL="0">
              <a:lnSpc>
                <a:spcPct val="120000"/>
              </a:lnSpc>
              <a:buNone/>
            </a:pPr>
            <a:r>
              <a:rPr lang="en-US" sz="1000" b="1" dirty="0">
                <a:solidFill>
                  <a:srgbClr val="176871"/>
                </a:solidFill>
                <a:latin typeface="Noto Sans JP" pitchFamily="34" charset="0"/>
                <a:ea typeface="Noto Sans JP" pitchFamily="34" charset="-122"/>
                <a:cs typeface="Noto Sans JP" pitchFamily="34" charset="-120"/>
              </a:rPr>
              <a:t>定式化: </a:t>
            </a:r>
            <a:pPr indent="0" marL="0">
              <a:lnSpc>
                <a:spcPct val="120000"/>
              </a:lnSpc>
              <a:buNone/>
            </a:pPr>
            <a:r>
              <a:rPr lang="en-US" sz="1000" dirty="0">
                <a:solidFill>
                  <a:srgbClr val="262626"/>
                </a:solidFill>
                <a:latin typeface="Noto Sans JP" pitchFamily="34" charset="0"/>
                <a:ea typeface="Noto Sans JP" pitchFamily="34" charset="-122"/>
                <a:cs typeface="Noto Sans JP" pitchFamily="34" charset="-120"/>
              </a:rPr>
              <a:t>π ＝ ①エリア価格裁定（FTM/BTM共通） ＋ ②ローカル抑制回避（BTM固有・価格に不可視） ＋ ③容量市場等。K*主結果は従来どおりFTM（①＋③）で立て、BTMは政策層→抑制率上昇とともに内生参入条件 π_BTM≥c_req_BTM を別建て</a:t>
            </a:r>
            <a:endParaRPr lang="en-US" sz="1000" dirty="0"/>
          </a:p>
        </p:txBody>
      </p:sp>
      <p:sp>
        <p:nvSpPr>
          <p:cNvPr id="19" name="Text 14"/>
          <p:cNvSpPr/>
          <p:nvPr/>
        </p:nvSpPr>
        <p:spPr>
          <a:xfrm>
            <a:off x="548640" y="6355080"/>
            <a:ext cx="8229600" cy="274320"/>
          </a:xfrm>
          <a:prstGeom prst="rect">
            <a:avLst/>
          </a:prstGeom>
          <a:noFill/>
          <a:ln/>
        </p:spPr>
        <p:txBody>
          <a:bodyPr wrap="square" lIns="0" tIns="0" rIns="0" bIns="0" rtlCol="0" anchor="ctr"/>
          <a:lstStyle/>
          <a:p>
            <a:pPr indent="0" marL="0">
              <a:buNone/>
            </a:pPr>
            <a:r>
              <a:rPr lang="en-US" sz="850" dirty="0">
                <a:solidFill>
                  <a:srgbClr val="595959"/>
                </a:solidFill>
                <a:latin typeface="Noto Sans JP" pitchFamily="34" charset="0"/>
                <a:ea typeface="Noto Sans JP" pitchFamily="34" charset="-122"/>
                <a:cs typeface="Noto Sans JP" pitchFamily="34" charset="-120"/>
              </a:rPr>
              <a:t>分析: analysis/20。データ: 別添Excel「併設BTM検討」・図 btm_case.png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12</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今後の進め方</a:t>
            </a:r>
            <a:endParaRPr lang="en-US" sz="1900" dirty="0"/>
          </a:p>
        </p:txBody>
      </p:sp>
      <p:sp>
        <p:nvSpPr>
          <p:cNvPr id="4" name="Text 2"/>
          <p:cNvSpPr/>
          <p:nvPr/>
        </p:nvSpPr>
        <p:spPr>
          <a:xfrm>
            <a:off x="338328" y="621792"/>
            <a:ext cx="11521440" cy="548640"/>
          </a:xfrm>
          <a:prstGeom prst="rect">
            <a:avLst/>
          </a:prstGeom>
          <a:noFill/>
          <a:ln/>
        </p:spPr>
        <p:txBody>
          <a:bodyPr wrap="square" lIns="0" tIns="0" rIns="0" bIns="0" rtlCol="0" anchor="t"/>
          <a:lstStyle/>
          <a:p>
            <a:pPr indent="0" marL="0">
              <a:lnSpc>
                <a:spcPct val="115000"/>
              </a:lnSpc>
              <a:buNone/>
            </a:pPr>
            <a:r>
              <a:rPr lang="en-US" sz="1350" dirty="0">
                <a:solidFill>
                  <a:srgbClr val="262626"/>
                </a:solidFill>
                <a:latin typeface="Noto Sans JP" pitchFamily="34" charset="0"/>
                <a:ea typeface="Noto Sans JP" pitchFamily="34" charset="-122"/>
                <a:cs typeface="Noto Sans JP" pitchFamily="34" charset="-120"/>
              </a:rPr>
              <a:t>風力×蓄電池の初期分析の帰結として、「対象」と「手法」を次回までに確定する</a:t>
            </a:r>
            <a:endParaRPr lang="en-US" sz="1350" dirty="0"/>
          </a:p>
        </p:txBody>
      </p:sp>
      <p:sp>
        <p:nvSpPr>
          <p:cNvPr id="5" name="Shape 3"/>
          <p:cNvSpPr/>
          <p:nvPr/>
        </p:nvSpPr>
        <p:spPr>
          <a:xfrm>
            <a:off x="338328" y="603504"/>
            <a:ext cx="11521440" cy="0"/>
          </a:xfrm>
          <a:prstGeom prst="line">
            <a:avLst/>
          </a:prstGeom>
          <a:noFill/>
          <a:ln w="9525">
            <a:solidFill>
              <a:srgbClr val="D9D9D9"/>
            </a:solidFill>
            <a:prstDash val="solid"/>
          </a:ln>
        </p:spPr>
      </p:sp>
      <p:sp>
        <p:nvSpPr>
          <p:cNvPr id="6" name="Shape 4"/>
          <p:cNvSpPr/>
          <p:nvPr/>
        </p:nvSpPr>
        <p:spPr>
          <a:xfrm>
            <a:off x="548640" y="1298448"/>
            <a:ext cx="45720" cy="274320"/>
          </a:xfrm>
          <a:prstGeom prst="rect">
            <a:avLst/>
          </a:prstGeom>
          <a:solidFill>
            <a:srgbClr val="0079C2"/>
          </a:solidFill>
          <a:ln/>
        </p:spPr>
      </p:sp>
      <p:sp>
        <p:nvSpPr>
          <p:cNvPr id="7" name="Text 5"/>
          <p:cNvSpPr/>
          <p:nvPr/>
        </p:nvSpPr>
        <p:spPr>
          <a:xfrm>
            <a:off x="676656" y="1280160"/>
            <a:ext cx="1088136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発見① 風力は、スポット市場を通じては蓄電池のオプション価値をほとんど動かさない可能性</a:t>
            </a:r>
            <a:endParaRPr lang="en-US" sz="1300" dirty="0"/>
          </a:p>
        </p:txBody>
      </p:sp>
      <p:sp>
        <p:nvSpPr>
          <p:cNvPr id="8" name="Text 6"/>
          <p:cNvSpPr/>
          <p:nvPr/>
        </p:nvSpPr>
        <p:spPr>
          <a:xfrm>
            <a:off x="685800" y="1645920"/>
            <a:ext cx="10881360" cy="1417320"/>
          </a:xfrm>
          <a:prstGeom prst="rect">
            <a:avLst/>
          </a:prstGeom>
          <a:noFill/>
          <a:ln/>
        </p:spPr>
        <p:txBody>
          <a:bodyPr wrap="square" lIns="0" tIns="0" rIns="0" bIns="0" rtlCol="0" anchor="t"/>
          <a:lstStyle/>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価格カーブを平行移動させるだけで日内の「形」を作らない（変動の約3/4が1日超の長周期。日内帯は1割弱 — 太陽光の65%と対照的）</a:t>
            </a:r>
            <a:endParaRPr lang="en-US" sz="1150" dirty="0"/>
          </a:p>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実測でも風力大の日はスプレッド微減（冬−19%）。導入量を3倍まで振っても、価値は床（0.01円）経由の緩やかな増加に留まる</a:t>
            </a:r>
            <a:endParaRPr lang="en-US" sz="1150" dirty="0"/>
          </a:p>
          <a:p>
            <a:pPr lvl="1" marL="254000" indent="-127000">
              <a:lnSpc>
                <a:spcPct val="120000"/>
              </a:lnSpc>
              <a:spcAft>
                <a:spcPts val="500"/>
              </a:spcAft>
              <a:buSzPct val="100000"/>
              <a:buChar char="–"/>
            </a:pPr>
            <a:r>
              <a:rPr lang="en-US" sz="1150" b="1" dirty="0">
                <a:solidFill>
                  <a:srgbClr val="262626"/>
                </a:solidFill>
                <a:latin typeface="Noto Sans JP" pitchFamily="34" charset="0"/>
                <a:ea typeface="Noto Sans JP" pitchFamily="34" charset="-122"/>
                <a:cs typeface="Noto Sans JP" pitchFamily="34" charset="-120"/>
              </a:rPr>
              <a:t>→ 系統用（FTM）のスポット価値の源泉は夕方スパイクと床の形成であり、風力単独ではどちらも大きく動かせない</a:t>
            </a:r>
            <a:endParaRPr lang="en-US" sz="1150" dirty="0"/>
          </a:p>
        </p:txBody>
      </p:sp>
      <p:sp>
        <p:nvSpPr>
          <p:cNvPr id="9" name="Shape 7"/>
          <p:cNvSpPr/>
          <p:nvPr/>
        </p:nvSpPr>
        <p:spPr>
          <a:xfrm>
            <a:off x="548640" y="3127248"/>
            <a:ext cx="45720" cy="274320"/>
          </a:xfrm>
          <a:prstGeom prst="rect">
            <a:avLst/>
          </a:prstGeom>
          <a:solidFill>
            <a:srgbClr val="0079C2"/>
          </a:solidFill>
          <a:ln/>
        </p:spPr>
      </p:sp>
      <p:sp>
        <p:nvSpPr>
          <p:cNvPr id="10" name="Text 8"/>
          <p:cNvSpPr/>
          <p:nvPr/>
        </p:nvSpPr>
        <p:spPr>
          <a:xfrm>
            <a:off x="676656" y="3108960"/>
            <a:ext cx="1088136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発見② 一方で、併設（BTM）の価値算出には固有の意義がある可能性</a:t>
            </a:r>
            <a:endParaRPr lang="en-US" sz="1300" dirty="0"/>
          </a:p>
        </p:txBody>
      </p:sp>
      <p:sp>
        <p:nvSpPr>
          <p:cNvPr id="11" name="Text 9"/>
          <p:cNvSpPr/>
          <p:nvPr/>
        </p:nvSpPr>
        <p:spPr>
          <a:xfrm>
            <a:off x="685800" y="3474720"/>
            <a:ext cx="10881360" cy="1417320"/>
          </a:xfrm>
          <a:prstGeom prst="rect">
            <a:avLst/>
          </a:prstGeom>
          <a:noFill/>
          <a:ln/>
        </p:spPr>
        <p:txBody>
          <a:bodyPr wrap="square" lIns="0" tIns="0" rIns="0" bIns="0" rtlCol="0" anchor="t"/>
          <a:lstStyle/>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出力制御が立ち上がり（FY2025 0.1% → FY2026上期 1.35%）、その1割強はエリア価格が高い時間に発生 ＝ エリア価格に映らないローカル制約由来の価値</a:t>
            </a:r>
            <a:endParaRPr lang="en-US" sz="1150" dirty="0"/>
          </a:p>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エリア価格ベースの現行分析はBTM価値をゼロと計上（＝蓄電池価値の総体としては下限）。抑制回避価値は九州並み8%で約2,500円/kW風力-年へ</a:t>
            </a:r>
            <a:endParaRPr lang="en-US" sz="1150" dirty="0"/>
          </a:p>
          <a:p>
            <a:pPr lvl="1" marL="254000" indent="-127000">
              <a:lnSpc>
                <a:spcPct val="120000"/>
              </a:lnSpc>
              <a:spcAft>
                <a:spcPts val="500"/>
              </a:spcAft>
              <a:buSzPct val="100000"/>
              <a:buChar char="–"/>
            </a:pPr>
            <a:r>
              <a:rPr lang="en-US" sz="1150" b="1" dirty="0">
                <a:solidFill>
                  <a:srgbClr val="262626"/>
                </a:solidFill>
                <a:latin typeface="Noto Sans JP" pitchFamily="34" charset="0"/>
                <a:ea typeface="Noto Sans JP" pitchFamily="34" charset="-122"/>
                <a:cs typeface="Noto Sans JP" pitchFamily="34" charset="-120"/>
              </a:rPr>
              <a:t>→ 対象を「系統用（FTM）＋併設（BTM）」の二本立てへ拡張する価値がある</a:t>
            </a:r>
            <a:endParaRPr lang="en-US" sz="1150" dirty="0"/>
          </a:p>
        </p:txBody>
      </p:sp>
      <p:sp>
        <p:nvSpPr>
          <p:cNvPr id="12" name="Shape 10"/>
          <p:cNvSpPr/>
          <p:nvPr/>
        </p:nvSpPr>
        <p:spPr>
          <a:xfrm>
            <a:off x="548640" y="4956048"/>
            <a:ext cx="45720" cy="274320"/>
          </a:xfrm>
          <a:prstGeom prst="rect">
            <a:avLst/>
          </a:prstGeom>
          <a:solidFill>
            <a:srgbClr val="0079C2"/>
          </a:solidFill>
          <a:ln/>
        </p:spPr>
      </p:sp>
      <p:sp>
        <p:nvSpPr>
          <p:cNvPr id="13" name="Text 11"/>
          <p:cNvSpPr/>
          <p:nvPr/>
        </p:nvSpPr>
        <p:spPr>
          <a:xfrm>
            <a:off x="676656" y="4937760"/>
            <a:ext cx="1088136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進め方: 手法は先行研究の整理と接続し、次回に確定</a:t>
            </a:r>
            <a:endParaRPr lang="en-US" sz="1300" dirty="0"/>
          </a:p>
        </p:txBody>
      </p:sp>
      <p:sp>
        <p:nvSpPr>
          <p:cNvPr id="14" name="Text 12"/>
          <p:cNvSpPr/>
          <p:nvPr/>
        </p:nvSpPr>
        <p:spPr>
          <a:xfrm>
            <a:off x="685800" y="5303520"/>
            <a:ext cx="10881360" cy="914400"/>
          </a:xfrm>
          <a:prstGeom prst="rect">
            <a:avLst/>
          </a:prstGeom>
          <a:noFill/>
          <a:ln/>
        </p:spPr>
        <p:txBody>
          <a:bodyPr wrap="square" lIns="0" tIns="0" rIns="0" bIns="0" rtlCol="0" anchor="t"/>
          <a:lstStyle/>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コア文献41本の整理は完了済み（均衡系: Butters 2025・Karaduman等／手法系: 完全予見LP＋ヘアカット・打ち切り分位点・実物オプション）</a:t>
            </a:r>
            <a:endParaRPr lang="en-US" sz="1150" dirty="0"/>
          </a:p>
          <a:p>
            <a:pPr lvl="1" marL="254000" indent="-127000">
              <a:lnSpc>
                <a:spcPct val="120000"/>
              </a:lnSpc>
              <a:spcAft>
                <a:spcPts val="500"/>
              </a:spcAft>
              <a:buSzPct val="100000"/>
              <a:buChar char="–"/>
            </a:pPr>
            <a:r>
              <a:rPr lang="en-US" sz="1150" dirty="0">
                <a:solidFill>
                  <a:srgbClr val="262626"/>
                </a:solidFill>
                <a:latin typeface="Noto Sans JP" pitchFamily="34" charset="0"/>
                <a:ea typeface="Noto Sans JP" pitchFamily="34" charset="-122"/>
                <a:cs typeface="Noto Sans JP" pitchFamily="34" charset="-120"/>
              </a:rPr>
              <a:t>次回まで: ①FTM＝蓄電池競合を内生化したπ(K)曲線→均衡容量の初回推計 ②BTM＝抑制イベントの分解と容量制約下の回避可能率 ③共通基盤＝価格過程の改良</a:t>
            </a:r>
            <a:endParaRPr lang="en-US" sz="1150" dirty="0"/>
          </a:p>
        </p:txBody>
      </p:sp>
      <p:sp>
        <p:nvSpPr>
          <p:cNvPr id="15" name="Shape 13"/>
          <p:cNvSpPr/>
          <p:nvPr/>
        </p:nvSpPr>
        <p:spPr>
          <a:xfrm>
            <a:off x="548640" y="6172200"/>
            <a:ext cx="11091672" cy="457200"/>
          </a:xfrm>
          <a:prstGeom prst="rect">
            <a:avLst/>
          </a:prstGeom>
          <a:solidFill>
            <a:srgbClr val="F0F6FB"/>
          </a:solidFill>
          <a:ln/>
        </p:spPr>
      </p:sp>
      <p:sp>
        <p:nvSpPr>
          <p:cNvPr id="16" name="Text 14"/>
          <p:cNvSpPr/>
          <p:nvPr/>
        </p:nvSpPr>
        <p:spPr>
          <a:xfrm>
            <a:off x="777240" y="6172200"/>
            <a:ext cx="10607040" cy="457200"/>
          </a:xfrm>
          <a:prstGeom prst="rect">
            <a:avLst/>
          </a:prstGeom>
          <a:noFill/>
          <a:ln/>
        </p:spPr>
        <p:txBody>
          <a:bodyPr wrap="square" lIns="0" tIns="0" rIns="0" bIns="0" rtlCol="0" anchor="ctr"/>
          <a:lstStyle/>
          <a:p>
            <a:pPr indent="0" marL="0">
              <a:buNone/>
            </a:pPr>
            <a:r>
              <a:rPr lang="en-US" sz="1150" b="1" dirty="0">
                <a:solidFill>
                  <a:srgbClr val="176871"/>
                </a:solidFill>
                <a:latin typeface="Noto Sans JP SemiBold" pitchFamily="34" charset="0"/>
                <a:ea typeface="Noto Sans JP SemiBold" pitchFamily="34" charset="-122"/>
                <a:cs typeface="Noto Sans JP SemiBold" pitchFamily="34" charset="-120"/>
              </a:rPr>
              <a:t>次回のゴール: 先行研究を踏まえた手法・対象の確定（研究計画の凍結）</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35508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Noto Sans JP" pitchFamily="34" charset="0"/>
                <a:ea typeface="Noto Sans JP" pitchFamily="34" charset="-122"/>
                <a:cs typeface="Noto Sans JP" pitchFamily="34" charset="-120"/>
              </a:rPr>
              <a:t>13</a:t>
            </a:r>
            <a:endParaRPr lang="en-US" sz="900" dirty="0"/>
          </a:p>
        </p:txBody>
      </p:sp>
      <p:sp>
        <p:nvSpPr>
          <p:cNvPr id="3" name="Text 1"/>
          <p:cNvSpPr/>
          <p:nvPr/>
        </p:nvSpPr>
        <p:spPr>
          <a:xfrm>
            <a:off x="338328" y="219456"/>
            <a:ext cx="11521440" cy="384048"/>
          </a:xfrm>
          <a:prstGeom prst="rect">
            <a:avLst/>
          </a:prstGeom>
          <a:noFill/>
          <a:ln/>
        </p:spPr>
        <p:txBody>
          <a:bodyPr wrap="square" lIns="0" tIns="0" rIns="0" bIns="0" rtlCol="0" anchor="ctr"/>
          <a:lstStyle/>
          <a:p>
            <a:pPr indent="0" marL="0">
              <a:buNone/>
            </a:pPr>
            <a:r>
              <a:rPr lang="en-US" sz="1900" b="1" dirty="0">
                <a:solidFill>
                  <a:srgbClr val="000000"/>
                </a:solidFill>
                <a:latin typeface="Noto Sans JP SemiBold" pitchFamily="34" charset="0"/>
                <a:ea typeface="Noto Sans JP SemiBold" pitchFamily="34" charset="-122"/>
                <a:cs typeface="Noto Sans JP SemiBold" pitchFamily="34" charset="-120"/>
              </a:rPr>
              <a:t>討議いただきたい点</a:t>
            </a:r>
            <a:endParaRPr lang="en-US" sz="1900" dirty="0"/>
          </a:p>
        </p:txBody>
      </p:sp>
      <p:sp>
        <p:nvSpPr>
          <p:cNvPr id="4" name="Shape 2"/>
          <p:cNvSpPr/>
          <p:nvPr/>
        </p:nvSpPr>
        <p:spPr>
          <a:xfrm>
            <a:off x="338328" y="603504"/>
            <a:ext cx="11521440" cy="0"/>
          </a:xfrm>
          <a:prstGeom prst="line">
            <a:avLst/>
          </a:prstGeom>
          <a:noFill/>
          <a:ln w="9525">
            <a:solidFill>
              <a:srgbClr val="D9D9D9"/>
            </a:solidFill>
            <a:prstDash val="solid"/>
          </a:ln>
        </p:spPr>
      </p:sp>
      <p:sp>
        <p:nvSpPr>
          <p:cNvPr id="5" name="Shape 3"/>
          <p:cNvSpPr/>
          <p:nvPr/>
        </p:nvSpPr>
        <p:spPr>
          <a:xfrm>
            <a:off x="548640" y="1389888"/>
            <a:ext cx="45720" cy="274320"/>
          </a:xfrm>
          <a:prstGeom prst="rect">
            <a:avLst/>
          </a:prstGeom>
          <a:solidFill>
            <a:srgbClr val="0079C2"/>
          </a:solidFill>
          <a:ln/>
        </p:spPr>
      </p:sp>
      <p:sp>
        <p:nvSpPr>
          <p:cNvPr id="6" name="Text 4"/>
          <p:cNvSpPr/>
          <p:nvPr/>
        </p:nvSpPr>
        <p:spPr>
          <a:xfrm>
            <a:off x="676656" y="1371600"/>
            <a:ext cx="107899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① 「風力大の日は微マイナス／導入量が増えればプラス」の整理</a:t>
            </a:r>
            <a:endParaRPr lang="en-US" sz="1300" dirty="0"/>
          </a:p>
        </p:txBody>
      </p:sp>
      <p:sp>
        <p:nvSpPr>
          <p:cNvPr id="7" name="Text 5"/>
          <p:cNvSpPr/>
          <p:nvPr/>
        </p:nvSpPr>
        <p:spPr>
          <a:xfrm>
            <a:off x="722376" y="1737360"/>
            <a:ext cx="10698480" cy="914400"/>
          </a:xfrm>
          <a:prstGeom prst="rect">
            <a:avLst/>
          </a:prstGeom>
          <a:noFill/>
          <a:ln/>
        </p:spPr>
        <p:txBody>
          <a:bodyPr wrap="square" lIns="0" tIns="0" rIns="0" bIns="0" rtlCol="0" anchor="t"/>
          <a:lstStyle/>
          <a:p>
            <a:pPr indent="0" marL="0">
              <a:lnSpc>
                <a:spcPct val="130000"/>
              </a:lnSpc>
              <a:buNone/>
            </a:pPr>
            <a:r>
              <a:rPr lang="en-US" sz="1200" dirty="0">
                <a:solidFill>
                  <a:srgbClr val="262626"/>
                </a:solidFill>
                <a:latin typeface="Noto Sans JP" pitchFamily="34" charset="0"/>
                <a:ea typeface="Noto Sans JP" pitchFamily="34" charset="-122"/>
                <a:cs typeface="Noto Sans JP" pitchFamily="34" charset="-120"/>
              </a:rPr>
              <a:t>日次の実測（三分位）と反実仮想（スイープ）で符号が異なるのは床センサリングの有無による。この2つの見せ方・論文での書き分けについてご意見をいただきたい</a:t>
            </a:r>
            <a:endParaRPr lang="en-US" sz="1200" dirty="0"/>
          </a:p>
        </p:txBody>
      </p:sp>
      <p:sp>
        <p:nvSpPr>
          <p:cNvPr id="8" name="Shape 6"/>
          <p:cNvSpPr/>
          <p:nvPr/>
        </p:nvSpPr>
        <p:spPr>
          <a:xfrm>
            <a:off x="548640" y="2807208"/>
            <a:ext cx="45720" cy="274320"/>
          </a:xfrm>
          <a:prstGeom prst="rect">
            <a:avLst/>
          </a:prstGeom>
          <a:solidFill>
            <a:srgbClr val="0079C2"/>
          </a:solidFill>
          <a:ln/>
        </p:spPr>
      </p:sp>
      <p:sp>
        <p:nvSpPr>
          <p:cNvPr id="9" name="Text 7"/>
          <p:cNvSpPr/>
          <p:nvPr/>
        </p:nvSpPr>
        <p:spPr>
          <a:xfrm>
            <a:off x="676656" y="2788920"/>
            <a:ext cx="107899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② 転換点（価値が減少に転じる点）は蓄電池の競合内生化後に現れる</a:t>
            </a:r>
            <a:endParaRPr lang="en-US" sz="1300" dirty="0"/>
          </a:p>
        </p:txBody>
      </p:sp>
      <p:sp>
        <p:nvSpPr>
          <p:cNvPr id="10" name="Text 8"/>
          <p:cNvSpPr/>
          <p:nvPr/>
        </p:nvSpPr>
        <p:spPr>
          <a:xfrm>
            <a:off x="722376" y="3154680"/>
            <a:ext cx="10698480" cy="914400"/>
          </a:xfrm>
          <a:prstGeom prst="rect">
            <a:avLst/>
          </a:prstGeom>
          <a:noFill/>
          <a:ln/>
        </p:spPr>
        <p:txBody>
          <a:bodyPr wrap="square" lIns="0" tIns="0" rIns="0" bIns="0" rtlCol="0" anchor="t"/>
          <a:lstStyle/>
          <a:p>
            <a:pPr indent="0" marL="0">
              <a:lnSpc>
                <a:spcPct val="130000"/>
              </a:lnSpc>
              <a:buNone/>
            </a:pPr>
            <a:r>
              <a:rPr lang="en-US" sz="1200" dirty="0">
                <a:solidFill>
                  <a:srgbClr val="262626"/>
                </a:solidFill>
                <a:latin typeface="Noto Sans JP" pitchFamily="34" charset="0"/>
                <a:ea typeface="Noto Sans JP" pitchFamily="34" charset="-122"/>
                <a:cs typeface="Noto Sans JP" pitchFamily="34" charset="-120"/>
              </a:rPr>
              <a:t>風力側をいくら振っても単調増（3倍まで）。減少に転じさせるのは蓄電池自身のfleet feedback — フェーズC（π(K)曲線→K*）を最優先とする進め方でよいか</a:t>
            </a:r>
            <a:endParaRPr lang="en-US" sz="1200" dirty="0"/>
          </a:p>
        </p:txBody>
      </p:sp>
      <p:sp>
        <p:nvSpPr>
          <p:cNvPr id="11" name="Shape 9"/>
          <p:cNvSpPr/>
          <p:nvPr/>
        </p:nvSpPr>
        <p:spPr>
          <a:xfrm>
            <a:off x="548640" y="4224528"/>
            <a:ext cx="45720" cy="274320"/>
          </a:xfrm>
          <a:prstGeom prst="rect">
            <a:avLst/>
          </a:prstGeom>
          <a:solidFill>
            <a:srgbClr val="0079C2"/>
          </a:solidFill>
          <a:ln/>
        </p:spPr>
      </p:sp>
      <p:sp>
        <p:nvSpPr>
          <p:cNvPr id="12" name="Text 10"/>
          <p:cNvSpPr/>
          <p:nvPr/>
        </p:nvSpPr>
        <p:spPr>
          <a:xfrm>
            <a:off x="676656" y="4206240"/>
            <a:ext cx="10789920" cy="310896"/>
          </a:xfrm>
          <a:prstGeom prst="rect">
            <a:avLst/>
          </a:prstGeom>
          <a:noFill/>
          <a:ln/>
        </p:spPr>
        <p:txBody>
          <a:bodyPr wrap="square" lIns="0" tIns="0" rIns="0" bIns="0" rtlCol="0" anchor="ctr"/>
          <a:lstStyle/>
          <a:p>
            <a:pPr indent="0" marL="0">
              <a:buNone/>
            </a:pPr>
            <a:r>
              <a:rPr lang="en-US" sz="1300" b="1" dirty="0">
                <a:solidFill>
                  <a:srgbClr val="000000"/>
                </a:solidFill>
                <a:latin typeface="Noto Sans JP SemiBold" pitchFamily="34" charset="0"/>
                <a:ea typeface="Noto Sans JP SemiBold" pitchFamily="34" charset="-122"/>
                <a:cs typeface="Noto Sans JP SemiBold" pitchFamily="34" charset="-120"/>
              </a:rPr>
              <a:t>③ durationの扱い</a:t>
            </a:r>
            <a:endParaRPr lang="en-US" sz="1300" dirty="0"/>
          </a:p>
        </p:txBody>
      </p:sp>
      <p:sp>
        <p:nvSpPr>
          <p:cNvPr id="13" name="Text 11"/>
          <p:cNvSpPr/>
          <p:nvPr/>
        </p:nvSpPr>
        <p:spPr>
          <a:xfrm>
            <a:off x="722376" y="4572000"/>
            <a:ext cx="10698480" cy="914400"/>
          </a:xfrm>
          <a:prstGeom prst="rect">
            <a:avLst/>
          </a:prstGeom>
          <a:noFill/>
          <a:ln/>
        </p:spPr>
        <p:txBody>
          <a:bodyPr wrap="square" lIns="0" tIns="0" rIns="0" bIns="0" rtlCol="0" anchor="t"/>
          <a:lstStyle/>
          <a:p>
            <a:pPr indent="0" marL="0">
              <a:lnSpc>
                <a:spcPct val="130000"/>
              </a:lnSpc>
              <a:buNone/>
            </a:pPr>
            <a:r>
              <a:rPr lang="en-US" sz="1200" dirty="0">
                <a:solidFill>
                  <a:srgbClr val="262626"/>
                </a:solidFill>
                <a:latin typeface="Noto Sans JP" pitchFamily="34" charset="0"/>
                <a:ea typeface="Noto Sans JP" pitchFamily="34" charset="-122"/>
                <a:cs typeface="Noto Sans JP" pitchFamily="34" charset="-120"/>
              </a:rPr>
              <a:t>風力の長周期支配（分散の3/4）を踏まえると4h固定は保守的。スポット＋容量市場κ(h)の合算で4h/6h/8hを比較する分析を本論に含めるべきか</a:t>
            </a:r>
            <a:endParaRPr lang="en-US" sz="1200" dirty="0"/>
          </a:p>
        </p:txBody>
      </p:sp>
      <p:sp>
        <p:nvSpPr>
          <p:cNvPr id="14" name="Shape 12"/>
          <p:cNvSpPr/>
          <p:nvPr/>
        </p:nvSpPr>
        <p:spPr>
          <a:xfrm>
            <a:off x="548640" y="5669280"/>
            <a:ext cx="11091672" cy="566928"/>
          </a:xfrm>
          <a:prstGeom prst="rect">
            <a:avLst/>
          </a:prstGeom>
          <a:solidFill>
            <a:srgbClr val="F0F6FB"/>
          </a:solidFill>
          <a:ln/>
        </p:spPr>
      </p:sp>
      <p:sp>
        <p:nvSpPr>
          <p:cNvPr id="15" name="Text 13"/>
          <p:cNvSpPr/>
          <p:nvPr/>
        </p:nvSpPr>
        <p:spPr>
          <a:xfrm>
            <a:off x="777240" y="5669280"/>
            <a:ext cx="10607040" cy="566928"/>
          </a:xfrm>
          <a:prstGeom prst="rect">
            <a:avLst/>
          </a:prstGeom>
          <a:noFill/>
          <a:ln/>
        </p:spPr>
        <p:txBody>
          <a:bodyPr wrap="square" lIns="0" tIns="0" rIns="0" bIns="0" rtlCol="0" anchor="ctr"/>
          <a:lstStyle/>
          <a:p>
            <a:pPr indent="0" marL="0">
              <a:buNone/>
            </a:pPr>
            <a:r>
              <a:rPr lang="en-US" sz="1100" dirty="0">
                <a:solidFill>
                  <a:srgbClr val="262626"/>
                </a:solidFill>
                <a:latin typeface="Noto Sans JP" pitchFamily="34" charset="0"/>
                <a:ea typeface="Noto Sans JP" pitchFamily="34" charset="-122"/>
                <a:cs typeface="Noto Sans JP" pitchFamily="34" charset="-120"/>
              </a:rPr>
              <a:t>（時間があれば）実証第一弾（分位点回帰・帯域分解）の切り出し方／容量市場の参加区分想定・WACC設定方針</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2026-08-17T10:30:46Z</dcterms:created>
  <dcterms:modified xsi:type="dcterms:W3CDTF">2026-08-17T10:30:46Z</dcterms:modified>
</cp:coreProperties>
</file>