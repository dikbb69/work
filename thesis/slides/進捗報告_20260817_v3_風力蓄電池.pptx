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風力大の日</c:v>
                </c:pt>
              </c:strCache>
            </c:strRef>
          </c:tx>
          <c:spPr>
            <a:solidFill>
              <a:srgbClr val="D95B20"/>
            </a:solidFill>
            <a:ln w="28575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11.31</c:v>
                </c:pt>
                <c:pt idx="1">
                  <c:v>10.5</c:v>
                </c:pt>
                <c:pt idx="2">
                  <c:v>10.68</c:v>
                </c:pt>
                <c:pt idx="3">
                  <c:v>11.04</c:v>
                </c:pt>
                <c:pt idx="4">
                  <c:v>11.05</c:v>
                </c:pt>
                <c:pt idx="5">
                  <c:v>10.31</c:v>
                </c:pt>
                <c:pt idx="6">
                  <c:v>9.62</c:v>
                </c:pt>
                <c:pt idx="7">
                  <c:v>8.98</c:v>
                </c:pt>
                <c:pt idx="8">
                  <c:v>9.7</c:v>
                </c:pt>
                <c:pt idx="9">
                  <c:v>9.71</c:v>
                </c:pt>
                <c:pt idx="10">
                  <c:v>8.6</c:v>
                </c:pt>
                <c:pt idx="11">
                  <c:v>8.63</c:v>
                </c:pt>
                <c:pt idx="12">
                  <c:v>8.1</c:v>
                </c:pt>
                <c:pt idx="13">
                  <c:v>10.37</c:v>
                </c:pt>
                <c:pt idx="14">
                  <c:v>12.05</c:v>
                </c:pt>
                <c:pt idx="15">
                  <c:v>13.6</c:v>
                </c:pt>
                <c:pt idx="16">
                  <c:v>16.32</c:v>
                </c:pt>
                <c:pt idx="17">
                  <c:v>17.38</c:v>
                </c:pt>
                <c:pt idx="18">
                  <c:v>18.49</c:v>
                </c:pt>
                <c:pt idx="19">
                  <c:v>18.03</c:v>
                </c:pt>
                <c:pt idx="20">
                  <c:v>16.63</c:v>
                </c:pt>
                <c:pt idx="21">
                  <c:v>14.4</c:v>
                </c:pt>
                <c:pt idx="22">
                  <c:v>12.88</c:v>
                </c:pt>
                <c:pt idx="23">
                  <c:v>11.85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風力小の日</c:v>
                </c:pt>
              </c:strCache>
            </c:strRef>
          </c:tx>
          <c:spPr>
            <a:solidFill>
              <a:srgbClr val="0079C2"/>
            </a:solidFill>
            <a:ln w="28575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12.33</c:v>
                </c:pt>
                <c:pt idx="1">
                  <c:v>11.34</c:v>
                </c:pt>
                <c:pt idx="2">
                  <c:v>11.37</c:v>
                </c:pt>
                <c:pt idx="3">
                  <c:v>11.84</c:v>
                </c:pt>
                <c:pt idx="4">
                  <c:v>12.1</c:v>
                </c:pt>
                <c:pt idx="5">
                  <c:v>11.41</c:v>
                </c:pt>
                <c:pt idx="6">
                  <c:v>10.83</c:v>
                </c:pt>
                <c:pt idx="7">
                  <c:v>10.01</c:v>
                </c:pt>
                <c:pt idx="8">
                  <c:v>10.59</c:v>
                </c:pt>
                <c:pt idx="9">
                  <c:v>10.41</c:v>
                </c:pt>
                <c:pt idx="10">
                  <c:v>9.37</c:v>
                </c:pt>
                <c:pt idx="11">
                  <c:v>9.72</c:v>
                </c:pt>
                <c:pt idx="12">
                  <c:v>8.9</c:v>
                </c:pt>
                <c:pt idx="13">
                  <c:v>11.46</c:v>
                </c:pt>
                <c:pt idx="14">
                  <c:v>12.68</c:v>
                </c:pt>
                <c:pt idx="15">
                  <c:v>15.2</c:v>
                </c:pt>
                <c:pt idx="16">
                  <c:v>17.57</c:v>
                </c:pt>
                <c:pt idx="17">
                  <c:v>18.7</c:v>
                </c:pt>
                <c:pt idx="18">
                  <c:v>20.51</c:v>
                </c:pt>
                <c:pt idx="19">
                  <c:v>19.38</c:v>
                </c:pt>
                <c:pt idx="20">
                  <c:v>17.61</c:v>
                </c:pt>
                <c:pt idx="21">
                  <c:v>15.62</c:v>
                </c:pt>
                <c:pt idx="22">
                  <c:v>14.26</c:v>
                </c:pt>
                <c:pt idx="23">
                  <c:v>13.05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21"/>
          <c:min val="4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9595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風力大の日</c:v>
                </c:pt>
              </c:strCache>
            </c:strRef>
          </c:tx>
          <c:spPr>
            <a:solidFill>
              <a:srgbClr val="D95B20"/>
            </a:solidFill>
            <a:ln w="28575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10.92</c:v>
                </c:pt>
                <c:pt idx="1">
                  <c:v>10.73</c:v>
                </c:pt>
                <c:pt idx="2">
                  <c:v>10.85</c:v>
                </c:pt>
                <c:pt idx="3">
                  <c:v>10.91</c:v>
                </c:pt>
                <c:pt idx="4">
                  <c:v>11</c:v>
                </c:pt>
                <c:pt idx="5">
                  <c:v>11.43</c:v>
                </c:pt>
                <c:pt idx="6">
                  <c:v>12.42</c:v>
                </c:pt>
                <c:pt idx="7">
                  <c:v>12.53</c:v>
                </c:pt>
                <c:pt idx="8">
                  <c:v>11.92</c:v>
                </c:pt>
                <c:pt idx="9">
                  <c:v>11.09</c:v>
                </c:pt>
                <c:pt idx="10">
                  <c:v>9.54</c:v>
                </c:pt>
                <c:pt idx="11">
                  <c:v>8.7</c:v>
                </c:pt>
                <c:pt idx="12">
                  <c:v>7.79</c:v>
                </c:pt>
                <c:pt idx="13">
                  <c:v>9.28</c:v>
                </c:pt>
                <c:pt idx="14">
                  <c:v>10.02</c:v>
                </c:pt>
                <c:pt idx="15">
                  <c:v>11.59</c:v>
                </c:pt>
                <c:pt idx="16">
                  <c:v>13.42</c:v>
                </c:pt>
                <c:pt idx="17">
                  <c:v>13.98</c:v>
                </c:pt>
                <c:pt idx="18">
                  <c:v>13.79</c:v>
                </c:pt>
                <c:pt idx="19">
                  <c:v>13.16</c:v>
                </c:pt>
                <c:pt idx="20">
                  <c:v>12.99</c:v>
                </c:pt>
                <c:pt idx="21">
                  <c:v>12.47</c:v>
                </c:pt>
                <c:pt idx="22">
                  <c:v>11.5</c:v>
                </c:pt>
                <c:pt idx="23">
                  <c:v>11.42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風力小の日</c:v>
                </c:pt>
              </c:strCache>
            </c:strRef>
          </c:tx>
          <c:spPr>
            <a:solidFill>
              <a:srgbClr val="0079C2"/>
            </a:solidFill>
            <a:ln w="28575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12.45</c:v>
                </c:pt>
                <c:pt idx="1">
                  <c:v>12.27</c:v>
                </c:pt>
                <c:pt idx="2">
                  <c:v>12.34</c:v>
                </c:pt>
                <c:pt idx="3">
                  <c:v>12.5</c:v>
                </c:pt>
                <c:pt idx="4">
                  <c:v>12.75</c:v>
                </c:pt>
                <c:pt idx="5">
                  <c:v>12.91</c:v>
                </c:pt>
                <c:pt idx="6">
                  <c:v>14.28</c:v>
                </c:pt>
                <c:pt idx="7">
                  <c:v>14.25</c:v>
                </c:pt>
                <c:pt idx="8">
                  <c:v>13.61</c:v>
                </c:pt>
                <c:pt idx="9">
                  <c:v>12.22</c:v>
                </c:pt>
                <c:pt idx="10">
                  <c:v>10.87</c:v>
                </c:pt>
                <c:pt idx="11">
                  <c:v>9.88</c:v>
                </c:pt>
                <c:pt idx="12">
                  <c:v>9.18</c:v>
                </c:pt>
                <c:pt idx="13">
                  <c:v>10.49</c:v>
                </c:pt>
                <c:pt idx="14">
                  <c:v>11.43</c:v>
                </c:pt>
                <c:pt idx="15">
                  <c:v>13.69</c:v>
                </c:pt>
                <c:pt idx="16">
                  <c:v>15.17</c:v>
                </c:pt>
                <c:pt idx="17">
                  <c:v>15.82</c:v>
                </c:pt>
                <c:pt idx="18">
                  <c:v>15.44</c:v>
                </c:pt>
                <c:pt idx="19">
                  <c:v>14.65</c:v>
                </c:pt>
                <c:pt idx="20">
                  <c:v>14.05</c:v>
                </c:pt>
                <c:pt idx="21">
                  <c:v>13.26</c:v>
                </c:pt>
                <c:pt idx="22">
                  <c:v>12.31</c:v>
                </c:pt>
                <c:pt idx="23">
                  <c:v>12.13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21"/>
          <c:min val="4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風力大の日</c:v>
                </c:pt>
              </c:strCache>
            </c:strRef>
          </c:tx>
          <c:spPr>
            <a:solidFill>
              <a:srgbClr val="D95B20"/>
            </a:solidFill>
            <a:ln w="28575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11.33</c:v>
                </c:pt>
                <c:pt idx="1">
                  <c:v>11</c:v>
                </c:pt>
                <c:pt idx="2">
                  <c:v>11.22</c:v>
                </c:pt>
                <c:pt idx="3">
                  <c:v>11.68</c:v>
                </c:pt>
                <c:pt idx="4">
                  <c:v>11.87</c:v>
                </c:pt>
                <c:pt idx="5">
                  <c:v>11.88</c:v>
                </c:pt>
                <c:pt idx="6">
                  <c:v>11.61</c:v>
                </c:pt>
                <c:pt idx="7">
                  <c:v>9.28</c:v>
                </c:pt>
                <c:pt idx="8">
                  <c:v>7.87</c:v>
                </c:pt>
                <c:pt idx="9">
                  <c:v>6.85</c:v>
                </c:pt>
                <c:pt idx="10">
                  <c:v>5.62</c:v>
                </c:pt>
                <c:pt idx="11">
                  <c:v>5.4</c:v>
                </c:pt>
                <c:pt idx="12">
                  <c:v>4.73</c:v>
                </c:pt>
                <c:pt idx="13">
                  <c:v>6.59</c:v>
                </c:pt>
                <c:pt idx="14">
                  <c:v>8.27</c:v>
                </c:pt>
                <c:pt idx="15">
                  <c:v>10.93</c:v>
                </c:pt>
                <c:pt idx="16">
                  <c:v>14.05</c:v>
                </c:pt>
                <c:pt idx="17">
                  <c:v>15.03</c:v>
                </c:pt>
                <c:pt idx="18">
                  <c:v>15.47</c:v>
                </c:pt>
                <c:pt idx="19">
                  <c:v>15.19</c:v>
                </c:pt>
                <c:pt idx="20">
                  <c:v>14.17</c:v>
                </c:pt>
                <c:pt idx="21">
                  <c:v>12.85</c:v>
                </c:pt>
                <c:pt idx="22">
                  <c:v>12.06</c:v>
                </c:pt>
                <c:pt idx="23">
                  <c:v>11.62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風力小の日</c:v>
                </c:pt>
              </c:strCache>
            </c:strRef>
          </c:tx>
          <c:spPr>
            <a:solidFill>
              <a:srgbClr val="0079C2"/>
            </a:solidFill>
            <a:ln w="28575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12.37</c:v>
                </c:pt>
                <c:pt idx="1">
                  <c:v>11.88</c:v>
                </c:pt>
                <c:pt idx="2">
                  <c:v>12.15</c:v>
                </c:pt>
                <c:pt idx="3">
                  <c:v>12.64</c:v>
                </c:pt>
                <c:pt idx="4">
                  <c:v>12.95</c:v>
                </c:pt>
                <c:pt idx="5">
                  <c:v>13.03</c:v>
                </c:pt>
                <c:pt idx="6">
                  <c:v>12.6</c:v>
                </c:pt>
                <c:pt idx="7">
                  <c:v>10.36</c:v>
                </c:pt>
                <c:pt idx="8">
                  <c:v>9.16</c:v>
                </c:pt>
                <c:pt idx="9">
                  <c:v>8.04</c:v>
                </c:pt>
                <c:pt idx="10">
                  <c:v>6.7</c:v>
                </c:pt>
                <c:pt idx="11">
                  <c:v>6.36</c:v>
                </c:pt>
                <c:pt idx="12">
                  <c:v>5.67</c:v>
                </c:pt>
                <c:pt idx="13">
                  <c:v>8.16</c:v>
                </c:pt>
                <c:pt idx="14">
                  <c:v>10.66</c:v>
                </c:pt>
                <c:pt idx="15">
                  <c:v>13.37</c:v>
                </c:pt>
                <c:pt idx="16">
                  <c:v>16.39</c:v>
                </c:pt>
                <c:pt idx="17">
                  <c:v>17.22</c:v>
                </c:pt>
                <c:pt idx="18">
                  <c:v>16.9</c:v>
                </c:pt>
                <c:pt idx="19">
                  <c:v>16.51</c:v>
                </c:pt>
                <c:pt idx="20">
                  <c:v>15.41</c:v>
                </c:pt>
                <c:pt idx="21">
                  <c:v>14.22</c:v>
                </c:pt>
                <c:pt idx="22">
                  <c:v>13.73</c:v>
                </c:pt>
                <c:pt idx="23">
                  <c:v>12.87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21"/>
          <c:min val="4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capture</c:v>
                </c:pt>
              </c:strCache>
            </c:strRef>
          </c:tx>
          <c:spPr>
            <a:solidFill>
              <a:srgbClr val="17687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687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B6E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DB6E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5B2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79C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完全予見PF</c:v>
                  </c:pt>
                  <c:pt idx="1">
                    <c:v>a 前日価格</c:v>
                  </c:pt>
                  <c:pt idx="2">
                    <c:v>a2 同区分前日</c:v>
                  </c:pt>
                  <c:pt idx="3">
                    <c:v>c 平均価格(気候値)</c:v>
                  </c:pt>
                  <c:pt idx="4">
                    <c:v>b 残余需要予測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68.5</c:v>
                </c:pt>
                <c:pt idx="2">
                  <c:v>69.4</c:v>
                </c:pt>
                <c:pt idx="3">
                  <c:v>81.7</c:v>
                </c:pt>
                <c:pt idx="4">
                  <c:v>78.8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PF</c:v>
                </c:pt>
              </c:strCache>
            </c:strRef>
          </c:tx>
          <c:spPr>
            <a:solidFill>
              <a:srgbClr val="5DB6E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DB6E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9C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7687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0B437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2h</c:v>
                  </c:pt>
                  <c:pt idx="1">
                    <c:v>4h</c:v>
                  </c:pt>
                  <c:pt idx="2">
                    <c:v>6h</c:v>
                  </c:pt>
                  <c:pt idx="3">
                    <c:v>8h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6026</c:v>
                </c:pt>
                <c:pt idx="1">
                  <c:v>10317</c:v>
                </c:pt>
                <c:pt idx="2">
                  <c:v>13062</c:v>
                </c:pt>
                <c:pt idx="3">
                  <c:v>14354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泊なし（現状）</c:v>
                </c:pt>
              </c:strCache>
            </c:strRef>
          </c:tx>
          <c:spPr>
            <a:solidFill>
              <a:srgbClr val="0079C2"/>
            </a:solidFill>
            <a:ln w="31750" cap="flat">
              <a:solidFill>
                <a:srgbClr val="0079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9C2"/>
              </a:solidFill>
              <a:ln w="9525" cap="flat">
                <a:solidFill>
                  <a:srgbClr val="0079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61</c:v>
                  </c:pt>
                  <c:pt idx="1">
                    <c:v>91</c:v>
                  </c:pt>
                  <c:pt idx="2">
                    <c:v>121</c:v>
                  </c:pt>
                  <c:pt idx="3">
                    <c:v>151</c:v>
                  </c:pt>
                  <c:pt idx="4">
                    <c:v>182</c:v>
                  </c:pt>
                  <c:pt idx="5">
                    <c:v>212</c:v>
                  </c:pt>
                  <c:pt idx="6">
                    <c:v>242</c:v>
                  </c:pt>
                  <c:pt idx="7">
                    <c:v>303</c:v>
                  </c:pt>
                  <c:pt idx="8">
                    <c:v>363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8528</c:v>
                </c:pt>
                <c:pt idx="1">
                  <c:v>8574</c:v>
                </c:pt>
                <c:pt idx="2">
                  <c:v>8593</c:v>
                </c:pt>
                <c:pt idx="3">
                  <c:v>8663</c:v>
                </c:pt>
                <c:pt idx="4">
                  <c:v>8792</c:v>
                </c:pt>
                <c:pt idx="5">
                  <c:v>9000</c:v>
                </c:pt>
                <c:pt idx="6">
                  <c:v>9198</c:v>
                </c:pt>
                <c:pt idx="7">
                  <c:v>9824</c:v>
                </c:pt>
                <c:pt idx="8">
                  <c:v>10554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泊3号再稼働</c:v>
                </c:pt>
              </c:strCache>
            </c:strRef>
          </c:tx>
          <c:spPr>
            <a:solidFill>
              <a:srgbClr val="D95B20"/>
            </a:solidFill>
            <a:ln w="31750" cap="flat">
              <a:solidFill>
                <a:srgbClr val="D95B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76871"/>
                    </a:solidFill>
                    <a:latin typeface="Noto Sans JP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5B20"/>
              </a:solidFill>
              <a:ln w="9525" cap="flat">
                <a:solidFill>
                  <a:srgbClr val="D95B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61</c:v>
                  </c:pt>
                  <c:pt idx="1">
                    <c:v>91</c:v>
                  </c:pt>
                  <c:pt idx="2">
                    <c:v>121</c:v>
                  </c:pt>
                  <c:pt idx="3">
                    <c:v>151</c:v>
                  </c:pt>
                  <c:pt idx="4">
                    <c:v>182</c:v>
                  </c:pt>
                  <c:pt idx="5">
                    <c:v>212</c:v>
                  </c:pt>
                  <c:pt idx="6">
                    <c:v>242</c:v>
                  </c:pt>
                  <c:pt idx="7">
                    <c:v>303</c:v>
                  </c:pt>
                  <c:pt idx="8">
                    <c:v>363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9271</c:v>
                </c:pt>
                <c:pt idx="1">
                  <c:v>9488</c:v>
                </c:pt>
                <c:pt idx="2">
                  <c:v>9777</c:v>
                </c:pt>
                <c:pt idx="3">
                  <c:v>10053</c:v>
                </c:pt>
                <c:pt idx="4">
                  <c:v>10459</c:v>
                </c:pt>
                <c:pt idx="5">
                  <c:v>10901</c:v>
                </c:pt>
                <c:pt idx="6">
                  <c:v>11271</c:v>
                </c:pt>
                <c:pt idx="7">
                  <c:v>12009</c:v>
                </c:pt>
                <c:pt idx="8">
                  <c:v>12615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76871"/>
                  </a:solidFill>
                  <a:latin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000000"/>
                    </a:solidFill>
                    <a:latin typeface="Arial"/>
                  </a:rPr>
                  <a:t>風力導入量 K_wind（万kW）※現状121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  <c:min val="800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9595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修士論文　進捗報告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3218688"/>
            <a:ext cx="1737360" cy="54864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520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松葉 大希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2026.08.17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 × 蓄電池 — 北海道市場の初期実証と、風力増加が蓄電池価値に与える影響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現在の課題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97840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960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前回までの発表内容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太陽光×蓄電池＠九州: 前日一括約定の情報構造の下、完全予見ベースの価値算定と価値減少の要因分解（太陽光は増え続けるのに裁定価値は減少に転じた）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103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今回の位置づけ: エリアと焦点の転換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エリアを九州→北海道へ、焦点を太陽光→風力へ。「風力の増加は蓄電池の価値をどう変えるか」を北海道データで走り切る</a:t>
            </a:r>
            <a:endParaRPr lang="en-US" sz="125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北海道は風力/需要比が全国最大級・シェア実測10%超（先行研究のMOE検出水準を超過）・洋上5海域が控える「風力の実験場」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758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3657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本日の構成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233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風力は価格に何をしているか（価格カーブ・MOE・分断）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蓄電池価値の実測（床・PF・風力依存・capture率）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風力の時間構造とduration（帯域分解・2/4/6/8h）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 風力増加×蓄電池価値の反実仮想（K_windスイープ＝本日の中心図）</a:t>
            </a:r>
            <a:endParaRPr lang="en-US" sz="1250" dirty="0"/>
          </a:p>
          <a:p>
            <a:pPr marL="152400" indent="-152400">
              <a:lnSpc>
                <a:spcPct val="120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⑤ 今後の方針（均衡容量K*へ）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データ基盤と「風力の現在地」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需給実績×価格の10年パネルを自前構築（検証アンカーで品質確認済み）— 北海道は日本初の風力主導市場になりつつある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9844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2801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データ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64592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北海道・東北の需給実績＋JEPXエリアプライス: 2016/4〜2026/6・約9万時間（新旧様式統合）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FIT/FIP認定量から導入量系列を構築 → 設備利用率（cf）過程を抽出。検証アンカー: 制御初日一致・JWPA/系統WGと整合・2018/9欠測=胆振東部地震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834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風力の現在地（北海道）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5440680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3101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130万kW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7307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導入量（2024年末）— 直近2年で倍増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5440680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3101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10.2〜10.3%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37307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電力量シェア実測（FY2024-25）＝Woo(5-8%)・Ketterer(6-8%)のMOE検出水準を超過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5440680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5445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風力/需要比 全国最大級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9651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洋上5海域＋380万kWが控える。導入量は今後も外生的に増加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4434840"/>
            <a:ext cx="5440680" cy="1097280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5445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B2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抑制率 0.1%→1.35%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9651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FY2025→FY2026(4-6月)。抑制時代の入口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太陽光も234万kWあり無視はしない（価格カーブの季節別・晴天日分析は別添Excel「価格カーブ形状」）。ただし本日は風力を主役に据える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風力は価格に何をするか（1/2）— 一日全体が「平行に」沈む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風力大の日は全時間帯で−1.1〜−1.4円/kWh。形はほぼ変えない — 昼だけ彫る太陽光と対照的で、これが蓄電池への効き方を決める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需要期・夏（7-8月）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691640"/>
          <a:ext cx="3749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438912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需要期・冬（12-2月）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297680" y="1691640"/>
          <a:ext cx="3749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822960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不需要期（4-5・10-11月）</a:t>
            </a:r>
            <a:endParaRPr lang="en-US" sz="110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8138160" y="1691640"/>
          <a:ext cx="3749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読み方: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夕方スパイク（蓄電池の放電原資）は風力大の日でも高いまま残る。風力の日内振幅は平均の14〜18%しかなく（太陽光は数倍）、日内の「形」を作らない — 効くのは水準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54864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風力大/小＝各季節内で日次風力発電量（制御前）の上位/下位1/3の日（FY2023-25）。データは別添Excel「風力価格カーブ」で編集可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風力は価格に何をするか（2/2）— MOEの分位構造と、分断の駆動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高い時間帯ほど強く効く風力MOEは連系線増強で減衰中 — 代わりに風力は「安値分断」を駆動し始めた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分位点回帰（Sakaguchi &amp; Fujii 2021 の再現・延長）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高分位ほど強い風力MOE: τ0.9で−11.2円/kWh/GW（FY2016-19）→ FY2023-25は−4〜−7円へ減衰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減衰の正体は北本増強・市場統合＝実効市場サイズの拡大。「シェアが増えるほどMOEが強まる」という単純な外挿は北海道では成立しない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市場分断は方向が逆転: 高値分断87〜92% → 約60%、安値分断1〜5% → 約30%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472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4290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風力は「安値分断」を駆動している（風力三分位別・時間/日、FY2023-25）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6583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60020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季節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風力小の日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風力大の日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変化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8.1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10.3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+2.2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需要期・冬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3.1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8.3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+5.2（2.7倍）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不需要期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4.6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9.1 h/日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+4.5（2.0倍）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7406640" y="3794760"/>
            <a:ext cx="4233672" cy="173736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379476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含意: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風力が吹くと北本の輸出が飽和し、道内価格が本州から下方に切り離される。連系線と蓄電池は同じ余剰を取り合う競合であり、輸出が飽和した先の受け皿が蓄電池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4864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安値分断＝道内価格＜システムプライス−0.01円の時間。分位点回帰は打ち切り対応（0.01円床）。データ: 別添Excel「風力×裁定指標」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蓄電池価値の実測（1/3）— 床は九州の半分、価値は九州並み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北海道の裁定価値の源泉は「昼の床」ではなく「夕方スパイク」— 風力がスパイクを削らないからこそ成立している構図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9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床コマ（0.01円/kWh）は年473コマ ＝ 九州の約半分。ダックカーブは形成途上</a:t>
            </a:r>
            <a:endParaRPr lang="en-US" sz="1200" dirty="0"/>
          </a:p>
          <a:p>
            <a:pPr marL="152400" indent="-152400">
              <a:lnSpc>
                <a:spcPct val="120000"/>
              </a:lnSpc>
              <a:spcAft>
                <a:spcPts val="9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完全予見4h裁定価値（PF）は0.96〜1.15万円/kW-年で九州と同水準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九州: 太陽光が作る昼の床（安値側）が源泉 ／ 北海道: 夕方スパイク（高値側）が源泉</a:t>
            </a:r>
            <a:endParaRPr lang="en-US" sz="1200" dirty="0"/>
          </a:p>
          <a:p>
            <a:pPr lvl="1" marL="254000" indent="-127000">
              <a:lnSpc>
                <a:spcPct val="120000"/>
              </a:lnSpc>
              <a:spcAft>
                <a:spcPts val="900"/>
              </a:spcAft>
              <a:buSzPct val="100000"/>
              <a:buChar char="–"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前頁の価格カーブが示す通り、風力はスパイクをほとんど削らない → 放電側の原資は当面頑健</a:t>
            </a:r>
            <a:endParaRPr lang="en-US" sz="120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床がまだ少ない＝充電側の「タダ同然の電気」はこれから — 風力・泊がそれを作る（後段のスイープへ）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0" y="1371600"/>
            <a:ext cx="4325112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8" name="Text 6"/>
          <p:cNvSpPr/>
          <p:nvPr/>
        </p:nvSpPr>
        <p:spPr>
          <a:xfrm>
            <a:off x="7543800" y="1508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473コマ/年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43800" y="1993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床コマ（九州の約半分）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0" y="2606040"/>
            <a:ext cx="4325112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543800" y="2743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0.96〜1.15万円/kW-年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43800" y="32278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PF価値（九州と同水準）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0" y="3840480"/>
            <a:ext cx="4325112" cy="109728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4" name="Text 12"/>
          <p:cNvSpPr/>
          <p:nvPr/>
        </p:nvSpPr>
        <p:spPr>
          <a:xfrm>
            <a:off x="7543800" y="3977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夕方スパイク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543800" y="44622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価値の源泉（九州は昼の床）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PF＝完全予見・4時間・往復効率0.85・1日1サイクル。床コマはエリアプライス30分値。九州比較は前回発表と同一手法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蓄電池価値の実測（2/3）— 現在の風力水準では、風力大の日は価値を「やや下げる」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平行シフトはスプレッドを微圧縮（冬は−19%）。床はまだほぼ出ない — 「床に届く前」の段階にいる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417320"/>
                <a:gridCol w="2011680"/>
                <a:gridCol w="2514600"/>
                <a:gridCol w="1691640"/>
                <a:gridCol w="185623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季節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風力三分位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TB4hスプレッド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PF粗利（円/kW-日）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床時間（h/日）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安値分断（h/日）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10.72円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31.2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0.13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10.38円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30.7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0.06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需要期・冬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7.24円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19.0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0.02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5.92円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15.3（−19%）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0.04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8.3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不需要期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11.38円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35.1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0.89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4.6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風力大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10.55円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32.8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1.37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9.1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45720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読み方: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①風力大の日はスプレッドがやや縮む（平行シフト＋輸出飽和による全体安）＝ 目先の蓄電池には微マイナス。②しかし床時間はまだほぼゼロ — 風力は「タダの電気」をまだ作れていない。③安値分断だけが急増しており、輸出の受け皿が飽和した次に床が現れる。この転換を導入量の軸で見るのが次々頁のスイープ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風力三分位＝各季節内の日次風力発電量（制御前）による3等分（FY2023-25）。データ: 別添Excel「風力×裁定指標」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蓄電池価値の実測（3/3）— 実行可能戦略と「風力ノイズは前日情報で取れない」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捕捉率の最善は単純な平均化（気候値）の81〜83% — 風力主導の価格変動は前日時点でほぼ予測不能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6126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実行可能戦略のcapture率（完全予見PF=100%、FY2023-25）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a. 前日の実現価格ランク: 68.0〜69.3% — 昨日の風力ノイズを追いかけて自滅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a2. 同曜日区分の直近日: 68.6〜70.4%（日タイプ補正は+1ptのみ）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c. 過去28日・同区分の平均価格ランク（気候値）: 80.6〜82.6% ＝ 最善</a:t>
            </a:r>
            <a:endParaRPr lang="en-US" sz="11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b. 予測残余需要ランク（需要28日−太陽光7日平均）: 77.3〜80.8%</a:t>
            </a:r>
            <a:endParaRPr lang="en-US" sz="11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含意①: 価格形状＝安定した骨格＋ほぼ無相関の風力ノイズ。骨格は平均化で取り尽くせ、ノイズは前日情報では取れない（風力持続性の追加も改善ゼロ）</a:t>
            </a:r>
            <a:endParaRPr lang="en-US" sz="1150" dirty="0"/>
          </a:p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含意②: 実現可能収益のヘアカットは約18〜19%（気候値ベース）— 均衡計算の校正係数に使用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9494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8" name="Text 6"/>
          <p:cNvSpPr/>
          <p:nvPr/>
        </p:nvSpPr>
        <p:spPr>
          <a:xfrm>
            <a:off x="7077456" y="13258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capture率（PF＝100%）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949440" y="1737360"/>
          <a:ext cx="4663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949440" y="5760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棒はFY2023-25平均。分解実験: analysis/16（共通サンプル）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風力の時間構造とduration — 4h電池が「食える帯域」は限られる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風力分散の3/4は1日超の長周期。スポットの限界価値はhとともに逓減、容量市場のκ(h)は漸増 — 最適durationは両市場の合算で決まる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風力変動の帯域分解（分散シェア）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09728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帯域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風力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太陽光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対応する貯蔵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日内（&lt;24h）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25.7%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約2/3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4h蓄電池の主戦場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1〜7日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35.7%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数日貯蔵・連系線・火力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7日超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38.6%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小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季節間（P2G等）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5800" y="35204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lnSpc>
                <a:spcPct val="120000"/>
              </a:lnSpc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移動平均カスケードによる帯域分解（FY2022-25、非直交・交差項あり）。風力の日内成分が小さい＝価格カーブの平行シフト・b′の空振りと同根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1228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1" name="Text 8"/>
          <p:cNvSpPr/>
          <p:nvPr/>
        </p:nvSpPr>
        <p:spPr>
          <a:xfrm>
            <a:off x="6940296" y="1325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duration曲線（スポットPF価値・FY23-25平均）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6812280" y="1737360"/>
          <a:ext cx="4800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470916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777240"/>
                <a:gridCol w="777240"/>
                <a:gridCol w="777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6h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スポット（4h比）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0.58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1.00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1.27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1.39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容量市場 κ(h)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—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83.6%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93.2%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98.3%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0"/>
          <p:cNvSpPr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4h→6hでスポット+27%＋κ+9.6pt、6h→8hは+9%＋5.1pt — 長周期が支配的な風力市場ほど「longer durationの価値」が両市場で残る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風力増加 × 蓄電池価値（本日の中心図）— 風力は蓄電池の敵ではなく「餌」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K_windを0.5〜3倍に振ると蓄電池スポット価値は単調増加 — 0.01円の床が、風力の価値破壊を充電機会に変換する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蓄電池スポット価値 PF（円/kW-年、FY23-25平均・仕様B）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57607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7208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7"/>
          <p:cNvSpPr/>
          <p:nvPr/>
        </p:nvSpPr>
        <p:spPr>
          <a:xfrm>
            <a:off x="6848856" y="1325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メカニズムと読み方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20840" y="1737360"/>
            <a:ext cx="49194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現状近傍では微増（+70円/25%増）→ 2倍で+600円 → 3倍で+2,000円/kW-年。床時間は117→807h/年（泊ありなら2,247h）に立ち上がる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なぜ増える: 風力は水準を下げるだけだが、0.01円床に当たると安い側だけが切り取られ（センサリング）、夕方スパイクは無傷 → スプレッド拡大</a:t>
            </a:r>
            <a:endParaRPr lang="en-US" sz="1050" dirty="0"/>
          </a:p>
          <a:p>
            <a:pPr lvl="1" marL="254000" indent="-127000">
              <a:lnSpc>
                <a:spcPct val="1200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実測（前々頁）の「風力大の日は微マイナス」と矛盾しない: あれは床に届く前の姿。導入量が増えて床に届くと符号が反転する</a:t>
            </a:r>
            <a:endParaRPr lang="en-US" sz="1050" dirty="0"/>
          </a:p>
          <a:p>
            <a:pPr marL="152400" indent="-152400">
              <a:lnSpc>
                <a:spcPct val="120000"/>
              </a:lnSpc>
              <a:spcAft>
                <a:spcPts val="400"/>
              </a:spcAft>
              <a:buSzPct val="100000"/>
              <a:buChar char="■"/>
            </a:pPr>
            <a:r>
              <a:rPr lang="en-US" sz="105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価値の上限を決めるのは風力ではなく蓄電池自身の競合（K↑→床を自分で埋める）— このfleet feedbackの内生化が次のフェーズC＝均衡容量K*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5623560"/>
            <a:ext cx="11091672" cy="566928"/>
          </a:xfrm>
          <a:prstGeom prst="rect">
            <a:avLst/>
          </a:prstGeom>
          <a:solidFill>
            <a:srgbClr val="FDF0E8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留保: 部分均衡（蓄電池フリート応答・p_system・供給側の内生反応・連系線増強は未反映）。3倍はロジットの外挿域 — 水準は幅を持って、方向とメカニズムを主張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6263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価格過程v1: p=g(net;季節)+μ(時刻)・分断3レジーム混合・共通乱数。K_windはcf過程を保って一律スケール。データ: 別添Excel「風力スイープ」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対象の拡張 — 系統用（FTM）に加えて併設（BTM）という第2の柱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抑制の1割強は「エリア価格が高いのに」起きている ＝ エリア価格に映らないBTM固有の価値。当初対象（系統用）だけでは価値の総体を捉えられない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3258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根拠① 風力の出力制御が立ち上がった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91440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FY2022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FY2024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FY2025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FY2026(4-6月)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抑制率（エネルギー）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0.01%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0.04%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0.10%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1.35%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抑制時間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12h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12h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109h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235h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29900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" y="297180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根拠② 抑制発生時間のエリア価格内訳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床（0.01円）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0.01〜5円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5円超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FY2025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60%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28%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12.8%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FY2026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68%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19%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12.8%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85800" y="4526280"/>
            <a:ext cx="5715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lnSpc>
                <a:spcPct val="120000"/>
              </a:lnSpc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5円超での抑制＝エリア余剰でなくローカル系統混雑・下げ代制約。ノーダル価格がない日本では、この損失はエリア価格に映らない → 当方のπ_spotはBTM価値をゼロと計上（＝現行分析は価値の下限）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720840" y="134416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4" name="Text 10"/>
          <p:cNvSpPr/>
          <p:nvPr/>
        </p:nvSpPr>
        <p:spPr>
          <a:xfrm>
            <a:off x="6848856" y="1325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根拠③ 回避価値の上限試算（cf26%・FIP14円）</a:t>
            </a:r>
            <a:endParaRPr lang="en-US" sz="13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691640"/>
          <a:ext cx="49194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6276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抑制率シナリオ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円/kW風力-年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併設0.64kWh/kWあたり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現状 1.35%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430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673円/kWh-年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957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1,495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5%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1,594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2,491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8%（九州太陽光並み）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2,551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5B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3,986円/kWh-年</a:t>
                      </a:r>
                      <a:endParaRPr lang="en-US" sz="10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858000" y="3749040"/>
            <a:ext cx="47823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lnSpc>
                <a:spcPct val="120000"/>
              </a:lnSpc>
              <a:spcAft>
                <a:spcPts val="500"/>
              </a:spcAft>
              <a:buSzPct val="100000"/>
              <a:buChar char="–"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現状は蓄電池実勢6.8万円/kWhの年0.7%相当と小さいが、九州並み8%で年4%相当に。全量回収仮定の上限値（容量0.64kWh/kW制約で実効は下がる）</a:t>
            </a:r>
            <a:endParaRPr lang="en-US" sz="1000" dirty="0"/>
          </a:p>
          <a:p>
            <a:pPr lvl="1" marL="254000" indent="-127000">
              <a:lnSpc>
                <a:spcPct val="120000"/>
              </a:lnSpc>
              <a:spcAft>
                <a:spcPts val="500"/>
              </a:spcAft>
              <a:buSzPct val="100000"/>
              <a:buChar char="–"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北海道は2015年から風力への蓄電池併設要件を課した先駆エリア — 制度は既にこの価値を織り込みに行っている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48640" y="5669280"/>
            <a:ext cx="11091672" cy="621792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8" name="Text 13"/>
          <p:cNvSpPr/>
          <p:nvPr/>
        </p:nvSpPr>
        <p:spPr>
          <a:xfrm>
            <a:off x="777240" y="566928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7687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定式化: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π ＝ ①エリア価格裁定（FTM/BTM共通） ＋ ②ローカル抑制回避（BTM固有・価格に不可視） ＋ ③容量市場等。K*主結果は従来どおりFTM（①＋③）で立て、BTMは政策層→抑制率上昇とともに内生参入条件 π_BTM≥c_req_BTM を別建て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分析: analysis/20。データ: 別添Excel「併設BTM検討」・図 btm_case.png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今後の方針 — 「風力×蓄電池の均衡容量K*」へ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38328" y="621792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スイープの上限を決める蓄電池自身の競合を内生化し、自由参入均衡のK*を解く。部品は実測済み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π_spot(K) ＋ κ(h)·P_cap(K) − c_req ＝ 0　→ K*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5989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主張の型: 「必然」は使わない。①現状K₀の利潤の符号（自由参入均衡か否か）②全シナリオでK*≥K_min（頑健下限コリドー）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二層参入: LTDA（道内43.7万kW〜）・補助＝政策層（外生）／マーチャント層のみゼロ利潤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部品は実測済み: κ(4h)=73→84%・P_cap=公表需要曲線・AFC(4h)=2.5〜3.0万円/kW-年＋託送等0.69万 → c_req≈3.2〜3.7万</a:t>
            </a:r>
            <a:endParaRPr lang="en-US" sz="1100" dirty="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100" b="1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現状の純市場収入 約2.25万円/kW-年 ＜ c_req → 足元の参入は政策層駆動の可能性（どちらに転んでも論文が立つ2枝設計）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766560" y="13898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0" name="Text 8"/>
          <p:cNvSpPr/>
          <p:nvPr/>
        </p:nvSpPr>
        <p:spPr>
          <a:xfrm>
            <a:off x="6894576" y="137160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工程（次の3ヶ月）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4873752" cy="9144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6967728" y="184708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フェーズC（主線）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967728" y="2130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蓄電池フリートの充放電をnetに内生化 → π(K)曲線 → K*初回推計（充電側の託送・賦課金も控除）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766560" y="2816352"/>
            <a:ext cx="4873752" cy="9144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6967728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K_wind×K格子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967728" y="31638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スイープを2次元化: 風力導入量×蓄電池容量の価値サーフェス＝「風力何万kWにつき蓄電池何万kWが均衡か」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6766560" y="3849624"/>
            <a:ext cx="4873752" cy="9144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39136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BTM分析（フェーズCの副産物として）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967728" y="41970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抑制イベントの分解（エリア余剰型/ローカル型）→ 0.64kWh/kW容量制約下の回避可能率 → π_BTM参入条件。系統別抑制実績の取得（DLリストC5）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766560" y="4882896"/>
            <a:ext cx="4873752" cy="914400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6967728" y="49469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検証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67728" y="52303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FY2026 OOSの再現改善（供給曲線上側の非定常対応）・九州でのout-of-sample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548640" y="5760720"/>
            <a:ext cx="11091672" cy="566928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6871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本日の実証の役割: 価格カーブ（平行シフト）・床の生成・capture率（ヘアカット18-19%）・duration曲線が、そのまま均衡モデルの入力・校正材料になる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7160" y="6355080"/>
            <a:ext cx="429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38328" y="219456"/>
            <a:ext cx="11521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討議いただきたい点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38328" y="603504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8988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3716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① 「風力大の日は微マイナス／導入量が増えればプラス」の整理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22376" y="17373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日次の実測（三分位）と反実仮想（スイープ）で符号が異なるのは床センサリングの有無による。この2つの見せ方・論文での書き分けについてご意見をいただきたい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0720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788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② 転換点（価値が減少に転じる点）は蓄電池の競合内生化後に現れる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2376" y="3154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風力側をいくら振っても単調増（3倍まで）。減少に転じさせるのは蓄電池自身のfleet feedback — フェーズC（π(K)曲線→K*）を最優先とする進め方でよいか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24528"/>
            <a:ext cx="45720" cy="274320"/>
          </a:xfrm>
          <a:prstGeom prst="rect">
            <a:avLst/>
          </a:prstGeom>
          <a:solidFill>
            <a:srgbClr val="0079C2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420624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oto Sans JP SemiBold" pitchFamily="34" charset="0"/>
                <a:ea typeface="Noto Sans JP SemiBold" pitchFamily="34" charset="-122"/>
                <a:cs typeface="Noto Sans JP SemiBold" pitchFamily="34" charset="-120"/>
              </a:rPr>
              <a:t>③ durationの扱い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22376" y="45720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風力の長周期支配（分散の3/4）を踏まえると4h固定は保守的。スポット＋容量市場κ(h)の合算で4h/6h/8hを比較する分析を本論に含めるべきか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solidFill>
            <a:srgbClr val="F0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（時間があれば）実証第一弾（分位点回帰・帯域分解）の切り出し方／容量市場の参加区分想定・WACC設定方針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2026-08-17T10:10:38Z</dcterms:created>
  <dcterms:modified xsi:type="dcterms:W3CDTF">2026-08-17T10:10:38Z</dcterms:modified>
</cp:coreProperties>
</file>